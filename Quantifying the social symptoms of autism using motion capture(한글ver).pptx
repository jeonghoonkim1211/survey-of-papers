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69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88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2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96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6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1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1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29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0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90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F521A-5067-43EE-948E-1B82FF43B801}" type="datetimeFigureOut">
              <a:rPr lang="en-US" smtClean="0"/>
              <a:t>9/27/2019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A83FF-908B-480C-A3DE-A70AE41EC1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4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709" y="627770"/>
            <a:ext cx="8527953" cy="586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6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모션 캡처를 사용하여 자폐증의 사회적 증상을 정량화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44271"/>
            <a:ext cx="10515600" cy="503237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Abstract</a:t>
            </a:r>
          </a:p>
          <a:p>
            <a:r>
              <a:rPr lang="ko-KR" altLang="en-US" dirty="0"/>
              <a:t>자폐 스펙트럼 장애 </a:t>
            </a:r>
            <a:r>
              <a:rPr lang="en-US" altLang="ko-KR" dirty="0"/>
              <a:t>(ASD)</a:t>
            </a:r>
            <a:r>
              <a:rPr lang="ko-KR" altLang="en-US" dirty="0"/>
              <a:t>는 </a:t>
            </a:r>
            <a:r>
              <a:rPr lang="ko-KR" altLang="en-US" dirty="0" smtClean="0"/>
              <a:t>서로 </a:t>
            </a:r>
            <a:r>
              <a:rPr lang="ko-KR" altLang="en-US" dirty="0"/>
              <a:t>다른 </a:t>
            </a:r>
            <a:r>
              <a:rPr lang="ko-KR" altLang="en-US" dirty="0" smtClean="0"/>
              <a:t>수준에서 </a:t>
            </a:r>
            <a:r>
              <a:rPr lang="ko-KR" altLang="en-US" dirty="0"/>
              <a:t>다양한 증상을 보이는 현저하게 이질적인 </a:t>
            </a:r>
            <a:r>
              <a:rPr lang="ko-KR" altLang="en-US" dirty="0" smtClean="0"/>
              <a:t>상태</a:t>
            </a:r>
            <a:endParaRPr lang="en-US" altLang="ko-KR" dirty="0" smtClean="0"/>
          </a:p>
          <a:p>
            <a:r>
              <a:rPr lang="ko-KR" altLang="en-US" dirty="0"/>
              <a:t>특정 증상의 </a:t>
            </a:r>
            <a:r>
              <a:rPr lang="ko-KR" altLang="en-US" dirty="0" err="1"/>
              <a:t>중증도를</a:t>
            </a:r>
            <a:r>
              <a:rPr lang="ko-KR" altLang="en-US" dirty="0"/>
              <a:t> 정량화하는 것은 </a:t>
            </a:r>
            <a:r>
              <a:rPr lang="en-US" altLang="ko-KR" dirty="0"/>
              <a:t>ASD </a:t>
            </a:r>
            <a:r>
              <a:rPr lang="ko-KR" altLang="en-US" dirty="0"/>
              <a:t>개인에 대한 장기간의 </a:t>
            </a:r>
            <a:r>
              <a:rPr lang="ko-KR" altLang="en-US" dirty="0" smtClean="0"/>
              <a:t>관찰이 </a:t>
            </a:r>
            <a:r>
              <a:rPr lang="ko-KR" altLang="en-US" dirty="0"/>
              <a:t>필요하거나 주관적 일 </a:t>
            </a:r>
            <a:r>
              <a:rPr lang="ko-KR" altLang="en-US" dirty="0" smtClean="0"/>
              <a:t>수 있는 설문지에 </a:t>
            </a:r>
            <a:r>
              <a:rPr lang="ko-KR" altLang="en-US" dirty="0"/>
              <a:t>의존하기 때문에 </a:t>
            </a:r>
            <a:r>
              <a:rPr lang="ko-KR" altLang="en-US" dirty="0" smtClean="0"/>
              <a:t>어려움</a:t>
            </a:r>
            <a:endParaRPr lang="en-US" altLang="ko-KR" dirty="0" smtClean="0"/>
          </a:p>
          <a:p>
            <a:r>
              <a:rPr lang="ko-KR" altLang="en-US" dirty="0"/>
              <a:t>우리는 임상 시험 실에 설치된 모션 캡처 시스템을 사용하여 </a:t>
            </a:r>
            <a:r>
              <a:rPr lang="ko-KR" altLang="en-US" dirty="0" smtClean="0"/>
              <a:t>여러가지 </a:t>
            </a:r>
            <a:r>
              <a:rPr lang="ko-KR" altLang="en-US" dirty="0"/>
              <a:t>핵심 </a:t>
            </a:r>
            <a:r>
              <a:rPr lang="en-US" altLang="ko-KR" dirty="0" smtClean="0"/>
              <a:t>ASD </a:t>
            </a:r>
            <a:r>
              <a:rPr lang="ko-KR" altLang="en-US" dirty="0"/>
              <a:t>증상의 심각성을 객관적으로 정량화하는 새로운 기술을 </a:t>
            </a:r>
            <a:r>
              <a:rPr lang="ko-KR" altLang="en-US" dirty="0" smtClean="0"/>
              <a:t>제시</a:t>
            </a:r>
            <a:endParaRPr lang="en-US" altLang="ko-KR" dirty="0" smtClean="0"/>
          </a:p>
          <a:p>
            <a:r>
              <a:rPr lang="ko-KR" altLang="en-US" dirty="0"/>
              <a:t> 아동이 </a:t>
            </a:r>
            <a:r>
              <a:rPr lang="ko-KR" altLang="en-US" dirty="0" err="1"/>
              <a:t>임상의에게</a:t>
            </a:r>
            <a:r>
              <a:rPr lang="ko-KR" altLang="en-US" dirty="0"/>
              <a:t> 접근 또는 회피 한 시간의 비율</a:t>
            </a:r>
            <a:r>
              <a:rPr lang="en-US" altLang="ko-KR" dirty="0"/>
              <a:t>, 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사이의 거리</a:t>
            </a:r>
            <a:r>
              <a:rPr lang="en-US" altLang="ko-KR" dirty="0" smtClean="0"/>
              <a:t>, </a:t>
            </a:r>
            <a:r>
              <a:rPr lang="ko-KR" altLang="en-US" dirty="0" err="1"/>
              <a:t>임상의와</a:t>
            </a:r>
            <a:r>
              <a:rPr lang="ko-KR" altLang="en-US" dirty="0"/>
              <a:t> 관련하여 아동이 직면 한 방향을 포함하는 아동의 임상의 상호 작용에 대한 몇 가지 척도를 </a:t>
            </a:r>
            <a:r>
              <a:rPr lang="ko-KR" altLang="en-US" dirty="0" smtClean="0"/>
              <a:t>제시</a:t>
            </a:r>
            <a:endParaRPr lang="en-US" altLang="ko-KR" dirty="0" smtClean="0"/>
          </a:p>
          <a:p>
            <a:r>
              <a:rPr lang="ko-KR" altLang="en-US" dirty="0"/>
              <a:t>이 측정법들은 </a:t>
            </a:r>
            <a:r>
              <a:rPr lang="en-US" altLang="ko-KR" dirty="0"/>
              <a:t>ADOS </a:t>
            </a:r>
            <a:r>
              <a:rPr lang="ko-KR" altLang="en-US" dirty="0"/>
              <a:t>점수의 </a:t>
            </a:r>
            <a:r>
              <a:rPr lang="en-US" altLang="ko-KR" dirty="0" smtClean="0"/>
              <a:t>~ </a:t>
            </a:r>
            <a:r>
              <a:rPr lang="en-US" altLang="ko-KR" dirty="0"/>
              <a:t>30 </a:t>
            </a:r>
            <a:r>
              <a:rPr lang="en-US" altLang="ko-KR" dirty="0" smtClean="0"/>
              <a:t>% </a:t>
            </a:r>
            <a:r>
              <a:rPr lang="ko-KR" altLang="en-US" dirty="0" smtClean="0"/>
              <a:t>차이를 설명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9206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임상 평가에는 자폐 진단 관찰 일정 </a:t>
            </a:r>
            <a:r>
              <a:rPr lang="en-US" altLang="ko-KR" dirty="0"/>
              <a:t>(ADOS) </a:t>
            </a:r>
            <a:r>
              <a:rPr lang="ko-KR" altLang="en-US" dirty="0" smtClean="0"/>
              <a:t>및 </a:t>
            </a:r>
            <a:r>
              <a:rPr lang="ko-KR" altLang="en-US" dirty="0"/>
              <a:t>자폐 진단 인터뷰 </a:t>
            </a:r>
            <a:r>
              <a:rPr lang="en-US" altLang="ko-KR" dirty="0"/>
              <a:t>– </a:t>
            </a:r>
            <a:r>
              <a:rPr lang="ko-KR" altLang="en-US" dirty="0"/>
              <a:t>수정 </a:t>
            </a:r>
            <a:r>
              <a:rPr lang="en-US" altLang="ko-KR" dirty="0"/>
              <a:t>(ADI-R) </a:t>
            </a:r>
            <a:r>
              <a:rPr lang="ko-KR" altLang="en-US" dirty="0" smtClean="0"/>
              <a:t>와 </a:t>
            </a:r>
            <a:r>
              <a:rPr lang="ko-KR" altLang="en-US" dirty="0"/>
              <a:t>같은 구조화 된 시험이 포함될 수 있지만 </a:t>
            </a:r>
            <a:r>
              <a:rPr lang="en-US" altLang="ko-KR" dirty="0"/>
              <a:t>, </a:t>
            </a:r>
            <a:r>
              <a:rPr lang="ko-KR" altLang="en-US" dirty="0"/>
              <a:t>이러한 임상 평가는 주로 진단이 필요한지 여부를 결정하는 데 </a:t>
            </a:r>
            <a:r>
              <a:rPr lang="ko-KR" altLang="en-US" dirty="0" smtClean="0"/>
              <a:t>중점을 두고 있음</a:t>
            </a:r>
            <a:endParaRPr lang="en-US" altLang="ko-KR" dirty="0" smtClean="0"/>
          </a:p>
          <a:p>
            <a:r>
              <a:rPr lang="ko-KR" altLang="en-US" dirty="0"/>
              <a:t> </a:t>
            </a:r>
            <a:r>
              <a:rPr lang="en-US" altLang="ko-KR" dirty="0"/>
              <a:t>ASD </a:t>
            </a:r>
            <a:r>
              <a:rPr lang="ko-KR" altLang="en-US" dirty="0"/>
              <a:t>증상에 대한 객관적이고 양적이며 민감한 측정법을 개발하는 것은 여러 가지 이유로 매우 </a:t>
            </a:r>
            <a:r>
              <a:rPr lang="ko-KR" altLang="en-US" dirty="0" smtClean="0"/>
              <a:t>중요</a:t>
            </a:r>
            <a:endParaRPr lang="en-US" altLang="ko-KR" dirty="0" smtClean="0"/>
          </a:p>
          <a:p>
            <a:r>
              <a:rPr lang="ko-KR" altLang="en-US" dirty="0"/>
              <a:t>첫째</a:t>
            </a:r>
            <a:r>
              <a:rPr lang="en-US" altLang="ko-KR" dirty="0"/>
              <a:t>, ASD</a:t>
            </a:r>
            <a:r>
              <a:rPr lang="ko-KR" altLang="en-US" dirty="0"/>
              <a:t>는 그 </a:t>
            </a:r>
            <a:r>
              <a:rPr lang="ko-KR" altLang="en-US" dirty="0" smtClean="0"/>
              <a:t>표현형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유전자형</a:t>
            </a:r>
            <a:r>
              <a:rPr lang="ko-KR" altLang="en-US" dirty="0"/>
              <a:t> 및 </a:t>
            </a:r>
            <a:r>
              <a:rPr lang="ko-KR" altLang="en-US" dirty="0" err="1" smtClean="0"/>
              <a:t>가설화된</a:t>
            </a:r>
            <a:r>
              <a:rPr lang="ko-KR" altLang="en-US" dirty="0" smtClean="0"/>
              <a:t> </a:t>
            </a:r>
            <a:r>
              <a:rPr lang="ko-KR" altLang="en-US" dirty="0"/>
              <a:t>기본 </a:t>
            </a:r>
            <a:r>
              <a:rPr lang="ko-KR" altLang="en-US" dirty="0" err="1" smtClean="0"/>
              <a:t>메카니즘</a:t>
            </a:r>
            <a:r>
              <a:rPr lang="ko-KR" altLang="en-US" dirty="0"/>
              <a:t> 과 관련하여 현저하게 이질적인 </a:t>
            </a:r>
            <a:r>
              <a:rPr lang="ko-KR" altLang="en-US" dirty="0" smtClean="0"/>
              <a:t>조건임</a:t>
            </a:r>
            <a:endParaRPr lang="en-US" altLang="ko-KR" dirty="0" smtClean="0"/>
          </a:p>
          <a:p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특정 </a:t>
            </a:r>
            <a:r>
              <a:rPr lang="en-US" altLang="ko-KR" dirty="0"/>
              <a:t>ASD </a:t>
            </a:r>
            <a:r>
              <a:rPr lang="ko-KR" altLang="en-US" dirty="0"/>
              <a:t>증상의 정량적 측정은 별개의 표현형을 갖는 </a:t>
            </a:r>
            <a:r>
              <a:rPr lang="en-US" altLang="ko-KR" dirty="0"/>
              <a:t>ASD </a:t>
            </a:r>
            <a:r>
              <a:rPr lang="ko-KR" altLang="en-US" dirty="0"/>
              <a:t>하위 군을 식별하는데 중요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8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 둘째</a:t>
            </a:r>
            <a:r>
              <a:rPr lang="en-US" altLang="ko-KR" dirty="0"/>
              <a:t>, </a:t>
            </a:r>
            <a:r>
              <a:rPr lang="ko-KR" altLang="en-US" dirty="0"/>
              <a:t>기존의 치료법과 새로운 치료법의 효능을 </a:t>
            </a:r>
            <a:r>
              <a:rPr lang="ko-KR" altLang="en-US" dirty="0" smtClean="0"/>
              <a:t>결정하려면 </a:t>
            </a:r>
            <a:r>
              <a:rPr lang="ko-KR" altLang="en-US" dirty="0"/>
              <a:t>각 치료법이 특정 증상에 미치는 영향을 결정할 </a:t>
            </a:r>
            <a:r>
              <a:rPr lang="ko-KR" altLang="en-US" dirty="0" smtClean="0"/>
              <a:t>수 있는 </a:t>
            </a:r>
            <a:r>
              <a:rPr lang="ko-KR" altLang="en-US" dirty="0"/>
              <a:t>민감한 정량적 측정법이 </a:t>
            </a:r>
            <a:r>
              <a:rPr lang="ko-KR" altLang="en-US" dirty="0" smtClean="0"/>
              <a:t>필요</a:t>
            </a:r>
            <a:endParaRPr lang="en-US" altLang="ko-KR" dirty="0" smtClean="0"/>
          </a:p>
          <a:p>
            <a:r>
              <a:rPr lang="ko-KR" altLang="en-US" dirty="0"/>
              <a:t>셋째</a:t>
            </a:r>
            <a:r>
              <a:rPr lang="en-US" altLang="ko-KR" dirty="0"/>
              <a:t>, </a:t>
            </a:r>
            <a:r>
              <a:rPr lang="ko-KR" altLang="en-US" dirty="0"/>
              <a:t>특정 증상의 정량적 측정은 </a:t>
            </a:r>
            <a:r>
              <a:rPr lang="ko-KR" altLang="en-US" dirty="0" smtClean="0"/>
              <a:t>종래의 </a:t>
            </a:r>
            <a:r>
              <a:rPr lang="ko-KR" altLang="en-US" dirty="0"/>
              <a:t>수단에 의해 진단되기 </a:t>
            </a:r>
            <a:r>
              <a:rPr lang="ko-KR" altLang="en-US" dirty="0" smtClean="0"/>
              <a:t>전에 </a:t>
            </a:r>
            <a:r>
              <a:rPr lang="en-US" altLang="ko-KR" dirty="0" smtClean="0"/>
              <a:t>ASD</a:t>
            </a:r>
            <a:r>
              <a:rPr lang="ko-KR" altLang="en-US" dirty="0"/>
              <a:t>의 특정 아형의 조기 </a:t>
            </a:r>
            <a:r>
              <a:rPr lang="ko-KR" altLang="en-US" dirty="0" smtClean="0"/>
              <a:t>검출</a:t>
            </a:r>
            <a:r>
              <a:rPr lang="en-US" altLang="ko-KR" dirty="0" smtClean="0"/>
              <a:t>(</a:t>
            </a:r>
            <a:r>
              <a:rPr lang="ko-KR" altLang="en-US" dirty="0"/>
              <a:t>또는 위험 평가</a:t>
            </a:r>
            <a:r>
              <a:rPr lang="en-US" altLang="ko-KR" dirty="0"/>
              <a:t>)</a:t>
            </a:r>
            <a:r>
              <a:rPr lang="ko-KR" altLang="en-US" dirty="0"/>
              <a:t>에 </a:t>
            </a:r>
            <a:r>
              <a:rPr lang="ko-KR" altLang="en-US" dirty="0" smtClean="0"/>
              <a:t>유용</a:t>
            </a:r>
            <a:endParaRPr lang="en-US" altLang="ko-KR" dirty="0" smtClean="0"/>
          </a:p>
          <a:p>
            <a:r>
              <a:rPr lang="en-US" altLang="ko-KR" dirty="0"/>
              <a:t>ASD</a:t>
            </a:r>
            <a:r>
              <a:rPr lang="ko-KR" altLang="en-US" dirty="0"/>
              <a:t>를 가진 </a:t>
            </a:r>
            <a:r>
              <a:rPr lang="ko-KR" altLang="en-US" dirty="0" smtClean="0"/>
              <a:t>어린이를 위한 초기 조치 개발이 가장 </a:t>
            </a:r>
            <a:r>
              <a:rPr lang="ko-KR" altLang="en-US" dirty="0"/>
              <a:t>큰 임상 적 영향을 미칠 가능성이 </a:t>
            </a:r>
            <a:r>
              <a:rPr lang="ko-KR" altLang="en-US" dirty="0" smtClean="0"/>
              <a:t>있음</a:t>
            </a:r>
            <a:endParaRPr lang="en-US" altLang="ko-KR" dirty="0" smtClean="0"/>
          </a:p>
          <a:p>
            <a:r>
              <a:rPr lang="ko-KR" altLang="en-US" dirty="0"/>
              <a:t>본 연구에서는 </a:t>
            </a:r>
            <a:r>
              <a:rPr lang="en-US" altLang="ko-KR" dirty="0"/>
              <a:t>4 </a:t>
            </a:r>
            <a:r>
              <a:rPr lang="ko-KR" altLang="en-US" dirty="0"/>
              <a:t>개의 동기화 된 </a:t>
            </a:r>
            <a:r>
              <a:rPr lang="en-US" altLang="ko-KR" dirty="0"/>
              <a:t>Microsoft Kinect </a:t>
            </a:r>
            <a:r>
              <a:rPr lang="ko-KR" altLang="en-US" dirty="0"/>
              <a:t>센서의 정보를 통합 한 </a:t>
            </a:r>
            <a:r>
              <a:rPr lang="ko-KR" altLang="en-US" dirty="0" err="1"/>
              <a:t>마커없는</a:t>
            </a:r>
            <a:r>
              <a:rPr lang="ko-KR" altLang="en-US" dirty="0"/>
              <a:t> 모션 캡처 시스템을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r>
              <a:rPr lang="ko-KR" altLang="en-US" dirty="0"/>
              <a:t> </a:t>
            </a:r>
            <a:r>
              <a:rPr lang="en-US" altLang="ko-KR" dirty="0"/>
              <a:t>ASD</a:t>
            </a:r>
            <a:r>
              <a:rPr lang="ko-KR" altLang="en-US" dirty="0"/>
              <a:t>가 의심되는 </a:t>
            </a:r>
            <a:r>
              <a:rPr lang="en-US" dirty="0"/>
              <a:t>Negev Autism Center</a:t>
            </a:r>
            <a:r>
              <a:rPr lang="ko-KR" altLang="en-US" dirty="0" smtClean="0"/>
              <a:t>에 </a:t>
            </a:r>
            <a:r>
              <a:rPr lang="ko-KR" altLang="en-US" dirty="0"/>
              <a:t>위탁 된 </a:t>
            </a:r>
            <a:r>
              <a:rPr lang="en-US" altLang="ko-KR" dirty="0"/>
              <a:t>44 </a:t>
            </a:r>
            <a:r>
              <a:rPr lang="ko-KR" altLang="en-US" dirty="0"/>
              <a:t>명의 어린이에 대한 </a:t>
            </a:r>
            <a:r>
              <a:rPr lang="en-US" altLang="ko-KR" dirty="0"/>
              <a:t>ADOS </a:t>
            </a:r>
            <a:r>
              <a:rPr lang="ko-KR" altLang="en-US" dirty="0"/>
              <a:t>평가를 분석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648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모든 </a:t>
            </a:r>
            <a:r>
              <a:rPr lang="en-US" altLang="ko-KR" dirty="0"/>
              <a:t>ADOS </a:t>
            </a:r>
            <a:r>
              <a:rPr lang="ko-KR" altLang="en-US" dirty="0" smtClean="0"/>
              <a:t>세션에는 “</a:t>
            </a:r>
            <a:r>
              <a:rPr lang="ko-KR" altLang="en-US" dirty="0"/>
              <a:t>자유 놀이</a:t>
            </a:r>
            <a:r>
              <a:rPr lang="ko-KR" altLang="en-US" dirty="0" smtClean="0"/>
              <a:t>” </a:t>
            </a:r>
            <a:r>
              <a:rPr lang="ko-KR" altLang="en-US" dirty="0" err="1" smtClean="0"/>
              <a:t>라고하는</a:t>
            </a:r>
            <a:r>
              <a:rPr lang="ko-KR" altLang="en-US" dirty="0" smtClean="0"/>
              <a:t> </a:t>
            </a:r>
            <a:r>
              <a:rPr lang="en-US" altLang="ko-KR" dirty="0"/>
              <a:t>5-10 </a:t>
            </a:r>
            <a:r>
              <a:rPr lang="ko-KR" altLang="en-US" dirty="0"/>
              <a:t>분의 시간이 </a:t>
            </a:r>
            <a:r>
              <a:rPr lang="ko-KR" altLang="en-US" dirty="0" smtClean="0"/>
              <a:t>포함</a:t>
            </a:r>
            <a:endParaRPr lang="en-US" altLang="ko-KR" dirty="0" smtClean="0"/>
          </a:p>
          <a:p>
            <a:r>
              <a:rPr lang="ko-KR" altLang="en-US" dirty="0"/>
              <a:t>이 </a:t>
            </a:r>
            <a:r>
              <a:rPr lang="en-US" altLang="ko-KR" dirty="0"/>
              <a:t>ADOS </a:t>
            </a:r>
            <a:r>
              <a:rPr lang="ko-KR" altLang="en-US" dirty="0" smtClean="0"/>
              <a:t>세션은 </a:t>
            </a:r>
            <a:r>
              <a:rPr lang="ko-KR" altLang="en-US" dirty="0"/>
              <a:t>모션 캡처 시스템으로 참여하는 각 어린이의 사회적 행동을 정량화 할 때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r>
              <a:rPr lang="ko-KR" altLang="en-US" dirty="0"/>
              <a:t>아동과 임상의 사이의 거리를 포함하여 사회적 상호 작용의 몇 가지 기본 측정을 ​​</a:t>
            </a:r>
            <a:r>
              <a:rPr lang="ko-KR" altLang="en-US" dirty="0" smtClean="0"/>
              <a:t>정량화</a:t>
            </a:r>
            <a:endParaRPr lang="en-US" altLang="ko-KR" dirty="0" smtClean="0"/>
          </a:p>
          <a:p>
            <a:r>
              <a:rPr lang="ko-KR" altLang="en-US" dirty="0"/>
              <a:t> 아동이 </a:t>
            </a:r>
            <a:r>
              <a:rPr lang="ko-KR" altLang="en-US" dirty="0" err="1"/>
              <a:t>임상의를</a:t>
            </a:r>
            <a:r>
              <a:rPr lang="ko-KR" altLang="en-US" dirty="0"/>
              <a:t> 향한 </a:t>
            </a:r>
            <a:r>
              <a:rPr lang="ko-KR" altLang="en-US" dirty="0" smtClean="0"/>
              <a:t>접근</a:t>
            </a:r>
            <a:r>
              <a:rPr lang="en-US" altLang="ko-KR" dirty="0" smtClean="0"/>
              <a:t> </a:t>
            </a:r>
            <a:r>
              <a:rPr lang="ko-KR" altLang="en-US" dirty="0"/>
              <a:t>또는 </a:t>
            </a:r>
            <a:r>
              <a:rPr lang="ko-KR" altLang="en-US" dirty="0" smtClean="0"/>
              <a:t>피하는</a:t>
            </a:r>
            <a:r>
              <a:rPr lang="en-US" altLang="ko-KR" dirty="0" smtClean="0"/>
              <a:t> </a:t>
            </a:r>
            <a:r>
              <a:rPr lang="ko-KR" altLang="en-US" dirty="0"/>
              <a:t>상대적인 </a:t>
            </a:r>
            <a:r>
              <a:rPr lang="ko-KR" altLang="en-US" dirty="0" err="1"/>
              <a:t>이동량</a:t>
            </a:r>
            <a:r>
              <a:rPr lang="ko-KR" altLang="en-US" dirty="0"/>
              <a:t> 및 아동이 </a:t>
            </a:r>
            <a:r>
              <a:rPr lang="ko-KR" altLang="en-US" dirty="0" err="1"/>
              <a:t>임상의를</a:t>
            </a:r>
            <a:r>
              <a:rPr lang="ko-KR" altLang="en-US" dirty="0"/>
              <a:t> 향한 시간의 </a:t>
            </a:r>
            <a:r>
              <a:rPr lang="ko-KR" altLang="en-US" dirty="0" smtClean="0"/>
              <a:t>양을 측정</a:t>
            </a:r>
            <a:r>
              <a:rPr lang="en-US" altLang="ko-KR" dirty="0" smtClean="0"/>
              <a:t>.</a:t>
            </a:r>
            <a:r>
              <a:rPr lang="ko-KR" altLang="en-US" dirty="0" smtClean="0"/>
              <a:t> 이 </a:t>
            </a:r>
            <a:r>
              <a:rPr lang="ko-KR" altLang="en-US" dirty="0"/>
              <a:t>측정 값은 어린이의 </a:t>
            </a:r>
            <a:r>
              <a:rPr lang="en-US" altLang="ko-KR" dirty="0"/>
              <a:t>ADOS </a:t>
            </a:r>
            <a:r>
              <a:rPr lang="ko-KR" altLang="en-US" dirty="0"/>
              <a:t>점수 변동성의 </a:t>
            </a:r>
            <a:r>
              <a:rPr lang="en-US" altLang="ko-KR" dirty="0"/>
              <a:t>~ 30 %</a:t>
            </a:r>
            <a:r>
              <a:rPr lang="ko-KR" altLang="en-US" dirty="0"/>
              <a:t>를 </a:t>
            </a:r>
            <a:r>
              <a:rPr lang="ko-KR" altLang="en-US" dirty="0" smtClean="0"/>
              <a:t>설명</a:t>
            </a:r>
            <a:endParaRPr lang="en-US" altLang="ko-KR" dirty="0" smtClean="0"/>
          </a:p>
          <a:p>
            <a:r>
              <a:rPr lang="ko-KR" altLang="en-US" dirty="0"/>
              <a:t>이러한 객관적이고 자동화 된 사회적 상호 작용 측정이 </a:t>
            </a:r>
            <a:r>
              <a:rPr lang="en-US" altLang="ko-KR" dirty="0"/>
              <a:t>ASD </a:t>
            </a:r>
            <a:r>
              <a:rPr lang="ko-KR" altLang="en-US" dirty="0"/>
              <a:t>아동의 평가에 중요한 정량화 차원을 추가 할 수 있다고 제안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593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Methods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Experimental </a:t>
            </a:r>
            <a:r>
              <a:rPr lang="en-US" sz="3600" b="1" dirty="0"/>
              <a:t>setup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95995" y="1688127"/>
            <a:ext cx="10908323" cy="5148775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ASD</a:t>
            </a:r>
            <a:r>
              <a:rPr lang="ko-KR" altLang="en-US" dirty="0"/>
              <a:t>가 의심되는 </a:t>
            </a:r>
            <a:r>
              <a:rPr lang="en-US" altLang="ko-KR" dirty="0"/>
              <a:t>44 </a:t>
            </a:r>
            <a:r>
              <a:rPr lang="ko-KR" altLang="en-US" dirty="0"/>
              <a:t>명의 </a:t>
            </a:r>
            <a:r>
              <a:rPr lang="ko-KR" altLang="en-US" dirty="0" smtClean="0"/>
              <a:t>어린이들이 이 연구에 채용되었습니다</a:t>
            </a:r>
            <a:r>
              <a:rPr lang="en-US" altLang="ko-KR" dirty="0"/>
              <a:t>. 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(</a:t>
            </a:r>
            <a:r>
              <a:rPr lang="ko-KR" altLang="en-US" dirty="0"/>
              <a:t>남자 </a:t>
            </a:r>
            <a:r>
              <a:rPr lang="en-US" altLang="ko-KR" dirty="0"/>
              <a:t>35 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여자 </a:t>
            </a:r>
            <a:r>
              <a:rPr lang="en-US" altLang="ko-KR" dirty="0"/>
              <a:t>9 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평균 연령 </a:t>
            </a:r>
            <a:r>
              <a:rPr lang="en-US" altLang="ko-KR" dirty="0"/>
              <a:t>: 39 </a:t>
            </a:r>
            <a:r>
              <a:rPr lang="ko-KR" altLang="en-US" dirty="0"/>
              <a:t>개월</a:t>
            </a:r>
            <a:r>
              <a:rPr lang="en-US" altLang="ko-KR" dirty="0"/>
              <a:t>, </a:t>
            </a:r>
            <a:r>
              <a:rPr lang="ko-KR" altLang="en-US" dirty="0"/>
              <a:t>표준 </a:t>
            </a:r>
            <a:r>
              <a:rPr lang="en-US" altLang="ko-KR" dirty="0"/>
              <a:t>: 15.2, </a:t>
            </a:r>
            <a:r>
              <a:rPr lang="ko-KR" altLang="en-US" dirty="0"/>
              <a:t>범위 </a:t>
            </a:r>
            <a:r>
              <a:rPr lang="en-US" altLang="ko-KR" dirty="0"/>
              <a:t>: 14-72 </a:t>
            </a:r>
            <a:r>
              <a:rPr lang="ko-KR" altLang="en-US" dirty="0"/>
              <a:t>개월</a:t>
            </a:r>
            <a:r>
              <a:rPr lang="en-US" altLang="ko-KR" dirty="0" smtClean="0"/>
              <a:t>)</a:t>
            </a:r>
          </a:p>
          <a:p>
            <a:r>
              <a:rPr lang="ko-KR" altLang="en-US" dirty="0"/>
              <a:t> </a:t>
            </a:r>
            <a:r>
              <a:rPr lang="ko-KR" altLang="en-US" dirty="0" err="1"/>
              <a:t>평가실은</a:t>
            </a:r>
            <a:r>
              <a:rPr lang="ko-KR" altLang="en-US" dirty="0"/>
              <a:t> </a:t>
            </a:r>
            <a:r>
              <a:rPr lang="en-US" altLang="ko-KR" dirty="0"/>
              <a:t>4 </a:t>
            </a:r>
            <a:r>
              <a:rPr lang="ko-KR" altLang="en-US" dirty="0"/>
              <a:t>개의 </a:t>
            </a:r>
            <a:r>
              <a:rPr lang="en-US" altLang="ko-KR" dirty="0"/>
              <a:t>Kinect </a:t>
            </a:r>
            <a:r>
              <a:rPr lang="ko-KR" altLang="en-US" dirty="0"/>
              <a:t>카메라 </a:t>
            </a:r>
            <a:r>
              <a:rPr lang="en-US" altLang="ko-KR" dirty="0"/>
              <a:t>(Kinect V2, Microsoft </a:t>
            </a:r>
            <a:r>
              <a:rPr lang="en-US" altLang="ko-KR" dirty="0" err="1"/>
              <a:t>inc.</a:t>
            </a:r>
            <a:r>
              <a:rPr lang="en-US" altLang="ko-KR" dirty="0"/>
              <a:t> USA)</a:t>
            </a:r>
            <a:r>
              <a:rPr lang="ko-KR" altLang="en-US" dirty="0"/>
              <a:t>를 설치하여 모션 추적 연구를 위해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r>
              <a:rPr lang="ko-KR" altLang="en-US" dirty="0"/>
              <a:t> 카메라는 </a:t>
            </a:r>
            <a:r>
              <a:rPr lang="ko-KR" altLang="en-US" dirty="0" smtClean="0"/>
              <a:t>직사각형 </a:t>
            </a:r>
            <a:r>
              <a:rPr lang="ko-KR" altLang="en-US" dirty="0"/>
              <a:t>방의 각 모서리 </a:t>
            </a:r>
            <a:r>
              <a:rPr lang="en-US" altLang="ko-KR" dirty="0"/>
              <a:t>(5.8 x 3m)</a:t>
            </a:r>
            <a:r>
              <a:rPr lang="ko-KR" altLang="en-US" dirty="0"/>
              <a:t>에서 </a:t>
            </a:r>
            <a:r>
              <a:rPr lang="en-US" altLang="ko-KR" dirty="0"/>
              <a:t>1.5m </a:t>
            </a:r>
            <a:r>
              <a:rPr lang="ko-KR" altLang="en-US" dirty="0"/>
              <a:t>높이에 </a:t>
            </a:r>
            <a:r>
              <a:rPr lang="ko-KR" altLang="en-US" dirty="0" smtClean="0"/>
              <a:t>설치</a:t>
            </a:r>
            <a:endParaRPr lang="en-US" altLang="ko-KR" dirty="0" smtClean="0"/>
          </a:p>
          <a:p>
            <a:r>
              <a:rPr lang="ko-KR" altLang="en-US" dirty="0"/>
              <a:t> </a:t>
            </a:r>
            <a:r>
              <a:rPr lang="en-US" altLang="ko-KR" dirty="0"/>
              <a:t>IPI Motion Capture (</a:t>
            </a:r>
            <a:r>
              <a:rPr lang="en-US" altLang="ko-KR" dirty="0" err="1"/>
              <a:t>IPIsoft</a:t>
            </a:r>
            <a:r>
              <a:rPr lang="en-US" altLang="ko-KR" dirty="0"/>
              <a:t> </a:t>
            </a:r>
            <a:r>
              <a:rPr lang="en-US" altLang="ko-KR" dirty="0" err="1"/>
              <a:t>inc.</a:t>
            </a:r>
            <a:r>
              <a:rPr lang="en-US" altLang="ko-KR" dirty="0"/>
              <a:t> Russia)</a:t>
            </a:r>
            <a:r>
              <a:rPr lang="ko-KR" altLang="en-US" dirty="0"/>
              <a:t>를 사용하여 </a:t>
            </a:r>
            <a:r>
              <a:rPr lang="en-US" altLang="ko-KR" dirty="0"/>
              <a:t>4 </a:t>
            </a:r>
            <a:r>
              <a:rPr lang="ko-KR" altLang="en-US" dirty="0"/>
              <a:t>대의 카메라에서 시간과 공간의 기록을 </a:t>
            </a:r>
            <a:r>
              <a:rPr lang="ko-KR" altLang="en-US" dirty="0" smtClean="0"/>
              <a:t>동기화</a:t>
            </a:r>
            <a:endParaRPr lang="en-US" altLang="ko-KR" dirty="0" smtClean="0"/>
          </a:p>
          <a:p>
            <a:r>
              <a:rPr lang="en-US" altLang="ko-KR" dirty="0"/>
              <a:t>Kinect </a:t>
            </a:r>
            <a:r>
              <a:rPr lang="ko-KR" altLang="en-US" dirty="0"/>
              <a:t>카메라는 </a:t>
            </a:r>
            <a:r>
              <a:rPr lang="en-US" altLang="ko-KR" dirty="0"/>
              <a:t>512 x </a:t>
            </a:r>
            <a:r>
              <a:rPr lang="en-US" altLang="ko-KR" dirty="0" smtClean="0"/>
              <a:t>424</a:t>
            </a:r>
            <a:r>
              <a:rPr lang="ko-KR" altLang="en-US" dirty="0" smtClean="0"/>
              <a:t>의 </a:t>
            </a:r>
            <a:r>
              <a:rPr lang="ko-KR" altLang="en-US" dirty="0"/>
              <a:t>해상도로 </a:t>
            </a:r>
            <a:r>
              <a:rPr lang="en-US" altLang="ko-KR" dirty="0"/>
              <a:t>30fps</a:t>
            </a:r>
            <a:r>
              <a:rPr lang="ko-KR" altLang="en-US" dirty="0"/>
              <a:t>의 샘플링 속도로 적외선 심도 이미지를 기록하도록 </a:t>
            </a:r>
            <a:r>
              <a:rPr lang="ko-KR" altLang="en-US" dirty="0" smtClean="0"/>
              <a:t>프로그래밍</a:t>
            </a:r>
            <a:endParaRPr lang="en-US" altLang="ko-KR" dirty="0" smtClean="0"/>
          </a:p>
          <a:p>
            <a:r>
              <a:rPr lang="en-US" altLang="ko-KR" dirty="0"/>
              <a:t>Kinect </a:t>
            </a:r>
            <a:r>
              <a:rPr lang="ko-KR" altLang="en-US" dirty="0"/>
              <a:t>센서의 깊이 이미지 만 사용하여 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비디오 없음</a:t>
            </a:r>
            <a:r>
              <a:rPr lang="en-US" altLang="ko-KR" dirty="0"/>
              <a:t>) 3D </a:t>
            </a:r>
            <a:r>
              <a:rPr lang="ko-KR" altLang="en-US" dirty="0"/>
              <a:t>모션 추적을 수행하여 모든 참가자의 프라이버시를 보장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80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Methods</a:t>
            </a:r>
            <a:endParaRPr 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Data </a:t>
            </a:r>
            <a:r>
              <a:rPr lang="en-US" b="1" dirty="0"/>
              <a:t>acquisition</a:t>
            </a:r>
            <a:endParaRPr lang="en-US" altLang="ko-KR" dirty="0" smtClean="0"/>
          </a:p>
          <a:p>
            <a:r>
              <a:rPr lang="en-US" altLang="ko-KR" dirty="0" smtClean="0"/>
              <a:t>ADOS-2 </a:t>
            </a:r>
            <a:r>
              <a:rPr lang="ko-KR" altLang="en-US" dirty="0"/>
              <a:t>시험의 </a:t>
            </a:r>
            <a:r>
              <a:rPr lang="en-US" altLang="ko-KR" dirty="0"/>
              <a:t>1-3 </a:t>
            </a:r>
            <a:r>
              <a:rPr lang="ko-KR" altLang="en-US" dirty="0"/>
              <a:t>중 하나를 사용하여 임상 평가 기간 동안 기록 된 </a:t>
            </a:r>
            <a:r>
              <a:rPr lang="ko-KR" altLang="en-US" dirty="0" smtClean="0"/>
              <a:t>약 </a:t>
            </a:r>
            <a:r>
              <a:rPr lang="en-US" altLang="ko-KR" dirty="0"/>
              <a:t>40 </a:t>
            </a:r>
            <a:r>
              <a:rPr lang="ko-KR" altLang="en-US" dirty="0"/>
              <a:t>분 동안 </a:t>
            </a:r>
            <a:r>
              <a:rPr lang="ko-KR" altLang="en-US" dirty="0" smtClean="0"/>
              <a:t>지속</a:t>
            </a:r>
            <a:endParaRPr lang="en-US" altLang="ko-KR" dirty="0" smtClean="0"/>
          </a:p>
          <a:p>
            <a:r>
              <a:rPr lang="ko-KR" altLang="en-US" dirty="0"/>
              <a:t>모든 평가에는 </a:t>
            </a:r>
            <a:r>
              <a:rPr lang="ko-KR" altLang="en-US" dirty="0" err="1"/>
              <a:t>임상의와</a:t>
            </a:r>
            <a:r>
              <a:rPr lang="ko-KR" altLang="en-US" dirty="0"/>
              <a:t> 아동이 방 가운데서 자유롭게 상호 작용하는 </a:t>
            </a:r>
            <a:r>
              <a:rPr lang="en-US" altLang="ko-KR" dirty="0"/>
              <a:t>3-12 </a:t>
            </a:r>
            <a:r>
              <a:rPr lang="ko-KR" altLang="en-US" dirty="0"/>
              <a:t>분 분량의 </a:t>
            </a:r>
            <a:r>
              <a:rPr lang="en-US" altLang="ko-KR" dirty="0"/>
              <a:t>"</a:t>
            </a:r>
            <a:r>
              <a:rPr lang="ko-KR" altLang="en-US" dirty="0"/>
              <a:t>자유 놀이</a:t>
            </a:r>
            <a:r>
              <a:rPr lang="en-US" altLang="ko-KR" dirty="0"/>
              <a:t>"</a:t>
            </a:r>
            <a:r>
              <a:rPr lang="ko-KR" altLang="en-US" dirty="0"/>
              <a:t>가 </a:t>
            </a:r>
            <a:r>
              <a:rPr lang="ko-KR" altLang="en-US" dirty="0" smtClean="0"/>
              <a:t>포함</a:t>
            </a:r>
            <a:endParaRPr lang="en-US" altLang="ko-KR" dirty="0" smtClean="0"/>
          </a:p>
          <a:p>
            <a:pPr marL="0" indent="0">
              <a:buNone/>
            </a:pPr>
            <a:r>
              <a:rPr lang="en-US" b="1" dirty="0" smtClean="0"/>
              <a:t>Pre-processing</a:t>
            </a:r>
          </a:p>
          <a:p>
            <a:r>
              <a:rPr lang="en-US" altLang="ko-KR" dirty="0"/>
              <a:t>IPI </a:t>
            </a:r>
            <a:r>
              <a:rPr lang="en-US" altLang="ko-KR" dirty="0" err="1"/>
              <a:t>Mocap</a:t>
            </a:r>
            <a:r>
              <a:rPr lang="en-US" altLang="ko-KR" dirty="0"/>
              <a:t> Studio (</a:t>
            </a:r>
            <a:r>
              <a:rPr lang="en-US" altLang="ko-KR" dirty="0" err="1"/>
              <a:t>IPIsoft</a:t>
            </a:r>
            <a:r>
              <a:rPr lang="en-US" altLang="ko-KR" dirty="0"/>
              <a:t> </a:t>
            </a:r>
            <a:r>
              <a:rPr lang="en-US" altLang="ko-KR" dirty="0" err="1"/>
              <a:t>inc.</a:t>
            </a:r>
            <a:r>
              <a:rPr lang="en-US" altLang="ko-KR" dirty="0"/>
              <a:t> Russia)</a:t>
            </a:r>
            <a:r>
              <a:rPr lang="ko-KR" altLang="en-US" dirty="0"/>
              <a:t>를 사용하여 각 영화 프레임에서 방의 </a:t>
            </a:r>
            <a:r>
              <a:rPr lang="en-US" altLang="ko-KR" dirty="0"/>
              <a:t>3D </a:t>
            </a:r>
            <a:r>
              <a:rPr lang="ko-KR" altLang="en-US" dirty="0" err="1"/>
              <a:t>클라우드</a:t>
            </a:r>
            <a:r>
              <a:rPr lang="ko-KR" altLang="en-US" dirty="0"/>
              <a:t> 포인트 표현을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r>
              <a:rPr lang="ko-KR" altLang="en-US" dirty="0"/>
              <a:t>객실 </a:t>
            </a:r>
            <a:r>
              <a:rPr lang="ko-KR" altLang="en-US" dirty="0" smtClean="0"/>
              <a:t>배경에는 </a:t>
            </a:r>
            <a:r>
              <a:rPr lang="ko-KR" altLang="en-US" dirty="0"/>
              <a:t>가구와 같은 정적인 </a:t>
            </a:r>
            <a:r>
              <a:rPr lang="ko-KR" altLang="en-US" dirty="0" smtClean="0"/>
              <a:t>물체를 </a:t>
            </a:r>
            <a:r>
              <a:rPr lang="ko-KR" altLang="en-US" dirty="0"/>
              <a:t>제거한 </a:t>
            </a:r>
            <a:r>
              <a:rPr lang="ko-KR" altLang="en-US" dirty="0" smtClean="0"/>
              <a:t>후</a:t>
            </a:r>
            <a:endParaRPr lang="en-US" altLang="ko-KR" dirty="0" smtClean="0"/>
          </a:p>
          <a:p>
            <a:r>
              <a:rPr lang="ko-KR" altLang="en-US" dirty="0"/>
              <a:t> </a:t>
            </a:r>
            <a:r>
              <a:rPr lang="en-US" altLang="ko-KR" dirty="0"/>
              <a:t>IPI</a:t>
            </a:r>
            <a:r>
              <a:rPr lang="ko-KR" altLang="en-US" dirty="0"/>
              <a:t>를 사용하여 </a:t>
            </a:r>
            <a:r>
              <a:rPr lang="en-US" altLang="ko-KR" dirty="0"/>
              <a:t>27</a:t>
            </a:r>
            <a:r>
              <a:rPr lang="ko-KR" altLang="en-US" dirty="0"/>
              <a:t>개의 관절을 포함하는 골격 </a:t>
            </a:r>
            <a:r>
              <a:rPr lang="ko-KR" altLang="en-US" dirty="0" smtClean="0"/>
              <a:t>모델을 </a:t>
            </a:r>
            <a:r>
              <a:rPr lang="ko-KR" altLang="en-US" dirty="0" err="1"/>
              <a:t>클라우드</a:t>
            </a:r>
            <a:r>
              <a:rPr lang="ko-KR" altLang="en-US" dirty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사람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ko-KR" altLang="en-US" dirty="0"/>
              <a:t>데이터에 적합</a:t>
            </a:r>
            <a:endParaRPr lang="en-US" altLang="ko-KR" dirty="0" smtClean="0"/>
          </a:p>
          <a:p>
            <a:pPr marL="0" indent="0">
              <a:buNone/>
            </a:pPr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706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Figure.1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0677" y="5934670"/>
            <a:ext cx="118309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(A) </a:t>
            </a:r>
            <a:r>
              <a:rPr lang="ko-KR" altLang="en-US" dirty="0"/>
              <a:t>단일 </a:t>
            </a:r>
            <a:r>
              <a:rPr lang="en-US" altLang="ko-KR" dirty="0"/>
              <a:t>Kinect </a:t>
            </a:r>
            <a:r>
              <a:rPr lang="ko-KR" altLang="en-US" dirty="0"/>
              <a:t>깊이 카메라로 캡처 한 단일 프레임의 예 </a:t>
            </a:r>
            <a:r>
              <a:rPr lang="en-US" altLang="ko-KR" dirty="0" smtClean="0"/>
              <a:t>(A</a:t>
            </a:r>
            <a:r>
              <a:rPr lang="ko-KR" altLang="en-US" dirty="0" smtClean="0"/>
              <a:t>왼쪽</a:t>
            </a:r>
            <a:r>
              <a:rPr lang="en-US" altLang="ko-KR" dirty="0" smtClean="0"/>
              <a:t>),</a:t>
            </a:r>
            <a:r>
              <a:rPr lang="ko-KR" altLang="en-US" dirty="0"/>
              <a:t> </a:t>
            </a:r>
            <a:r>
              <a:rPr lang="en-US" altLang="ko-KR" dirty="0"/>
              <a:t>4 </a:t>
            </a:r>
            <a:r>
              <a:rPr lang="ko-KR" altLang="en-US" dirty="0"/>
              <a:t>대의 모든 카메라에서 이미지를 통합하고 배경에서 개인을 분할하고 골격을 </a:t>
            </a:r>
            <a:r>
              <a:rPr lang="ko-KR" altLang="en-US" dirty="0" smtClean="0"/>
              <a:t>모두 </a:t>
            </a:r>
            <a:r>
              <a:rPr lang="ko-KR" altLang="en-US" dirty="0"/>
              <a:t>맞춘 후의 </a:t>
            </a:r>
            <a:r>
              <a:rPr lang="ko-KR" altLang="en-US" dirty="0" smtClean="0"/>
              <a:t>프레임</a:t>
            </a:r>
            <a:r>
              <a:rPr lang="ko-KR" altLang="en-US" dirty="0"/>
              <a:t> </a:t>
            </a:r>
            <a:r>
              <a:rPr lang="en-US" altLang="ko-KR" dirty="0" smtClean="0"/>
              <a:t>(A</a:t>
            </a:r>
            <a:r>
              <a:rPr lang="ko-KR" altLang="en-US" dirty="0" smtClean="0"/>
              <a:t>오른쪽</a:t>
            </a:r>
            <a:r>
              <a:rPr lang="en-US" altLang="ko-KR" dirty="0" smtClean="0"/>
              <a:t>), (B)</a:t>
            </a:r>
            <a:r>
              <a:rPr lang="ko-KR" altLang="en-US" dirty="0"/>
              <a:t> </a:t>
            </a:r>
            <a:r>
              <a:rPr lang="ko-KR" altLang="en-US" dirty="0" err="1"/>
              <a:t>임상의에</a:t>
            </a:r>
            <a:r>
              <a:rPr lang="ko-KR" altLang="en-US" dirty="0"/>
              <a:t> 대한 아동의 이동 방향으로 계산 된 </a:t>
            </a:r>
            <a:r>
              <a:rPr lang="ko-KR" altLang="en-US" dirty="0" smtClean="0"/>
              <a:t>접근</a:t>
            </a:r>
            <a:r>
              <a:rPr lang="en-US" altLang="ko-KR" dirty="0" smtClean="0"/>
              <a:t>(</a:t>
            </a:r>
            <a:r>
              <a:rPr lang="ko-KR" altLang="en-US" dirty="0"/>
              <a:t>녹색</a:t>
            </a:r>
            <a:r>
              <a:rPr lang="en-US" altLang="ko-KR" dirty="0"/>
              <a:t>) </a:t>
            </a:r>
            <a:r>
              <a:rPr lang="ko-KR" altLang="en-US" dirty="0"/>
              <a:t>및 </a:t>
            </a:r>
            <a:r>
              <a:rPr lang="ko-KR" altLang="en-US" dirty="0" smtClean="0"/>
              <a:t>회피</a:t>
            </a:r>
            <a:r>
              <a:rPr lang="en-US" altLang="ko-KR" dirty="0" smtClean="0"/>
              <a:t>(</a:t>
            </a:r>
            <a:r>
              <a:rPr lang="ko-KR" altLang="en-US" dirty="0"/>
              <a:t>빨간색</a:t>
            </a:r>
            <a:r>
              <a:rPr lang="en-US" altLang="ko-KR" dirty="0"/>
              <a:t>)</a:t>
            </a:r>
            <a:endParaRPr 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62" y="2009775"/>
            <a:ext cx="75342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1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</a:t>
            </a:r>
            <a:r>
              <a:rPr lang="en-US" b="1" dirty="0" smtClean="0"/>
              <a:t>analysis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아동과 </a:t>
            </a:r>
            <a:r>
              <a:rPr lang="ko-KR" altLang="en-US" dirty="0"/>
              <a:t>임상의 사이의 평균 </a:t>
            </a:r>
            <a:r>
              <a:rPr lang="ko-KR" altLang="en-US" dirty="0" smtClean="0"/>
              <a:t>거리</a:t>
            </a:r>
            <a:endParaRPr lang="en-US" altLang="ko-KR" dirty="0" smtClean="0"/>
          </a:p>
          <a:p>
            <a:r>
              <a:rPr lang="ko-KR" altLang="en-US" dirty="0" smtClean="0"/>
              <a:t>아동이 </a:t>
            </a:r>
            <a:r>
              <a:rPr lang="ko-KR" altLang="en-US" dirty="0" err="1"/>
              <a:t>임상의에게</a:t>
            </a:r>
            <a:r>
              <a:rPr lang="ko-KR" altLang="en-US" dirty="0"/>
              <a:t> 접근 한 시간의 </a:t>
            </a:r>
            <a:r>
              <a:rPr lang="ko-KR" altLang="en-US" dirty="0" smtClean="0"/>
              <a:t>백분율</a:t>
            </a:r>
            <a:endParaRPr lang="en-US" altLang="ko-KR" dirty="0" smtClean="0"/>
          </a:p>
          <a:p>
            <a:r>
              <a:rPr lang="ko-KR" altLang="en-US" dirty="0"/>
              <a:t>아동이 </a:t>
            </a:r>
            <a:r>
              <a:rPr lang="ko-KR" altLang="en-US" dirty="0" err="1"/>
              <a:t>임상의를</a:t>
            </a:r>
            <a:r>
              <a:rPr lang="ko-KR" altLang="en-US" dirty="0"/>
              <a:t> 피한 시간의 백분율</a:t>
            </a:r>
            <a:endParaRPr lang="en-US" altLang="ko-KR" dirty="0" smtClean="0"/>
          </a:p>
          <a:p>
            <a:r>
              <a:rPr lang="ko-KR" altLang="en-US" dirty="0"/>
              <a:t>이동 속도에 의해 가중치가 부여 된 </a:t>
            </a:r>
            <a:r>
              <a:rPr lang="ko-KR" altLang="en-US" dirty="0" err="1"/>
              <a:t>임상의에</a:t>
            </a:r>
            <a:r>
              <a:rPr lang="ko-KR" altLang="en-US" dirty="0"/>
              <a:t> 대한 아동의 평균 이동 각도를 </a:t>
            </a:r>
            <a:r>
              <a:rPr lang="ko-KR" altLang="en-US" dirty="0" smtClean="0"/>
              <a:t>정량화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(</a:t>
            </a:r>
            <a:r>
              <a:rPr lang="ko-KR" altLang="en-US" dirty="0" err="1"/>
              <a:t>임상의를</a:t>
            </a:r>
            <a:r>
              <a:rPr lang="ko-KR" altLang="en-US" dirty="0"/>
              <a:t> 향해 더 자주 이동 한 어린이는 </a:t>
            </a:r>
            <a:r>
              <a:rPr lang="en-US" altLang="ko-KR" dirty="0"/>
              <a:t>90</a:t>
            </a:r>
            <a:r>
              <a:rPr lang="ko-KR" altLang="en-US" dirty="0"/>
              <a:t>도 미만의 </a:t>
            </a:r>
            <a:r>
              <a:rPr lang="ko-KR" altLang="en-US" dirty="0" smtClean="0"/>
              <a:t>각도</a:t>
            </a:r>
            <a:r>
              <a:rPr lang="en-US" altLang="ko-KR" dirty="0" smtClean="0"/>
              <a:t>)</a:t>
            </a:r>
          </a:p>
          <a:p>
            <a:r>
              <a:rPr lang="ko-KR" altLang="en-US" dirty="0"/>
              <a:t>최종 측정은 임상의의 위치에 대한 아동의 얼굴 방향 </a:t>
            </a:r>
            <a:r>
              <a:rPr lang="en-US" altLang="ko-KR" dirty="0"/>
              <a:t>(FD)</a:t>
            </a:r>
            <a:r>
              <a:rPr lang="ko-KR" altLang="en-US" dirty="0"/>
              <a:t>을 정량화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195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Results</a:t>
            </a:r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51022"/>
          <a:stretch/>
        </p:blipFill>
        <p:spPr>
          <a:xfrm>
            <a:off x="0" y="1635654"/>
            <a:ext cx="7245957" cy="217599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r="47633"/>
          <a:stretch/>
        </p:blipFill>
        <p:spPr>
          <a:xfrm>
            <a:off x="7004538" y="1961931"/>
            <a:ext cx="5187462" cy="42291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811652"/>
            <a:ext cx="5414233" cy="25552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2963" y="6043767"/>
            <a:ext cx="2192871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 :Pearson </a:t>
            </a:r>
            <a:r>
              <a:rPr lang="ko-KR" altLang="en-US" dirty="0"/>
              <a:t>상관 </a:t>
            </a:r>
            <a:r>
              <a:rPr lang="ko-KR" altLang="en-US" dirty="0" smtClean="0"/>
              <a:t>계수</a:t>
            </a:r>
            <a:endParaRPr lang="en-US" altLang="ko-KR" dirty="0" smtClean="0"/>
          </a:p>
          <a:p>
            <a:r>
              <a:rPr lang="en-US" dirty="0" smtClean="0"/>
              <a:t>p : </a:t>
            </a:r>
            <a:r>
              <a:rPr lang="en-US" dirty="0"/>
              <a:t> p-value</a:t>
            </a:r>
          </a:p>
        </p:txBody>
      </p:sp>
    </p:spTree>
    <p:extLst>
      <p:ext uri="{BB962C8B-B14F-4D97-AF65-F5344CB8AC3E}">
        <p14:creationId xmlns:p14="http://schemas.microsoft.com/office/powerpoint/2010/main" val="86739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아동의 행동을 직접 정량화 할 </a:t>
            </a:r>
            <a:r>
              <a:rPr lang="ko-KR" altLang="en-US" dirty="0" smtClean="0"/>
              <a:t>수 있는 </a:t>
            </a:r>
            <a:r>
              <a:rPr lang="ko-KR" altLang="en-US" dirty="0"/>
              <a:t>자동화 된 행동 추적 기술 </a:t>
            </a:r>
            <a:r>
              <a:rPr lang="ko-KR" altLang="en-US" dirty="0" smtClean="0"/>
              <a:t>의 </a:t>
            </a:r>
            <a:r>
              <a:rPr lang="ko-KR" altLang="en-US" dirty="0"/>
              <a:t>개발은 치료 효과의 기본 연구 및 임상 </a:t>
            </a:r>
            <a:r>
              <a:rPr lang="ko-KR" altLang="en-US" dirty="0" smtClean="0"/>
              <a:t>평가에 </a:t>
            </a:r>
            <a:r>
              <a:rPr lang="ko-KR" altLang="en-US" dirty="0"/>
              <a:t>매우 </a:t>
            </a:r>
            <a:r>
              <a:rPr lang="ko-KR" altLang="en-US" dirty="0" smtClean="0"/>
              <a:t>중요</a:t>
            </a:r>
            <a:endParaRPr lang="en-US" altLang="ko-KR" dirty="0" smtClean="0"/>
          </a:p>
          <a:p>
            <a:r>
              <a:rPr lang="ko-KR" altLang="en-US" dirty="0"/>
              <a:t>유사한 시스템은 다양한 동물 모델에서 사회적 행동에 대한 </a:t>
            </a:r>
            <a:r>
              <a:rPr lang="ko-KR" altLang="en-US" dirty="0" smtClean="0"/>
              <a:t>연구에서 </a:t>
            </a:r>
            <a:r>
              <a:rPr lang="ko-KR" altLang="en-US" dirty="0"/>
              <a:t>큰 </a:t>
            </a:r>
            <a:r>
              <a:rPr lang="ko-KR" altLang="en-US" dirty="0" smtClean="0"/>
              <a:t>가치</a:t>
            </a:r>
            <a:endParaRPr lang="en-US" altLang="ko-KR" dirty="0" smtClean="0"/>
          </a:p>
          <a:p>
            <a:r>
              <a:rPr lang="ko-KR" altLang="en-US" dirty="0"/>
              <a:t> 모션 추적 측정 기능은 </a:t>
            </a:r>
            <a:r>
              <a:rPr lang="en-US" altLang="ko-KR" dirty="0"/>
              <a:t>ADOS </a:t>
            </a:r>
            <a:r>
              <a:rPr lang="ko-KR" altLang="en-US" dirty="0"/>
              <a:t>테스트의 </a:t>
            </a:r>
            <a:r>
              <a:rPr lang="en-US" altLang="ko-KR" dirty="0"/>
              <a:t>~ 30 % </a:t>
            </a:r>
            <a:r>
              <a:rPr lang="ko-KR" altLang="en-US" dirty="0" smtClean="0"/>
              <a:t>변동성</a:t>
            </a:r>
            <a:r>
              <a:rPr lang="ko-KR" altLang="en-US" dirty="0"/>
              <a:t>을</a:t>
            </a:r>
            <a:r>
              <a:rPr lang="ko-KR" altLang="en-US" dirty="0" smtClean="0"/>
              <a:t> 설명</a:t>
            </a:r>
            <a:endParaRPr lang="en-US" altLang="ko-KR" dirty="0" smtClean="0"/>
          </a:p>
          <a:p>
            <a:r>
              <a:rPr lang="ko-KR" altLang="en-US" dirty="0"/>
              <a:t>이러한 시스템을 가정 및 유치원 환경에 적용하고 이러한 환경에 적합한 </a:t>
            </a:r>
            <a:r>
              <a:rPr lang="ko-KR" altLang="en-US" dirty="0" smtClean="0"/>
              <a:t>추가 </a:t>
            </a:r>
            <a:r>
              <a:rPr lang="ko-KR" altLang="en-US" dirty="0"/>
              <a:t>연구를 수행하면 어린이의 자연 환경에서 사회적 행동을 정량화 할 </a:t>
            </a:r>
            <a:r>
              <a:rPr lang="ko-KR" altLang="en-US" dirty="0" smtClean="0"/>
              <a:t>수 있음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6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296</Words>
  <Application>Microsoft Office PowerPoint</Application>
  <PresentationFormat>와이드스크린</PresentationFormat>
  <Paragraphs>57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모션 캡처를 사용하여 자폐증의 사회적 증상을 정량화</vt:lpstr>
      <vt:lpstr>Introduction</vt:lpstr>
      <vt:lpstr>Introduction</vt:lpstr>
      <vt:lpstr>Introduction</vt:lpstr>
      <vt:lpstr>Methods Experimental setup</vt:lpstr>
      <vt:lpstr>Methods</vt:lpstr>
      <vt:lpstr>Figure.1</vt:lpstr>
      <vt:lpstr>Data analysis</vt:lpstr>
      <vt:lpstr>Results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 jh</dc:creator>
  <cp:lastModifiedBy>user</cp:lastModifiedBy>
  <cp:revision>35</cp:revision>
  <dcterms:created xsi:type="dcterms:W3CDTF">2019-08-29T08:48:57Z</dcterms:created>
  <dcterms:modified xsi:type="dcterms:W3CDTF">2019-09-27T02:23:06Z</dcterms:modified>
</cp:coreProperties>
</file>