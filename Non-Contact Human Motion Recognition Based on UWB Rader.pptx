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5287-F72B-43EB-8789-BE29F7099CC0}" type="datetimeFigureOut">
              <a:rPr lang="ko-KR" altLang="en-US" smtClean="0"/>
              <a:t>2020-03-16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FC4DD-D8F8-4C51-84EE-56C0C26B1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340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5287-F72B-43EB-8789-BE29F7099CC0}" type="datetimeFigureOut">
              <a:rPr lang="ko-KR" altLang="en-US" smtClean="0"/>
              <a:t>2020-03-16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FC4DD-D8F8-4C51-84EE-56C0C26B1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685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5287-F72B-43EB-8789-BE29F7099CC0}" type="datetimeFigureOut">
              <a:rPr lang="ko-KR" altLang="en-US" smtClean="0"/>
              <a:t>2020-03-16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FC4DD-D8F8-4C51-84EE-56C0C26B1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693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5287-F72B-43EB-8789-BE29F7099CC0}" type="datetimeFigureOut">
              <a:rPr lang="ko-KR" altLang="en-US" smtClean="0"/>
              <a:t>2020-03-16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FC4DD-D8F8-4C51-84EE-56C0C26B1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720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5287-F72B-43EB-8789-BE29F7099CC0}" type="datetimeFigureOut">
              <a:rPr lang="ko-KR" altLang="en-US" smtClean="0"/>
              <a:t>2020-03-16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FC4DD-D8F8-4C51-84EE-56C0C26B1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894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5287-F72B-43EB-8789-BE29F7099CC0}" type="datetimeFigureOut">
              <a:rPr lang="ko-KR" altLang="en-US" smtClean="0"/>
              <a:t>2020-03-16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FC4DD-D8F8-4C51-84EE-56C0C26B1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872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5287-F72B-43EB-8789-BE29F7099CC0}" type="datetimeFigureOut">
              <a:rPr lang="ko-KR" altLang="en-US" smtClean="0"/>
              <a:t>2020-03-16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FC4DD-D8F8-4C51-84EE-56C0C26B1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6035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5287-F72B-43EB-8789-BE29F7099CC0}" type="datetimeFigureOut">
              <a:rPr lang="ko-KR" altLang="en-US" smtClean="0"/>
              <a:t>2020-03-16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FC4DD-D8F8-4C51-84EE-56C0C26B1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574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5287-F72B-43EB-8789-BE29F7099CC0}" type="datetimeFigureOut">
              <a:rPr lang="ko-KR" altLang="en-US" smtClean="0"/>
              <a:t>2020-03-16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FC4DD-D8F8-4C51-84EE-56C0C26B1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907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5287-F72B-43EB-8789-BE29F7099CC0}" type="datetimeFigureOut">
              <a:rPr lang="ko-KR" altLang="en-US" smtClean="0"/>
              <a:t>2020-03-16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FC4DD-D8F8-4C51-84EE-56C0C26B1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922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5287-F72B-43EB-8789-BE29F7099CC0}" type="datetimeFigureOut">
              <a:rPr lang="ko-KR" altLang="en-US" smtClean="0"/>
              <a:t>2020-03-16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FC4DD-D8F8-4C51-84EE-56C0C26B1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751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B5287-F72B-43EB-8789-BE29F7099CC0}" type="datetimeFigureOut">
              <a:rPr lang="ko-KR" altLang="en-US" smtClean="0"/>
              <a:t>2020-03-16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FC4DD-D8F8-4C51-84EE-56C0C26B1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92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1784906"/>
            <a:ext cx="89535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62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Abstract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일상 생활에는 매우 다른 특성을 가진 다양한 종류의 </a:t>
            </a:r>
            <a:r>
              <a:rPr lang="ko-KR" altLang="en-US" sz="2000" dirty="0" smtClean="0"/>
              <a:t>동작이 </a:t>
            </a:r>
            <a:r>
              <a:rPr lang="ko-KR" altLang="en-US" sz="2000" dirty="0"/>
              <a:t>존재하며</a:t>
            </a:r>
            <a:r>
              <a:rPr lang="en-US" altLang="ko-KR" sz="2000" dirty="0"/>
              <a:t>, </a:t>
            </a:r>
            <a:r>
              <a:rPr lang="ko-KR" altLang="en-US" sz="2000" dirty="0"/>
              <a:t>한편 </a:t>
            </a:r>
            <a:r>
              <a:rPr lang="ko-KR" altLang="en-US" sz="2000" dirty="0" smtClean="0"/>
              <a:t>몇 </a:t>
            </a:r>
            <a:r>
              <a:rPr lang="ko-KR" altLang="en-US" sz="2000" dirty="0"/>
              <a:t>가지 군집적 특징을 나타내므로 인식하기가 </a:t>
            </a:r>
            <a:r>
              <a:rPr lang="ko-KR" altLang="en-US" sz="2000" dirty="0" smtClean="0"/>
              <a:t>어려움</a:t>
            </a:r>
            <a:endParaRPr lang="en-US" altLang="ko-KR" sz="2000" dirty="0" smtClean="0"/>
          </a:p>
          <a:p>
            <a:r>
              <a:rPr lang="ko-KR" altLang="en-US" sz="2000" dirty="0" err="1"/>
              <a:t>초광대역</a:t>
            </a:r>
            <a:r>
              <a:rPr lang="ko-KR" altLang="en-US" sz="2000" dirty="0"/>
              <a:t> 레이더 시스템으로 연구한 운동 유형 중 가장 많은 수를 포함한 종합적인 인체 운동 인식을 위한 방법이 </a:t>
            </a:r>
            <a:r>
              <a:rPr lang="ko-KR" altLang="en-US" sz="2000" dirty="0" smtClean="0"/>
              <a:t>도입</a:t>
            </a:r>
            <a:r>
              <a:rPr lang="en-US" altLang="ko-KR" sz="2000" dirty="0" smtClean="0"/>
              <a:t>(12</a:t>
            </a:r>
            <a:r>
              <a:rPr lang="ko-KR" altLang="en-US" sz="2000" dirty="0" smtClean="0"/>
              <a:t>가지 동작</a:t>
            </a:r>
            <a:r>
              <a:rPr lang="en-US" altLang="ko-KR" sz="2000" dirty="0" smtClean="0"/>
              <a:t>) </a:t>
            </a:r>
          </a:p>
          <a:p>
            <a:r>
              <a:rPr lang="ko-KR" altLang="en-US" sz="2000" dirty="0" smtClean="0"/>
              <a:t>첫째로 시간 </a:t>
            </a:r>
            <a:r>
              <a:rPr lang="ko-KR" altLang="en-US" sz="2000" dirty="0"/>
              <a:t>범위 영역의 정보는 상황 동작과 비</a:t>
            </a:r>
            <a:r>
              <a:rPr lang="en-US" altLang="ko-KR" sz="2000" dirty="0" smtClean="0"/>
              <a:t>-</a:t>
            </a:r>
            <a:r>
              <a:rPr lang="ko-KR" altLang="en-US" sz="2000" dirty="0" smtClean="0"/>
              <a:t>상황 </a:t>
            </a:r>
            <a:r>
              <a:rPr lang="ko-KR" altLang="en-US" sz="2000" dirty="0"/>
              <a:t>동작을 구별하기 위해 </a:t>
            </a:r>
            <a:r>
              <a:rPr lang="ko-KR" altLang="en-US" sz="2000" dirty="0" smtClean="0"/>
              <a:t>사용</a:t>
            </a:r>
            <a:endParaRPr lang="en-US" altLang="ko-KR" sz="2000" dirty="0" smtClean="0"/>
          </a:p>
          <a:p>
            <a:r>
              <a:rPr lang="ko-KR" altLang="en-US" sz="2000" dirty="0"/>
              <a:t>다양한 종류의 인간 움직임에 따라 해당 스펙트럼 </a:t>
            </a:r>
            <a:r>
              <a:rPr lang="ko-KR" altLang="en-US" sz="2000" dirty="0" smtClean="0"/>
              <a:t>분석을 </a:t>
            </a:r>
            <a:r>
              <a:rPr lang="ko-KR" altLang="en-US" sz="2000" dirty="0"/>
              <a:t>얻기 위해 가중 범위</a:t>
            </a:r>
            <a:r>
              <a:rPr lang="en-US" altLang="ko-KR" sz="2000" dirty="0"/>
              <a:t>-</a:t>
            </a:r>
            <a:r>
              <a:rPr lang="ko-KR" altLang="en-US" sz="2000" dirty="0"/>
              <a:t>시간</a:t>
            </a:r>
            <a:r>
              <a:rPr lang="en-US" altLang="ko-KR" sz="2000" dirty="0"/>
              <a:t>-</a:t>
            </a:r>
            <a:r>
              <a:rPr lang="ko-KR" altLang="en-US" sz="2000" dirty="0"/>
              <a:t>주파수 변환 방법을 </a:t>
            </a:r>
            <a:r>
              <a:rPr lang="ko-KR" altLang="en-US" sz="2000" dirty="0" smtClean="0"/>
              <a:t>제안</a:t>
            </a:r>
            <a:endParaRPr lang="en-US" altLang="ko-KR" sz="2000" dirty="0" smtClean="0"/>
          </a:p>
          <a:p>
            <a:r>
              <a:rPr lang="ko-KR" altLang="en-US" sz="2000" dirty="0" smtClean="0"/>
              <a:t>상황 동작과 비 상황동작에서 각각 </a:t>
            </a:r>
            <a:r>
              <a:rPr lang="ko-KR" altLang="en-US" sz="2000" dirty="0"/>
              <a:t>최대 </a:t>
            </a:r>
            <a:r>
              <a:rPr lang="en-US" altLang="ko-KR" sz="2000" dirty="0"/>
              <a:t>94.4%, 95.3%</a:t>
            </a:r>
            <a:r>
              <a:rPr lang="ko-KR" altLang="en-US" sz="2000" dirty="0"/>
              <a:t>의 최고 정확도를 </a:t>
            </a:r>
            <a:r>
              <a:rPr lang="ko-KR" altLang="en-US" sz="2000" dirty="0" smtClean="0"/>
              <a:t>달성</a:t>
            </a:r>
            <a:endParaRPr lang="en-US" altLang="ko-KR" sz="2000" dirty="0" smtClean="0"/>
          </a:p>
          <a:p>
            <a:r>
              <a:rPr lang="ko-KR" altLang="en-US" sz="2000" dirty="0"/>
              <a:t>제안된 방법은 </a:t>
            </a:r>
            <a:r>
              <a:rPr lang="ko-KR" altLang="en-US" sz="2000" dirty="0" err="1"/>
              <a:t>스마트홈과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노인요양에</a:t>
            </a:r>
            <a:r>
              <a:rPr lang="ko-KR" altLang="en-US" sz="2000" dirty="0"/>
              <a:t> 유익할 수 </a:t>
            </a:r>
            <a:r>
              <a:rPr lang="ko-KR" altLang="en-US" sz="2000" dirty="0" smtClean="0"/>
              <a:t>있음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25331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I. INTRODUCTION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smtClean="0"/>
              <a:t>상해와 </a:t>
            </a:r>
            <a:r>
              <a:rPr lang="ko-KR" altLang="en-US" sz="1800" dirty="0"/>
              <a:t>만성 질환은 노인의 이동성과 일상적인 활동 수행에 큰 영향을 </a:t>
            </a:r>
            <a:r>
              <a:rPr lang="ko-KR" altLang="en-US" sz="1800" dirty="0" smtClean="0"/>
              <a:t>미칠 수 있음 </a:t>
            </a:r>
            <a:endParaRPr lang="en-US" altLang="ko-KR" sz="1800" dirty="0" smtClean="0"/>
          </a:p>
          <a:p>
            <a:r>
              <a:rPr lang="ko-KR" altLang="en-US" sz="1800" dirty="0"/>
              <a:t>인간의 움직임 </a:t>
            </a:r>
            <a:r>
              <a:rPr lang="ko-KR" altLang="en-US" sz="1800" b="1" dirty="0"/>
              <a:t>인식</a:t>
            </a:r>
            <a:r>
              <a:rPr lang="ko-KR" altLang="en-US" sz="1800" dirty="0"/>
              <a:t> 시스템은 </a:t>
            </a:r>
            <a:r>
              <a:rPr lang="ko-KR" altLang="en-US" sz="1800" dirty="0" smtClean="0"/>
              <a:t>유익할 것</a:t>
            </a:r>
            <a:endParaRPr lang="en-US" altLang="ko-KR" sz="1800" dirty="0" smtClean="0"/>
          </a:p>
          <a:p>
            <a:r>
              <a:rPr lang="ko-KR" altLang="en-US" sz="1800" dirty="0"/>
              <a:t>팔찌와 발목 모니터와 같은 </a:t>
            </a:r>
            <a:r>
              <a:rPr lang="ko-KR" altLang="en-US" sz="1800" dirty="0" err="1"/>
              <a:t>착용형</a:t>
            </a:r>
            <a:r>
              <a:rPr lang="ko-KR" altLang="en-US" sz="1800" dirty="0"/>
              <a:t> 센서는 일반적으로 인체에 </a:t>
            </a:r>
            <a:r>
              <a:rPr lang="ko-KR" altLang="en-US" sz="1800" dirty="0" smtClean="0"/>
              <a:t>부착되나 </a:t>
            </a:r>
            <a:r>
              <a:rPr lang="ko-KR" altLang="en-US" sz="1800" dirty="0"/>
              <a:t>그것들은 </a:t>
            </a:r>
            <a:r>
              <a:rPr lang="ko-KR" altLang="en-US" sz="1800" dirty="0" err="1"/>
              <a:t>침입적이고</a:t>
            </a:r>
            <a:r>
              <a:rPr lang="en-US" altLang="ko-KR" sz="1800" dirty="0"/>
              <a:t>, </a:t>
            </a:r>
            <a:r>
              <a:rPr lang="ko-KR" altLang="en-US" sz="1800" dirty="0"/>
              <a:t>쉽게 깨지고</a:t>
            </a:r>
            <a:r>
              <a:rPr lang="en-US" altLang="ko-KR" sz="1800" dirty="0"/>
              <a:t>, </a:t>
            </a:r>
            <a:r>
              <a:rPr lang="ko-KR" altLang="en-US" sz="1800" dirty="0" smtClean="0"/>
              <a:t>착용하거나 </a:t>
            </a:r>
            <a:r>
              <a:rPr lang="ko-KR" altLang="en-US" sz="1800" dirty="0"/>
              <a:t>휴대해야 </a:t>
            </a:r>
            <a:r>
              <a:rPr lang="ko-KR" altLang="en-US" sz="1800" dirty="0" smtClean="0"/>
              <a:t>됨</a:t>
            </a:r>
            <a:endParaRPr lang="en-US" altLang="ko-KR" sz="1800" dirty="0" smtClean="0"/>
          </a:p>
          <a:p>
            <a:r>
              <a:rPr lang="ko-KR" altLang="en-US" sz="1800" dirty="0"/>
              <a:t>카메라는 항상 조명 조건과 </a:t>
            </a:r>
            <a:r>
              <a:rPr lang="ko-KR" altLang="en-US" sz="1800" dirty="0" smtClean="0"/>
              <a:t>사각지대에 취약하며</a:t>
            </a:r>
            <a:r>
              <a:rPr lang="en-US" altLang="ko-KR" sz="1800" dirty="0"/>
              <a:t>, </a:t>
            </a:r>
            <a:r>
              <a:rPr lang="ko-KR" altLang="en-US" sz="1800" dirty="0"/>
              <a:t>마이크는 소음에 의해 </a:t>
            </a:r>
            <a:r>
              <a:rPr lang="ko-KR" altLang="en-US" sz="1800" dirty="0" smtClean="0"/>
              <a:t>간섭 받기 쉽고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둘 </a:t>
            </a:r>
            <a:r>
              <a:rPr lang="ko-KR" altLang="en-US" sz="1800" dirty="0"/>
              <a:t>다 사생활 </a:t>
            </a:r>
            <a:r>
              <a:rPr lang="ko-KR" altLang="en-US" sz="1800" dirty="0" smtClean="0"/>
              <a:t>침해임</a:t>
            </a:r>
            <a:endParaRPr lang="en-US" altLang="ko-KR" sz="1800" dirty="0" smtClean="0"/>
          </a:p>
          <a:p>
            <a:r>
              <a:rPr lang="ko-KR" altLang="en-US" sz="1800" dirty="0"/>
              <a:t>그러나 </a:t>
            </a:r>
            <a:r>
              <a:rPr lang="ko-KR" altLang="en-US" sz="1800" dirty="0" smtClean="0"/>
              <a:t>참고문헌의 연구에서의 인간 </a:t>
            </a:r>
            <a:r>
              <a:rPr lang="ko-KR" altLang="en-US" sz="1800" dirty="0"/>
              <a:t>동작은 일상생활에 충분하지 </a:t>
            </a:r>
            <a:r>
              <a:rPr lang="ko-KR" altLang="en-US" sz="1800" dirty="0" smtClean="0"/>
              <a:t>않음</a:t>
            </a:r>
            <a:endParaRPr lang="en-US" altLang="ko-KR" sz="1800" dirty="0" smtClean="0"/>
          </a:p>
          <a:p>
            <a:r>
              <a:rPr lang="en-US" altLang="ko-KR" sz="1800" dirty="0"/>
              <a:t>UWB </a:t>
            </a:r>
            <a:r>
              <a:rPr lang="ko-KR" altLang="en-US" sz="1800" dirty="0"/>
              <a:t>펄스 레이더는 짧은 펄스로 인해 </a:t>
            </a:r>
            <a:r>
              <a:rPr lang="en-US" altLang="ko-KR" sz="1800" dirty="0"/>
              <a:t>FMCW </a:t>
            </a:r>
            <a:r>
              <a:rPr lang="ko-KR" altLang="en-US" sz="1800" dirty="0"/>
              <a:t>또는 </a:t>
            </a:r>
            <a:r>
              <a:rPr lang="en-US" altLang="ko-KR" sz="1800" dirty="0"/>
              <a:t>SFCW(</a:t>
            </a:r>
            <a:r>
              <a:rPr lang="en-US" altLang="ko-KR" sz="1800" dirty="0" err="1"/>
              <a:t>Steped</a:t>
            </a:r>
            <a:r>
              <a:rPr lang="en-US" altLang="ko-KR" sz="1800" dirty="0"/>
              <a:t>-Frequency Continuous Wave) </a:t>
            </a:r>
            <a:r>
              <a:rPr lang="ko-KR" altLang="en-US" sz="1800" dirty="0" smtClean="0"/>
              <a:t>레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ko-KR" altLang="en-US" sz="1800" dirty="0" err="1" smtClean="0"/>
              <a:t>이더</a:t>
            </a:r>
            <a:r>
              <a:rPr lang="ko-KR" altLang="en-US" sz="1800" dirty="0" smtClean="0"/>
              <a:t> </a:t>
            </a:r>
            <a:r>
              <a:rPr lang="ko-KR" altLang="en-US" sz="1800" dirty="0"/>
              <a:t>시스템보다 안티 </a:t>
            </a:r>
            <a:r>
              <a:rPr lang="ko-KR" altLang="en-US" sz="1800" dirty="0" err="1"/>
              <a:t>멀티패스</a:t>
            </a:r>
            <a:r>
              <a:rPr lang="ko-KR" altLang="en-US" sz="1800" dirty="0"/>
              <a:t> 간섭 성능이 우수하여 실내 환경에서 </a:t>
            </a:r>
            <a:r>
              <a:rPr lang="ko-KR" altLang="en-US" sz="1800" dirty="0" smtClean="0"/>
              <a:t>필수적</a:t>
            </a:r>
            <a:endParaRPr lang="en-US" altLang="ko-KR" sz="1800" dirty="0" smtClean="0"/>
          </a:p>
          <a:p>
            <a:r>
              <a:rPr lang="ko-KR" altLang="en-US" sz="1800" dirty="0"/>
              <a:t>인간의 동작을 별도의 공정을 위해 현장 내 동작과 </a:t>
            </a:r>
            <a:r>
              <a:rPr lang="ko-KR" altLang="en-US" sz="1800" dirty="0" err="1"/>
              <a:t>비시투</a:t>
            </a:r>
            <a:r>
              <a:rPr lang="ko-KR" altLang="en-US" sz="1800" dirty="0"/>
              <a:t> 동작으로 나누는 다층 분류법이 </a:t>
            </a:r>
            <a:r>
              <a:rPr lang="ko-KR" altLang="en-US" sz="1800" dirty="0" smtClean="0"/>
              <a:t>도입</a:t>
            </a:r>
            <a:endParaRPr lang="en-US" altLang="ko-KR" sz="1800" dirty="0" smtClean="0"/>
          </a:p>
          <a:p>
            <a:r>
              <a:rPr lang="ko-KR" altLang="en-US" sz="1800" dirty="0"/>
              <a:t>해당 스펙트럼을 얻기 위해 가중 범위</a:t>
            </a:r>
            <a:r>
              <a:rPr lang="en-US" altLang="ko-KR" sz="1800" dirty="0"/>
              <a:t>-</a:t>
            </a:r>
            <a:r>
              <a:rPr lang="ko-KR" altLang="en-US" sz="1800" dirty="0"/>
              <a:t>시간</a:t>
            </a:r>
            <a:r>
              <a:rPr lang="en-US" altLang="ko-KR" sz="1800" dirty="0"/>
              <a:t>-</a:t>
            </a:r>
            <a:r>
              <a:rPr lang="ko-KR" altLang="en-US" sz="1800" dirty="0"/>
              <a:t>주파수 변환</a:t>
            </a:r>
            <a:r>
              <a:rPr lang="en-US" altLang="ko-KR" sz="1800" dirty="0"/>
              <a:t>(WRTFT) </a:t>
            </a:r>
            <a:r>
              <a:rPr lang="ko-KR" altLang="en-US" sz="1800" dirty="0"/>
              <a:t>방법을 </a:t>
            </a:r>
            <a:r>
              <a:rPr lang="ko-KR" altLang="en-US" sz="1800" dirty="0" smtClean="0"/>
              <a:t>제안</a:t>
            </a:r>
            <a:endParaRPr lang="en-US" altLang="ko-KR" sz="1800" dirty="0" smtClean="0"/>
          </a:p>
          <a:p>
            <a:r>
              <a:rPr lang="ko-KR" altLang="en-US" sz="1800" dirty="0" smtClean="0"/>
              <a:t>기계 </a:t>
            </a:r>
            <a:r>
              <a:rPr lang="ko-KR" altLang="en-US" sz="1800" dirty="0"/>
              <a:t>학습을 위해 물리적 경험적 특징과 </a:t>
            </a:r>
            <a:r>
              <a:rPr lang="en-US" altLang="ko-KR" sz="1800" dirty="0"/>
              <a:t>PCA </a:t>
            </a:r>
            <a:r>
              <a:rPr lang="ko-KR" altLang="en-US" sz="1800" dirty="0"/>
              <a:t>기반 특징을 추출하여 탁월한 인식 성능을 달성</a:t>
            </a:r>
          </a:p>
        </p:txBody>
      </p:sp>
    </p:spTree>
    <p:extLst>
      <p:ext uri="{BB962C8B-B14F-4D97-AF65-F5344CB8AC3E}">
        <p14:creationId xmlns:p14="http://schemas.microsoft.com/office/powerpoint/2010/main" val="2610622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 smtClean="0"/>
              <a:t>II. MULTIPLE-LAYER CLASSIFICATION METHOD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우리 </a:t>
            </a:r>
            <a:r>
              <a:rPr lang="ko-KR" altLang="en-US" sz="1800" dirty="0" smtClean="0"/>
              <a:t>연구에서는 </a:t>
            </a:r>
            <a:r>
              <a:rPr lang="ko-KR" altLang="en-US" sz="1800" dirty="0"/>
              <a:t>발생 가능성이 높은 인간의 전형적인 동작 </a:t>
            </a:r>
            <a:r>
              <a:rPr lang="en-US" altLang="ko-KR" sz="1800" dirty="0"/>
              <a:t>12</a:t>
            </a:r>
            <a:r>
              <a:rPr lang="ko-KR" altLang="en-US" sz="1800" dirty="0"/>
              <a:t>개가 </a:t>
            </a:r>
            <a:r>
              <a:rPr lang="ko-KR" altLang="en-US" sz="1800" dirty="0" smtClean="0"/>
              <a:t>선택</a:t>
            </a:r>
            <a:endParaRPr lang="en-US" altLang="ko-KR" sz="1800" dirty="0" smtClean="0"/>
          </a:p>
          <a:p>
            <a:endParaRPr lang="en-US" altLang="ko-KR" sz="1800" dirty="0"/>
          </a:p>
          <a:p>
            <a:endParaRPr lang="en-US" altLang="ko-KR" sz="1800" dirty="0" smtClean="0"/>
          </a:p>
          <a:p>
            <a:endParaRPr lang="en-US" altLang="ko-KR" sz="1800" dirty="0"/>
          </a:p>
          <a:p>
            <a:endParaRPr lang="en-US" altLang="ko-KR" sz="1800" dirty="0" smtClean="0"/>
          </a:p>
          <a:p>
            <a:endParaRPr lang="en-US" altLang="ko-KR" sz="1800" dirty="0"/>
          </a:p>
          <a:p>
            <a:endParaRPr lang="ko-KR" altLang="en-US" sz="18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930" y="2189749"/>
            <a:ext cx="8461665" cy="17145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4" y="3971717"/>
            <a:ext cx="8315325" cy="25336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929" y="3559712"/>
            <a:ext cx="3419987" cy="31879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16101" y="4260915"/>
            <a:ext cx="339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*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46415" y="5657190"/>
            <a:ext cx="339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*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419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Fig3.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890" y="51016"/>
            <a:ext cx="10025621" cy="680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398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 smtClean="0"/>
              <a:t>A. The Pre-Screening Structure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smtClean="0"/>
              <a:t>사전처리구조에서 </a:t>
            </a:r>
            <a:r>
              <a:rPr lang="ko-KR" altLang="en-US" sz="1800" dirty="0"/>
              <a:t>우리는 시간 범위 도메인의 </a:t>
            </a:r>
            <a:r>
              <a:rPr lang="ko-KR" altLang="en-US" sz="1800" dirty="0" smtClean="0"/>
              <a:t>특징을 </a:t>
            </a:r>
            <a:r>
              <a:rPr lang="ko-KR" altLang="en-US" sz="1800" dirty="0"/>
              <a:t>이용하여 인간의 움직임을 현장 내 움직임과 </a:t>
            </a:r>
            <a:r>
              <a:rPr lang="ko-KR" altLang="en-US" sz="1800" dirty="0" smtClean="0"/>
              <a:t>비</a:t>
            </a:r>
            <a:r>
              <a:rPr lang="en-US" altLang="ko-KR" sz="1800" dirty="0"/>
              <a:t> </a:t>
            </a:r>
            <a:r>
              <a:rPr lang="ko-KR" altLang="en-US" sz="1800" dirty="0" smtClean="0"/>
              <a:t>현장 </a:t>
            </a:r>
            <a:r>
              <a:rPr lang="ko-KR" altLang="en-US" sz="1800" dirty="0"/>
              <a:t>운동으로 </a:t>
            </a:r>
            <a:r>
              <a:rPr lang="ko-KR" altLang="en-US" sz="1800" dirty="0" smtClean="0"/>
              <a:t>나눔</a:t>
            </a:r>
            <a:endParaRPr lang="en-US" altLang="ko-KR" sz="1800" dirty="0" smtClean="0"/>
          </a:p>
          <a:p>
            <a:r>
              <a:rPr lang="ko-KR" altLang="en-US" sz="1800" dirty="0" smtClean="0"/>
              <a:t>그 다음 </a:t>
            </a:r>
            <a:r>
              <a:rPr lang="en-US" altLang="ko-KR" sz="1800" dirty="0" smtClean="0"/>
              <a:t>Otsu’s threshold </a:t>
            </a:r>
            <a:r>
              <a:rPr lang="ko-KR" altLang="en-US" sz="1800" dirty="0" smtClean="0"/>
              <a:t>을 </a:t>
            </a:r>
            <a:r>
              <a:rPr lang="ko-KR" altLang="en-US" sz="1800" dirty="0"/>
              <a:t>이용한 인간의 움직임의 이진 영상을 얻기 위해 이항 알고리즘을 채택한다</a:t>
            </a:r>
            <a:r>
              <a:rPr lang="en-US" altLang="ko-KR" sz="1800" dirty="0" smtClean="0"/>
              <a:t>.</a:t>
            </a:r>
          </a:p>
          <a:p>
            <a:r>
              <a:rPr lang="ko-KR" altLang="en-US" sz="1800" dirty="0"/>
              <a:t>그런 다음 </a:t>
            </a:r>
            <a:r>
              <a:rPr lang="en-US" altLang="ko-KR" sz="1800" dirty="0" smtClean="0"/>
              <a:t> median filtering algorithm</a:t>
            </a:r>
            <a:r>
              <a:rPr lang="ko-KR" altLang="en-US" sz="1800" dirty="0" smtClean="0"/>
              <a:t>과 </a:t>
            </a:r>
            <a:r>
              <a:rPr lang="en-US" altLang="ko-KR" sz="1800" dirty="0" smtClean="0"/>
              <a:t>isolated points elimination algorithm</a:t>
            </a:r>
            <a:r>
              <a:rPr lang="ko-KR" altLang="en-US" sz="1800" dirty="0" smtClean="0"/>
              <a:t>을 </a:t>
            </a:r>
            <a:r>
              <a:rPr lang="ko-KR" altLang="en-US" sz="1800" dirty="0"/>
              <a:t>사용하여 </a:t>
            </a:r>
            <a:r>
              <a:rPr lang="en-US" altLang="ko-KR" sz="1800" dirty="0" smtClean="0"/>
              <a:t>outliers</a:t>
            </a:r>
            <a:r>
              <a:rPr lang="ko-KR" altLang="en-US" sz="1800" dirty="0" smtClean="0"/>
              <a:t>를 제거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 smtClean="0"/>
              <a:t>1)</a:t>
            </a:r>
            <a:r>
              <a:rPr lang="ko-KR" altLang="en-US" sz="1800" dirty="0"/>
              <a:t> 처리된 이진 이미지에 기초하여</a:t>
            </a:r>
            <a:r>
              <a:rPr lang="en-US" altLang="ko-KR" sz="1800" dirty="0"/>
              <a:t>, </a:t>
            </a:r>
            <a:r>
              <a:rPr lang="ko-KR" altLang="en-US" sz="1800" dirty="0"/>
              <a:t>우리는 인간의 움직임에 의해 점유되는 범위 빈을 </a:t>
            </a:r>
            <a:r>
              <a:rPr lang="ko-KR" altLang="en-US" sz="1800" u="sng" dirty="0"/>
              <a:t>유효 범위 빈</a:t>
            </a:r>
            <a:r>
              <a:rPr lang="ko-KR" altLang="en-US" sz="1800" dirty="0"/>
              <a:t>이라고 </a:t>
            </a:r>
            <a:r>
              <a:rPr lang="ko-KR" altLang="en-US" sz="1800" dirty="0" smtClean="0"/>
              <a:t>부름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 smtClean="0"/>
              <a:t>2) 10</a:t>
            </a:r>
            <a:r>
              <a:rPr lang="ko-KR" altLang="en-US" sz="1800" dirty="0"/>
              <a:t>포인트</a:t>
            </a:r>
            <a:r>
              <a:rPr lang="en-US" altLang="ko-KR" sz="1800" dirty="0"/>
              <a:t>(0.065</a:t>
            </a:r>
            <a:r>
              <a:rPr lang="ko-KR" altLang="en-US" sz="1800" dirty="0"/>
              <a:t>초</a:t>
            </a:r>
            <a:r>
              <a:rPr lang="en-US" altLang="ko-KR" sz="1800" dirty="0"/>
              <a:t>) </a:t>
            </a:r>
            <a:r>
              <a:rPr lang="ko-KR" altLang="en-US" sz="1800" dirty="0"/>
              <a:t>슬라이딩 윈도우로 계산된 </a:t>
            </a:r>
            <a:r>
              <a:rPr lang="ko-KR" altLang="en-US" sz="1800" u="sng" dirty="0"/>
              <a:t>평균 속도는 </a:t>
            </a:r>
            <a:r>
              <a:rPr lang="ko-KR" altLang="en-US" sz="1800" dirty="0"/>
              <a:t>우리의 안테나에 대한 복사 속도를 </a:t>
            </a:r>
            <a:r>
              <a:rPr lang="ko-KR" altLang="en-US" sz="1800" dirty="0" smtClean="0"/>
              <a:t>나타냄</a:t>
            </a:r>
            <a:endParaRPr lang="en-US" altLang="ko-KR" sz="1800" dirty="0" smtClean="0"/>
          </a:p>
          <a:p>
            <a:r>
              <a:rPr lang="ko-KR" altLang="en-US" sz="1800" u="sng" dirty="0"/>
              <a:t>이 두 가지 특성은 </a:t>
            </a:r>
            <a:r>
              <a:rPr lang="en-US" altLang="ko-KR" sz="1800" dirty="0"/>
              <a:t>SVM </a:t>
            </a:r>
            <a:r>
              <a:rPr lang="ko-KR" altLang="en-US" sz="1800" dirty="0" err="1"/>
              <a:t>분류기에</a:t>
            </a:r>
            <a:r>
              <a:rPr lang="ko-KR" altLang="en-US" sz="1800" dirty="0"/>
              <a:t> 대해 추출하여 </a:t>
            </a:r>
            <a:r>
              <a:rPr lang="ko-KR" altLang="en-US" sz="1800" dirty="0" err="1"/>
              <a:t>인시투와</a:t>
            </a:r>
            <a:r>
              <a:rPr lang="ko-KR" altLang="en-US" sz="1800" dirty="0"/>
              <a:t> </a:t>
            </a:r>
            <a:r>
              <a:rPr lang="ko-KR" altLang="en-US" sz="1800" dirty="0" err="1"/>
              <a:t>비시투</a:t>
            </a:r>
            <a:r>
              <a:rPr lang="ko-KR" altLang="en-US" sz="1800" dirty="0"/>
              <a:t> 운동 사이의 대략적인 </a:t>
            </a:r>
            <a:r>
              <a:rPr lang="ko-KR" altLang="en-US" sz="1800" dirty="0" smtClean="0"/>
              <a:t>분류</a:t>
            </a:r>
            <a:endParaRPr lang="en-US" altLang="ko-KR" sz="1800" dirty="0" smtClean="0"/>
          </a:p>
          <a:p>
            <a:r>
              <a:rPr lang="ko-KR" altLang="en-US" sz="1800" dirty="0"/>
              <a:t> </a:t>
            </a:r>
            <a:r>
              <a:rPr lang="en-US" altLang="ko-KR" sz="1800" dirty="0"/>
              <a:t>6</a:t>
            </a:r>
            <a:r>
              <a:rPr lang="ko-KR" altLang="en-US" sz="1800" dirty="0"/>
              <a:t>개의 움직임은 </a:t>
            </a:r>
            <a:r>
              <a:rPr lang="en-US" altLang="ko-KR" sz="1800" dirty="0"/>
              <a:t>1</a:t>
            </a:r>
            <a:r>
              <a:rPr lang="ko-KR" altLang="en-US" sz="1800" dirty="0"/>
              <a:t>미터 이내의 범위 치수를 따라 좁은 띠를 덮을 </a:t>
            </a:r>
            <a:r>
              <a:rPr lang="ko-KR" altLang="en-US" sz="1800" dirty="0" smtClean="0"/>
              <a:t>뿐이나 </a:t>
            </a:r>
            <a:r>
              <a:rPr lang="ko-KR" altLang="en-US" sz="1800" dirty="0"/>
              <a:t> 나머지 </a:t>
            </a:r>
            <a:r>
              <a:rPr lang="en-US" altLang="ko-KR" sz="1800" dirty="0"/>
              <a:t>6</a:t>
            </a:r>
            <a:r>
              <a:rPr lang="ko-KR" altLang="en-US" sz="1800" dirty="0"/>
              <a:t>개의 동작은 전체 범위 범위를 거의 커버하며</a:t>
            </a:r>
            <a:r>
              <a:rPr lang="en-US" altLang="ko-KR" sz="1800" dirty="0"/>
              <a:t>, </a:t>
            </a:r>
            <a:r>
              <a:rPr lang="ko-KR" altLang="en-US" sz="1800" dirty="0"/>
              <a:t>해당 속도는 대개 이전의 </a:t>
            </a:r>
            <a:r>
              <a:rPr lang="en-US" altLang="ko-KR" sz="1800" dirty="0"/>
              <a:t>6</a:t>
            </a:r>
            <a:r>
              <a:rPr lang="ko-KR" altLang="en-US" sz="1800" dirty="0"/>
              <a:t>개의 동작보다 </a:t>
            </a:r>
            <a:r>
              <a:rPr lang="ko-KR" altLang="en-US" sz="1800" dirty="0" smtClean="0"/>
              <a:t>높음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443196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753" y="1690688"/>
            <a:ext cx="4835150" cy="505643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 smtClean="0"/>
              <a:t>B. Weighted Range-Time-Frequency Transform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6284495" cy="435133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WRTFT </a:t>
            </a:r>
            <a:r>
              <a:rPr lang="ko-KR" altLang="en-US" sz="2000" dirty="0"/>
              <a:t>방법은 인간 동작의 범위</a:t>
            </a:r>
            <a:r>
              <a:rPr lang="en-US" altLang="ko-KR" sz="2000" dirty="0"/>
              <a:t>, </a:t>
            </a:r>
            <a:r>
              <a:rPr lang="ko-KR" altLang="en-US" sz="2000" dirty="0"/>
              <a:t>시간 및 주파수 특징을 결합한 스펙트럼을 획득하는 것이 </a:t>
            </a:r>
            <a:r>
              <a:rPr lang="ko-KR" altLang="en-US" sz="2000" dirty="0" smtClean="0"/>
              <a:t>제안됨</a:t>
            </a:r>
            <a:endParaRPr lang="en-US" altLang="ko-KR" sz="2000" dirty="0" smtClean="0"/>
          </a:p>
          <a:p>
            <a:r>
              <a:rPr lang="ko-KR" altLang="en-US" sz="2000" dirty="0"/>
              <a:t>인간 동작의 유효 범위 빈은 처리된 이진 </a:t>
            </a:r>
            <a:r>
              <a:rPr lang="ko-KR" altLang="en-US" sz="2000" dirty="0" smtClean="0"/>
              <a:t>이미지에서 결정</a:t>
            </a:r>
            <a:endParaRPr lang="en-US" altLang="ko-KR" sz="2000" dirty="0" smtClean="0"/>
          </a:p>
          <a:p>
            <a:r>
              <a:rPr lang="ko-KR" altLang="en-US" sz="2000" dirty="0"/>
              <a:t>그런 다음 각 유효 범위 </a:t>
            </a:r>
            <a:r>
              <a:rPr lang="ko-KR" altLang="en-US" sz="2000" dirty="0" smtClean="0"/>
              <a:t>빈의 </a:t>
            </a:r>
            <a:r>
              <a:rPr lang="ko-KR" altLang="en-US" sz="2000" dirty="0"/>
              <a:t>시간 주파수 표현</a:t>
            </a:r>
            <a:r>
              <a:rPr lang="en-US" altLang="ko-KR" sz="2000" dirty="0"/>
              <a:t>(TFR)</a:t>
            </a:r>
            <a:r>
              <a:rPr lang="ko-KR" altLang="en-US" sz="2000" dirty="0"/>
              <a:t>을 얻기 위해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</a:rPr>
              <a:t>단시간 </a:t>
            </a:r>
            <a:r>
              <a:rPr lang="ko-KR" altLang="en-US" sz="2000" dirty="0" err="1">
                <a:solidFill>
                  <a:schemeClr val="accent1">
                    <a:lumMod val="75000"/>
                  </a:schemeClr>
                </a:solidFill>
              </a:rPr>
              <a:t>푸리에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</a:rPr>
              <a:t> 변환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</a:rPr>
              <a:t>(STFT)</a:t>
            </a:r>
            <a:r>
              <a:rPr lang="ko-KR" altLang="en-US" sz="2000" dirty="0"/>
              <a:t>을 </a:t>
            </a:r>
            <a:r>
              <a:rPr lang="ko-KR" altLang="en-US" sz="2000" dirty="0" smtClean="0"/>
              <a:t>수행</a:t>
            </a:r>
            <a:endParaRPr lang="en-US" altLang="ko-KR" sz="2000" dirty="0" smtClean="0"/>
          </a:p>
          <a:p>
            <a:r>
              <a:rPr lang="en-US" altLang="ko-KR" sz="2000" dirty="0"/>
              <a:t>WRTFT </a:t>
            </a:r>
            <a:r>
              <a:rPr lang="ko-KR" altLang="en-US" sz="2000" dirty="0"/>
              <a:t>방법은 각 유효 범위 빈</a:t>
            </a:r>
            <a:r>
              <a:rPr lang="en-US" altLang="ko-KR" sz="2000" dirty="0"/>
              <a:t>(</a:t>
            </a:r>
            <a:r>
              <a:rPr lang="ko-KR" altLang="en-US" sz="2000" dirty="0"/>
              <a:t>섹션 </a:t>
            </a:r>
            <a:r>
              <a:rPr lang="en-US" altLang="ko-KR" sz="2000" dirty="0"/>
              <a:t>C </a:t>
            </a:r>
            <a:r>
              <a:rPr lang="ko-KR" altLang="en-US" sz="2000" dirty="0"/>
              <a:t>참조</a:t>
            </a:r>
            <a:r>
              <a:rPr lang="en-US" altLang="ko-KR" sz="2000" dirty="0"/>
              <a:t>)</a:t>
            </a:r>
            <a:r>
              <a:rPr lang="ko-KR" altLang="en-US" sz="2000" dirty="0"/>
              <a:t>의 에너지에 비례하는 가중 계수를 사용하여 사지 운동과 다중 경로 간섭의 영향을 줄이기 위해 몸통 운동을 강화한다</a:t>
            </a:r>
            <a:r>
              <a:rPr lang="en-US" altLang="ko-KR" sz="2000" dirty="0"/>
              <a:t>. </a:t>
            </a:r>
            <a:r>
              <a:rPr lang="ko-KR" altLang="en-US" sz="2000" dirty="0"/>
              <a:t>결과적으로</a:t>
            </a:r>
            <a:r>
              <a:rPr lang="en-US" altLang="ko-KR" sz="2000" dirty="0"/>
              <a:t>, </a:t>
            </a:r>
            <a:r>
              <a:rPr lang="ko-KR" altLang="en-US" sz="2000" dirty="0"/>
              <a:t>앉는 것과 서 있는 것의 변화는 그림 </a:t>
            </a:r>
            <a:r>
              <a:rPr lang="en-US" altLang="ko-KR" sz="2000" dirty="0" smtClean="0"/>
              <a:t>4(c)</a:t>
            </a:r>
            <a:r>
              <a:rPr lang="ko-KR" altLang="en-US" sz="2000" dirty="0"/>
              <a:t>에서 </a:t>
            </a:r>
            <a:r>
              <a:rPr lang="ko-KR" altLang="en-US" sz="2000" dirty="0" smtClean="0"/>
              <a:t>관찰 가능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20066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smtClean="0"/>
              <a:t>C. Feature Extraction of In-Situ Motion</a:t>
            </a:r>
            <a:endParaRPr lang="ko-KR" altLang="en-US" sz="4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 err="1"/>
              <a:t>시투</a:t>
            </a:r>
            <a:r>
              <a:rPr lang="ko-KR" altLang="en-US" sz="2000" dirty="0"/>
              <a:t> 동작은 항상 규칙성과 안정성이 적은 비 리듬이기 </a:t>
            </a:r>
            <a:r>
              <a:rPr lang="ko-KR" altLang="en-US" sz="2000" dirty="0" smtClean="0"/>
              <a:t>때문에 </a:t>
            </a:r>
            <a:r>
              <a:rPr lang="ko-KR" altLang="en-US" sz="2000" dirty="0" err="1" smtClean="0"/>
              <a:t>시투</a:t>
            </a:r>
            <a:r>
              <a:rPr lang="ko-KR" altLang="en-US" sz="2000" dirty="0" smtClean="0"/>
              <a:t> </a:t>
            </a:r>
            <a:r>
              <a:rPr lang="ko-KR" altLang="en-US" sz="2000" dirty="0"/>
              <a:t>동작의 궤적 정보는 대부분 인체의 몸통 부분에 의해 </a:t>
            </a:r>
            <a:r>
              <a:rPr lang="ko-KR" altLang="en-US" sz="2000" dirty="0" smtClean="0"/>
              <a:t>생성</a:t>
            </a:r>
            <a:endParaRPr lang="en-US" altLang="ko-KR" sz="2000" dirty="0" smtClean="0"/>
          </a:p>
          <a:p>
            <a:r>
              <a:rPr lang="ko-KR" altLang="en-US" sz="2000" dirty="0"/>
              <a:t>따라서 몸통 운동으로 형성되는 형상을 개선하고 </a:t>
            </a:r>
            <a:r>
              <a:rPr lang="ko-KR" altLang="en-US" sz="2000" dirty="0" err="1"/>
              <a:t>아티팩트의</a:t>
            </a:r>
            <a:r>
              <a:rPr lang="ko-KR" altLang="en-US" sz="2000" dirty="0"/>
              <a:t> 영향을 줄이기 위해 가중 계수 </a:t>
            </a:r>
            <a:r>
              <a:rPr lang="en-US" altLang="ko-KR" sz="2000" dirty="0" err="1"/>
              <a:t>σm</a:t>
            </a:r>
            <a:r>
              <a:rPr lang="ko-KR" altLang="en-US" sz="2000" dirty="0"/>
              <a:t>은 </a:t>
            </a:r>
            <a:r>
              <a:rPr lang="en-US" altLang="ko-KR" sz="2000" dirty="0" smtClean="0"/>
              <a:t>m-</a:t>
            </a:r>
            <a:r>
              <a:rPr lang="en-US" altLang="ko-KR" sz="2000" dirty="0" err="1" smtClean="0"/>
              <a:t>th</a:t>
            </a:r>
            <a:r>
              <a:rPr lang="en-US" altLang="ko-KR" sz="2000" dirty="0" smtClean="0"/>
              <a:t> range bin</a:t>
            </a:r>
            <a:r>
              <a:rPr lang="ko-KR" altLang="en-US" sz="2000" dirty="0" smtClean="0"/>
              <a:t>의 </a:t>
            </a:r>
            <a:r>
              <a:rPr lang="ko-KR" altLang="en-US" sz="2000" dirty="0"/>
              <a:t>에너지와 비례적 연관성에 의해 </a:t>
            </a:r>
            <a:r>
              <a:rPr lang="ko-KR" altLang="en-US" sz="2000" dirty="0" smtClean="0"/>
              <a:t>정의</a:t>
            </a:r>
            <a:endParaRPr lang="en-US" altLang="ko-KR" sz="2000" dirty="0" smtClean="0"/>
          </a:p>
          <a:p>
            <a:r>
              <a:rPr lang="ko-KR" altLang="en-US" sz="2000" dirty="0"/>
              <a:t> </a:t>
            </a:r>
            <a:r>
              <a:rPr lang="en-US" altLang="ko-KR" sz="2000" dirty="0"/>
              <a:t>WRTFT </a:t>
            </a:r>
            <a:r>
              <a:rPr lang="ko-KR" altLang="en-US" sz="2000" dirty="0"/>
              <a:t>방법의 몸통 강화 스펙트럼을 </a:t>
            </a:r>
            <a:r>
              <a:rPr lang="ko-KR" altLang="en-US" sz="2000" dirty="0" smtClean="0"/>
              <a:t>구함</a:t>
            </a:r>
            <a:endParaRPr lang="en-US" altLang="ko-KR" sz="2000" dirty="0" smtClean="0"/>
          </a:p>
          <a:p>
            <a:r>
              <a:rPr lang="ko-KR" altLang="en-US" sz="2000" dirty="0"/>
              <a:t>마지막으로 처리된 이진 이미지와 </a:t>
            </a:r>
            <a:r>
              <a:rPr lang="en-US" altLang="ko-KR" sz="2000" dirty="0"/>
              <a:t>WRTFT</a:t>
            </a:r>
            <a:r>
              <a:rPr lang="ko-KR" altLang="en-US" sz="2000" dirty="0"/>
              <a:t>에서 세 가지 유형의 물리적 경험적 특징을 </a:t>
            </a:r>
            <a:r>
              <a:rPr lang="ko-KR" altLang="en-US" sz="2000" dirty="0" smtClean="0"/>
              <a:t>추출</a:t>
            </a:r>
            <a:endParaRPr lang="en-US" altLang="ko-KR" sz="2000" dirty="0" smtClean="0"/>
          </a:p>
          <a:p>
            <a:pPr marL="514350" indent="-514350">
              <a:buAutoNum type="arabicParenR"/>
            </a:pPr>
            <a:r>
              <a:rPr lang="ko-KR" altLang="en-US" sz="2000" dirty="0" smtClean="0"/>
              <a:t>유효 </a:t>
            </a:r>
            <a:r>
              <a:rPr lang="ko-KR" altLang="en-US" sz="2000" dirty="0"/>
              <a:t>범위 </a:t>
            </a:r>
            <a:r>
              <a:rPr lang="ko-KR" altLang="en-US" sz="2000" dirty="0" smtClean="0"/>
              <a:t>빈 수 </a:t>
            </a:r>
            <a:r>
              <a:rPr lang="en-US" altLang="ko-KR" sz="2000" dirty="0" smtClean="0"/>
              <a:t>: </a:t>
            </a:r>
            <a:r>
              <a:rPr lang="ko-KR" altLang="en-US" sz="2000" dirty="0"/>
              <a:t>인간 동작의 범위 범위를 나타내기 위해 처리된 이진 이미지에 따라 </a:t>
            </a:r>
            <a:r>
              <a:rPr lang="ko-KR" altLang="en-US" sz="2000" dirty="0" smtClean="0"/>
              <a:t>제안</a:t>
            </a:r>
            <a:endParaRPr lang="en-US" altLang="ko-KR" sz="2000" dirty="0" smtClean="0"/>
          </a:p>
          <a:p>
            <a:pPr marL="0" indent="0">
              <a:buNone/>
            </a:pPr>
            <a:r>
              <a:rPr lang="en-US" altLang="ko-KR" sz="2000" dirty="0" smtClean="0"/>
              <a:t>2) Maximum Doppler of the Upper Envelop : </a:t>
            </a:r>
            <a:r>
              <a:rPr lang="ko-KR" altLang="en-US" sz="2000" dirty="0"/>
              <a:t>이 특성은 각 동작의 강도를 </a:t>
            </a:r>
            <a:r>
              <a:rPr lang="ko-KR" altLang="en-US" sz="2000" dirty="0" smtClean="0"/>
              <a:t>나타냄</a:t>
            </a:r>
            <a:endParaRPr lang="en-US" altLang="ko-KR" sz="2000" dirty="0" smtClean="0"/>
          </a:p>
          <a:p>
            <a:pPr marL="0" indent="0">
              <a:buNone/>
            </a:pPr>
            <a:r>
              <a:rPr lang="en-US" altLang="ko-KR" sz="2000" dirty="0" smtClean="0"/>
              <a:t>3) Average Values and Variances of the Upper Envelope : </a:t>
            </a:r>
            <a:r>
              <a:rPr lang="ko-KR" altLang="en-US" sz="2000" dirty="0"/>
              <a:t>움직임의 시간 변화 정보</a:t>
            </a:r>
          </a:p>
        </p:txBody>
      </p:sp>
    </p:spTree>
    <p:extLst>
      <p:ext uri="{BB962C8B-B14F-4D97-AF65-F5344CB8AC3E}">
        <p14:creationId xmlns:p14="http://schemas.microsoft.com/office/powerpoint/2010/main" val="2421884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smtClean="0"/>
              <a:t>D. Feature Extraction of Non-In-Situ Motion</a:t>
            </a:r>
            <a:endParaRPr lang="ko-KR" altLang="en-US" sz="4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2102351"/>
            <a:ext cx="5477444" cy="4074612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PCA </a:t>
            </a:r>
            <a:r>
              <a:rPr lang="ko-KR" altLang="en-US" sz="2000" dirty="0"/>
              <a:t>기반 방법은 공분산 행렬의 고유 벡터를 사용하여 데이터를 구성 요소 벡터로 </a:t>
            </a:r>
            <a:r>
              <a:rPr lang="ko-KR" altLang="en-US" sz="2000" dirty="0" smtClean="0"/>
              <a:t>분해</a:t>
            </a:r>
            <a:endParaRPr lang="en-US" altLang="ko-KR" sz="2000" dirty="0" smtClean="0"/>
          </a:p>
          <a:p>
            <a:r>
              <a:rPr lang="ko-KR" altLang="en-US" sz="2000" dirty="0" err="1"/>
              <a:t>벡터화된</a:t>
            </a:r>
            <a:r>
              <a:rPr lang="ko-KR" altLang="en-US" sz="2000" dirty="0"/>
              <a:t> 시간 빈도 스펙트럼은 </a:t>
            </a:r>
            <a:r>
              <a:rPr lang="en-US" altLang="ko-KR" sz="2000" dirty="0"/>
              <a:t>2</a:t>
            </a:r>
            <a:r>
              <a:rPr lang="ko-KR" altLang="en-US" sz="2000" dirty="0"/>
              <a:t>차원 매트릭스로 </a:t>
            </a:r>
            <a:r>
              <a:rPr lang="ko-KR" altLang="en-US" sz="2000" dirty="0" smtClean="0"/>
              <a:t>쌓임</a:t>
            </a:r>
            <a:endParaRPr lang="en-US" altLang="ko-KR" sz="2000" dirty="0" smtClean="0"/>
          </a:p>
          <a:p>
            <a:r>
              <a:rPr lang="ko-KR" altLang="en-US" sz="2000" dirty="0"/>
              <a:t>공분산 행렬의 고유 벡터와 </a:t>
            </a:r>
            <a:r>
              <a:rPr lang="ko-KR" altLang="en-US" sz="2000" dirty="0" err="1"/>
              <a:t>고유값을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생성</a:t>
            </a:r>
            <a:endParaRPr lang="en-US" altLang="ko-KR" sz="2000" dirty="0" smtClean="0"/>
          </a:p>
          <a:p>
            <a:r>
              <a:rPr lang="ko-KR" altLang="en-US" sz="2000" dirty="0"/>
              <a:t>이 그림에서 약 </a:t>
            </a:r>
            <a:r>
              <a:rPr lang="en-US" altLang="ko-KR" sz="2000" dirty="0"/>
              <a:t>200</a:t>
            </a:r>
            <a:r>
              <a:rPr lang="ko-KR" altLang="en-US" sz="2000" dirty="0"/>
              <a:t>개의 </a:t>
            </a:r>
            <a:r>
              <a:rPr lang="ko-KR" altLang="en-US" sz="2000" dirty="0" err="1"/>
              <a:t>고유값이</a:t>
            </a:r>
            <a:r>
              <a:rPr lang="ko-KR" altLang="en-US" sz="2000" dirty="0"/>
              <a:t> 지배적인 것으로 </a:t>
            </a:r>
            <a:r>
              <a:rPr lang="ko-KR" altLang="en-US" sz="2000" dirty="0" smtClean="0"/>
              <a:t>관측</a:t>
            </a:r>
            <a:r>
              <a:rPr lang="en-US" altLang="ko-KR" sz="2000" dirty="0" smtClean="0"/>
              <a:t>,</a:t>
            </a:r>
            <a:r>
              <a:rPr lang="ko-KR" altLang="en-US" sz="2000" dirty="0" smtClean="0"/>
              <a:t/>
            </a:r>
            <a:br>
              <a:rPr lang="ko-KR" altLang="en-US" sz="2000" dirty="0" smtClean="0"/>
            </a:br>
            <a:r>
              <a:rPr lang="ko-KR" altLang="en-US" sz="2000" dirty="0"/>
              <a:t>이 가운데 처음 </a:t>
            </a:r>
            <a:r>
              <a:rPr lang="en-US" altLang="ko-KR" sz="2000" dirty="0"/>
              <a:t>60</a:t>
            </a:r>
            <a:r>
              <a:rPr lang="ko-KR" altLang="en-US" sz="2000" dirty="0"/>
              <a:t>개 </a:t>
            </a:r>
            <a:r>
              <a:rPr lang="ko-KR" altLang="en-US" sz="2000" dirty="0" err="1"/>
              <a:t>고유값이</a:t>
            </a:r>
            <a:r>
              <a:rPr lang="ko-KR" altLang="en-US" sz="2000" dirty="0"/>
              <a:t> </a:t>
            </a:r>
            <a:r>
              <a:rPr lang="en-US" altLang="ko-KR" sz="2000" dirty="0"/>
              <a:t>99.07%</a:t>
            </a:r>
            <a:r>
              <a:rPr lang="ko-KR" altLang="en-US" sz="2000" dirty="0"/>
              <a:t>를 차지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686" y="1780925"/>
            <a:ext cx="5038156" cy="439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786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E. Machine Learning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2367046"/>
            <a:ext cx="4836694" cy="3492333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기계 학습 파트에서는 의사결정 </a:t>
            </a:r>
            <a:r>
              <a:rPr lang="ko-KR" altLang="en-US" sz="2000" dirty="0" smtClean="0"/>
              <a:t>트리</a:t>
            </a:r>
            <a:r>
              <a:rPr lang="en-US" altLang="ko-KR" sz="2000" dirty="0" smtClean="0"/>
              <a:t>, SVM, KNN, </a:t>
            </a:r>
            <a:r>
              <a:rPr lang="ko-KR" altLang="en-US" sz="2000" dirty="0"/>
              <a:t>앙상블 학습 </a:t>
            </a:r>
            <a:r>
              <a:rPr lang="ko-KR" altLang="en-US" sz="2000" dirty="0" smtClean="0"/>
              <a:t>을 </a:t>
            </a:r>
            <a:r>
              <a:rPr lang="ko-KR" altLang="en-US" sz="2000" dirty="0"/>
              <a:t>포함한 </a:t>
            </a:r>
            <a:r>
              <a:rPr lang="en-US" altLang="ko-KR" sz="2000" dirty="0"/>
              <a:t>12</a:t>
            </a:r>
            <a:r>
              <a:rPr lang="ko-KR" altLang="en-US" sz="2000" dirty="0"/>
              <a:t>개의 </a:t>
            </a:r>
            <a:r>
              <a:rPr lang="ko-KR" altLang="en-US" sz="2000" dirty="0" err="1"/>
              <a:t>분류자를</a:t>
            </a:r>
            <a:r>
              <a:rPr lang="ko-KR" altLang="en-US" sz="2000" dirty="0"/>
              <a:t> 각각 비교하여 </a:t>
            </a:r>
            <a:r>
              <a:rPr lang="ko-KR" altLang="en-US" sz="2000" dirty="0" err="1" smtClean="0"/>
              <a:t>시투</a:t>
            </a:r>
            <a:r>
              <a:rPr lang="ko-KR" altLang="en-US" sz="2000" dirty="0" smtClean="0"/>
              <a:t> 및 </a:t>
            </a:r>
            <a:r>
              <a:rPr lang="ko-KR" altLang="en-US" sz="2000" dirty="0" err="1"/>
              <a:t>비시투</a:t>
            </a:r>
            <a:r>
              <a:rPr lang="ko-KR" altLang="en-US" sz="2000" dirty="0"/>
              <a:t> 동작 부분의 분류에 가장 적합한 것을 </a:t>
            </a:r>
            <a:r>
              <a:rPr lang="ko-KR" altLang="en-US" sz="2000" dirty="0" smtClean="0"/>
              <a:t>알아 냄</a:t>
            </a:r>
            <a:endParaRPr lang="en-US" altLang="ko-KR" sz="2000" dirty="0" smtClean="0"/>
          </a:p>
          <a:p>
            <a:r>
              <a:rPr lang="ko-KR" altLang="en-US" sz="2000" dirty="0" err="1"/>
              <a:t>분류자는</a:t>
            </a:r>
            <a:r>
              <a:rPr lang="ko-KR" altLang="en-US" sz="2000" dirty="0"/>
              <a:t> 모두 </a:t>
            </a:r>
            <a:r>
              <a:rPr lang="en-US" altLang="ko-KR" sz="2000" dirty="0" err="1"/>
              <a:t>Matlab</a:t>
            </a:r>
            <a:r>
              <a:rPr lang="en-US" altLang="ko-KR" sz="2000" dirty="0"/>
              <a:t> R2016b</a:t>
            </a:r>
            <a:r>
              <a:rPr lang="ko-KR" altLang="en-US" sz="2000" dirty="0"/>
              <a:t>의 분류 학습자 도구에 </a:t>
            </a:r>
            <a:r>
              <a:rPr lang="ko-KR" altLang="en-US" sz="2000" dirty="0" smtClean="0"/>
              <a:t>기초</a:t>
            </a:r>
            <a:endParaRPr lang="en-US" altLang="ko-KR" sz="2000" dirty="0" smtClean="0"/>
          </a:p>
          <a:p>
            <a:r>
              <a:rPr lang="ko-KR" altLang="en-US" sz="2000" dirty="0"/>
              <a:t>이들의 상세 매개변수는 표 </a:t>
            </a:r>
            <a:r>
              <a:rPr lang="en-US" altLang="ko-KR" sz="2000" dirty="0"/>
              <a:t>II</a:t>
            </a:r>
            <a:r>
              <a:rPr lang="ko-KR" altLang="en-US" sz="2000" dirty="0"/>
              <a:t>에 </a:t>
            </a:r>
            <a:r>
              <a:rPr lang="ko-KR" altLang="en-US" sz="2000" dirty="0" smtClean="0"/>
              <a:t>수록</a:t>
            </a:r>
            <a:endParaRPr lang="en-US" altLang="ko-KR" sz="2000" dirty="0" smtClean="0"/>
          </a:p>
          <a:p>
            <a:r>
              <a:rPr lang="en-US" altLang="ko-KR" sz="2000" dirty="0"/>
              <a:t>10</a:t>
            </a:r>
            <a:r>
              <a:rPr lang="ko-KR" altLang="en-US" sz="2000" dirty="0"/>
              <a:t>배의 교차 검증</a:t>
            </a:r>
            <a:r>
              <a:rPr lang="en-US" altLang="ko-KR" sz="2000" dirty="0"/>
              <a:t>(CV) </a:t>
            </a:r>
            <a:r>
              <a:rPr lang="ko-KR" altLang="en-US" sz="2000" dirty="0"/>
              <a:t>절차를 수행</a:t>
            </a:r>
            <a:endParaRPr lang="en-US" altLang="ko-KR" sz="2000" dirty="0" smtClean="0"/>
          </a:p>
          <a:p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751" y="1724819"/>
            <a:ext cx="6200775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002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0929" y="1081254"/>
            <a:ext cx="5047052" cy="443079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49" y="3462463"/>
            <a:ext cx="5342710" cy="29912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3180" y="338158"/>
            <a:ext cx="3815518" cy="295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093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 smtClean="0"/>
              <a:t>III. UWB RADAR SYSTEM AND EXPERIMENTS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lphaUcPeriod"/>
            </a:pPr>
            <a:r>
              <a:rPr lang="en-US" altLang="ko-KR" sz="2000" dirty="0" smtClean="0"/>
              <a:t>UWB Radar System</a:t>
            </a:r>
          </a:p>
          <a:p>
            <a:r>
              <a:rPr lang="ko-KR" altLang="en-US" sz="2000" dirty="0"/>
              <a:t>다른 레이더 시스템에 비해 고해상도</a:t>
            </a:r>
            <a:r>
              <a:rPr lang="en-US" altLang="ko-KR" sz="2000" dirty="0"/>
              <a:t>, </a:t>
            </a:r>
            <a:r>
              <a:rPr lang="ko-KR" altLang="en-US" sz="2000" dirty="0"/>
              <a:t>우수한 해결 능력 및 침투 성능을 고려하여</a:t>
            </a:r>
            <a:r>
              <a:rPr lang="en-US" altLang="ko-KR" sz="2000" dirty="0"/>
              <a:t>, </a:t>
            </a:r>
            <a:r>
              <a:rPr lang="ko-KR" altLang="en-US" sz="2000" dirty="0"/>
              <a:t>다른 사람의 움직임을 감지하기 위한 </a:t>
            </a:r>
            <a:r>
              <a:rPr lang="ko-KR" altLang="en-US" sz="2000" dirty="0" err="1"/>
              <a:t>임펄스</a:t>
            </a:r>
            <a:r>
              <a:rPr lang="ko-KR" altLang="en-US" sz="2000" dirty="0"/>
              <a:t> </a:t>
            </a:r>
            <a:r>
              <a:rPr lang="en-US" altLang="ko-KR" sz="2000" dirty="0"/>
              <a:t>UWB </a:t>
            </a:r>
            <a:r>
              <a:rPr lang="ko-KR" altLang="en-US" sz="2000" dirty="0"/>
              <a:t>레이더 시스템이 </a:t>
            </a:r>
            <a:r>
              <a:rPr lang="ko-KR" altLang="en-US" sz="2000" dirty="0" smtClean="0"/>
              <a:t>제안</a:t>
            </a:r>
            <a:endParaRPr lang="en-US" altLang="ko-KR" sz="2000" dirty="0" smtClean="0"/>
          </a:p>
          <a:p>
            <a:r>
              <a:rPr lang="ko-KR" altLang="en-US" sz="2000" dirty="0"/>
              <a:t>키 유닛은 </a:t>
            </a:r>
            <a:r>
              <a:rPr lang="en-US" altLang="ko-KR" sz="2000" dirty="0"/>
              <a:t>NVA6100 CMOS </a:t>
            </a:r>
            <a:r>
              <a:rPr lang="ko-KR" altLang="en-US" sz="2000" dirty="0" err="1"/>
              <a:t>임펄스</a:t>
            </a:r>
            <a:r>
              <a:rPr lang="ko-KR" altLang="en-US" sz="2000" dirty="0"/>
              <a:t> 레이더 </a:t>
            </a:r>
            <a:r>
              <a:rPr lang="ko-KR" altLang="en-US" sz="2000" dirty="0" smtClean="0"/>
              <a:t>칩</a:t>
            </a:r>
            <a:endParaRPr lang="en-US" altLang="ko-KR" sz="2000" dirty="0" smtClean="0"/>
          </a:p>
          <a:p>
            <a:pPr marL="0" indent="0">
              <a:buNone/>
            </a:pPr>
            <a:r>
              <a:rPr lang="en-US" altLang="ko-KR" sz="2000" dirty="0" smtClean="0"/>
              <a:t>B. Experimental Setup</a:t>
            </a:r>
          </a:p>
          <a:p>
            <a:r>
              <a:rPr lang="ko-KR" altLang="en-US" sz="2000" dirty="0" smtClean="0"/>
              <a:t>실험은 </a:t>
            </a:r>
            <a:r>
              <a:rPr lang="ko-KR" altLang="en-US" sz="2000" dirty="0"/>
              <a:t>가시선 조건에 따라 실내 실험실에서 </a:t>
            </a:r>
            <a:r>
              <a:rPr lang="ko-KR" altLang="en-US" sz="2000" dirty="0" smtClean="0"/>
              <a:t>구현</a:t>
            </a:r>
            <a:endParaRPr lang="en-US" altLang="ko-KR" sz="2000" dirty="0" smtClean="0"/>
          </a:p>
          <a:p>
            <a:r>
              <a:rPr lang="ko-KR" altLang="en-US" sz="2000" dirty="0"/>
              <a:t> 측정 범위는 레이더에서 </a:t>
            </a:r>
            <a:r>
              <a:rPr lang="en-US" altLang="ko-KR" sz="2000" dirty="0"/>
              <a:t>1.5~3.5m </a:t>
            </a:r>
            <a:r>
              <a:rPr lang="ko-KR" altLang="en-US" sz="2000" dirty="0"/>
              <a:t>떨어져 </a:t>
            </a:r>
            <a:r>
              <a:rPr lang="ko-KR" altLang="en-US" sz="2000" dirty="0" smtClean="0"/>
              <a:t>있었다</a:t>
            </a:r>
            <a:endParaRPr lang="en-US" altLang="ko-KR" sz="2000" dirty="0" smtClean="0"/>
          </a:p>
          <a:p>
            <a:r>
              <a:rPr lang="ko-KR" altLang="en-US" sz="2000" dirty="0"/>
              <a:t>각 동작의 시간은 다양했지만</a:t>
            </a:r>
            <a:r>
              <a:rPr lang="en-US" altLang="ko-KR" sz="2000" dirty="0"/>
              <a:t>, </a:t>
            </a:r>
            <a:r>
              <a:rPr lang="ko-KR" altLang="en-US" sz="2000" dirty="0"/>
              <a:t>평균은 </a:t>
            </a:r>
            <a:r>
              <a:rPr lang="en-US" altLang="ko-KR" sz="2000" dirty="0"/>
              <a:t>4</a:t>
            </a:r>
            <a:r>
              <a:rPr lang="ko-KR" altLang="en-US" sz="2000" dirty="0"/>
              <a:t>초 </a:t>
            </a:r>
            <a:r>
              <a:rPr lang="ko-KR" altLang="en-US" sz="2000" dirty="0" smtClean="0"/>
              <a:t>정도</a:t>
            </a:r>
            <a:endParaRPr lang="en-US" altLang="ko-KR" sz="2000" dirty="0" smtClean="0"/>
          </a:p>
          <a:p>
            <a:r>
              <a:rPr lang="ko-KR" altLang="en-US" sz="2000" dirty="0"/>
              <a:t>실험 데이터를 생성하기 위해 남성 </a:t>
            </a:r>
            <a:r>
              <a:rPr lang="en-US" altLang="ko-KR" sz="2000" dirty="0"/>
              <a:t>9</a:t>
            </a:r>
            <a:r>
              <a:rPr lang="ko-KR" altLang="en-US" sz="2000" dirty="0"/>
              <a:t>명</a:t>
            </a:r>
            <a:r>
              <a:rPr lang="en-US" altLang="ko-KR" sz="2000" dirty="0"/>
              <a:t>, </a:t>
            </a:r>
            <a:r>
              <a:rPr lang="ko-KR" altLang="en-US" sz="2000" dirty="0"/>
              <a:t>여성 </a:t>
            </a:r>
            <a:r>
              <a:rPr lang="en-US" altLang="ko-KR" sz="2000" dirty="0"/>
              <a:t>4</a:t>
            </a:r>
            <a:r>
              <a:rPr lang="ko-KR" altLang="en-US" sz="2000" dirty="0"/>
              <a:t>명 등 </a:t>
            </a:r>
            <a:r>
              <a:rPr lang="en-US" altLang="ko-KR" sz="2000" dirty="0"/>
              <a:t>13</a:t>
            </a:r>
            <a:r>
              <a:rPr lang="ko-KR" altLang="en-US" sz="2000" dirty="0"/>
              <a:t>명의 지원자가 </a:t>
            </a:r>
            <a:r>
              <a:rPr lang="ko-KR" altLang="en-US" sz="2000" dirty="0" smtClean="0"/>
              <a:t>선발 됨</a:t>
            </a:r>
            <a:endParaRPr lang="en-US" altLang="ko-KR" sz="2000" dirty="0" smtClean="0"/>
          </a:p>
          <a:p>
            <a:r>
              <a:rPr lang="ko-KR" altLang="en-US" sz="2000" dirty="0"/>
              <a:t>각 사람은 총 </a:t>
            </a:r>
            <a:r>
              <a:rPr lang="en-US" altLang="ko-KR" sz="2000" dirty="0"/>
              <a:t>780</a:t>
            </a:r>
            <a:r>
              <a:rPr lang="ko-KR" altLang="en-US" sz="2000" dirty="0"/>
              <a:t>개의 샘플에 해당하는 </a:t>
            </a:r>
            <a:r>
              <a:rPr lang="en-US" altLang="ko-KR" sz="2000" dirty="0"/>
              <a:t>5</a:t>
            </a:r>
            <a:r>
              <a:rPr lang="ko-KR" altLang="en-US" sz="2000" dirty="0"/>
              <a:t>회 동안 각각의 인간의 동작을 </a:t>
            </a:r>
            <a:r>
              <a:rPr lang="ko-KR" altLang="en-US" sz="2000" dirty="0" smtClean="0"/>
              <a:t>수행</a:t>
            </a:r>
            <a:endParaRPr lang="en-US" altLang="ko-KR" sz="2000" dirty="0" smtClean="0"/>
          </a:p>
          <a:p>
            <a:r>
              <a:rPr lang="ko-KR" altLang="en-US" sz="2000" dirty="0"/>
              <a:t>모든 실험 데이터는 </a:t>
            </a:r>
            <a:r>
              <a:rPr lang="en-US" altLang="ko-KR" sz="2000" dirty="0" err="1"/>
              <a:t>Matlab</a:t>
            </a:r>
            <a:r>
              <a:rPr lang="en-US" altLang="ko-KR" sz="2000" dirty="0"/>
              <a:t> R2016a</a:t>
            </a:r>
            <a:r>
              <a:rPr lang="ko-KR" altLang="en-US" sz="2000" dirty="0"/>
              <a:t>의 소프트웨어 환경 내에서 처리</a:t>
            </a:r>
            <a:endParaRPr lang="en-US" altLang="ko-KR" sz="2000" dirty="0" smtClean="0"/>
          </a:p>
          <a:p>
            <a:pPr marL="0" indent="0">
              <a:buNone/>
            </a:pPr>
            <a:endParaRPr lang="en-US" altLang="ko-KR" sz="2000" dirty="0" smtClean="0"/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04368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IV. RESULTS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57721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eriod"/>
            </a:pPr>
            <a:r>
              <a:rPr lang="en-US" altLang="ko-KR" sz="2000" dirty="0" smtClean="0"/>
              <a:t>Distinction Between In-Situ and Non-In-Situ Motion</a:t>
            </a:r>
          </a:p>
          <a:p>
            <a:r>
              <a:rPr lang="ko-KR" altLang="en-US" sz="2000" dirty="0" smtClean="0"/>
              <a:t>빨간색 </a:t>
            </a:r>
            <a:r>
              <a:rPr lang="en-US" altLang="ko-KR" sz="2000" dirty="0"/>
              <a:t>"+"</a:t>
            </a:r>
            <a:r>
              <a:rPr lang="ko-KR" altLang="en-US" sz="2000" dirty="0"/>
              <a:t>는 </a:t>
            </a:r>
            <a:r>
              <a:rPr lang="ko-KR" altLang="en-US" sz="2000" dirty="0" err="1"/>
              <a:t>인시투</a:t>
            </a:r>
            <a:r>
              <a:rPr lang="ko-KR" altLang="en-US" sz="2000" dirty="0"/>
              <a:t> 동작을 나타내고 파란색 </a:t>
            </a:r>
            <a:r>
              <a:rPr lang="en-US" altLang="ko-KR" sz="2000" dirty="0"/>
              <a:t>"×"</a:t>
            </a:r>
            <a:r>
              <a:rPr lang="ko-KR" altLang="en-US" sz="2000" dirty="0"/>
              <a:t>는 </a:t>
            </a:r>
            <a:r>
              <a:rPr lang="ko-KR" altLang="en-US" sz="2000" dirty="0" err="1"/>
              <a:t>비시투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동작</a:t>
            </a:r>
            <a:endParaRPr lang="en-US" altLang="ko-KR" sz="2000" dirty="0" smtClean="0"/>
          </a:p>
          <a:p>
            <a:r>
              <a:rPr lang="ko-KR" altLang="en-US" sz="2000" dirty="0"/>
              <a:t>그림에서 보듯이 빨간색 막대는 물리적 경험적 특징으로 인식 정확도를 나타내고 파란색 막대는 </a:t>
            </a:r>
            <a:r>
              <a:rPr lang="en-US" altLang="ko-KR" sz="2000" dirty="0"/>
              <a:t>PCA </a:t>
            </a:r>
            <a:r>
              <a:rPr lang="ko-KR" altLang="en-US" sz="2000" dirty="0"/>
              <a:t>기반 특징을 </a:t>
            </a:r>
            <a:r>
              <a:rPr lang="ko-KR" altLang="en-US" sz="2000" dirty="0" smtClean="0"/>
              <a:t>나타냄</a:t>
            </a:r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68" y="3361574"/>
            <a:ext cx="3444068" cy="281538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b="9477"/>
          <a:stretch/>
        </p:blipFill>
        <p:spPr>
          <a:xfrm>
            <a:off x="3814481" y="3361574"/>
            <a:ext cx="3319771" cy="257966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900" y="3833390"/>
            <a:ext cx="5258552" cy="187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874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545</Words>
  <Application>Microsoft Office PowerPoint</Application>
  <PresentationFormat>와이드스크린</PresentationFormat>
  <Paragraphs>73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Abstract</vt:lpstr>
      <vt:lpstr>I. INTRODUCTION</vt:lpstr>
      <vt:lpstr>II. MULTIPLE-LAYER CLASSIFICATION METHOD</vt:lpstr>
      <vt:lpstr>Fig3.</vt:lpstr>
      <vt:lpstr>A. The Pre-Screening Structure</vt:lpstr>
      <vt:lpstr>B. Weighted Range-Time-Frequency Transform</vt:lpstr>
      <vt:lpstr>C. Feature Extraction of In-Situ Motion</vt:lpstr>
      <vt:lpstr>D. Feature Extraction of Non-In-Situ Motion</vt:lpstr>
      <vt:lpstr>E. Machine Learning</vt:lpstr>
      <vt:lpstr>PowerPoint 프레젠테이션</vt:lpstr>
      <vt:lpstr>III. UWB RADAR SYSTEM AND EXPERIMENTS</vt:lpstr>
      <vt:lpstr>IV.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 jh</dc:creator>
  <cp:lastModifiedBy>k jh</cp:lastModifiedBy>
  <cp:revision>54</cp:revision>
  <dcterms:created xsi:type="dcterms:W3CDTF">2020-02-25T06:59:49Z</dcterms:created>
  <dcterms:modified xsi:type="dcterms:W3CDTF">2020-03-16T05:09:57Z</dcterms:modified>
</cp:coreProperties>
</file>