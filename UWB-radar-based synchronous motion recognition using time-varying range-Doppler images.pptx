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46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08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55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51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99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29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8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61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74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89D44-5E58-4B46-8FA7-B265115E4D71}" type="datetimeFigureOut">
              <a:rPr lang="ko-KR" altLang="en-US" smtClean="0"/>
              <a:t>2020-03-06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3A697-3853-4505-ABC3-64A6A6C71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2" y="1372327"/>
            <a:ext cx="11107393" cy="415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0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이 연구에서 </a:t>
            </a:r>
            <a:r>
              <a:rPr lang="en-US" altLang="ko-KR" sz="2400" dirty="0" smtClean="0"/>
              <a:t>7.25GHz</a:t>
            </a:r>
            <a:r>
              <a:rPr lang="ko-KR" altLang="en-US" sz="2400" dirty="0"/>
              <a:t>의 중심 주파수를 가진 </a:t>
            </a:r>
            <a:r>
              <a:rPr lang="ko-KR" altLang="en-US" sz="2400" dirty="0" err="1"/>
              <a:t>초광대역</a:t>
            </a:r>
            <a:r>
              <a:rPr lang="en-US" altLang="ko-KR" sz="2400" dirty="0"/>
              <a:t>(UWB) </a:t>
            </a:r>
            <a:r>
              <a:rPr lang="ko-KR" altLang="en-US" sz="2400" dirty="0"/>
              <a:t>레이더를 사용해 </a:t>
            </a:r>
            <a:r>
              <a:rPr lang="ko-KR" altLang="en-US" sz="2400" dirty="0" err="1"/>
              <a:t>반사신호를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수신</a:t>
            </a:r>
            <a:endParaRPr lang="en-US" altLang="ko-KR" sz="2400" dirty="0" smtClean="0"/>
          </a:p>
          <a:p>
            <a:r>
              <a:rPr lang="ko-KR" altLang="en-US" sz="2400" dirty="0"/>
              <a:t>시간 주파수 분석을 레이더 신호에 수행하여 시간에 따른 동작 특성 변화를 나타내는 시간 변화 범위 </a:t>
            </a:r>
            <a:r>
              <a:rPr lang="en-US" altLang="ko-KR" sz="2400" dirty="0"/>
              <a:t>–Doppler </a:t>
            </a:r>
            <a:r>
              <a:rPr lang="ko-KR" altLang="en-US" sz="2400" dirty="0"/>
              <a:t>영상</a:t>
            </a:r>
            <a:r>
              <a:rPr lang="en-US" altLang="ko-KR" sz="2400" dirty="0"/>
              <a:t>(TRDI)</a:t>
            </a:r>
            <a:r>
              <a:rPr lang="ko-KR" altLang="en-US" sz="2400" dirty="0"/>
              <a:t>을 </a:t>
            </a:r>
            <a:r>
              <a:rPr lang="ko-KR" altLang="en-US" sz="2400" dirty="0" smtClean="0"/>
              <a:t>달성</a:t>
            </a:r>
            <a:endParaRPr lang="en-US" altLang="ko-KR" sz="2400" dirty="0" smtClean="0"/>
          </a:p>
          <a:p>
            <a:r>
              <a:rPr lang="ko-KR" altLang="en-US" sz="2400" dirty="0"/>
              <a:t>그런 다음 </a:t>
            </a:r>
            <a:r>
              <a:rPr lang="en-US" altLang="ko-KR" sz="2400" dirty="0"/>
              <a:t>TRDI</a:t>
            </a:r>
            <a:r>
              <a:rPr lang="ko-KR" altLang="en-US" sz="2400" dirty="0"/>
              <a:t>에서 형상을 추출하기 위해 </a:t>
            </a:r>
            <a:r>
              <a:rPr lang="en-US" altLang="ko-KR" sz="2400" dirty="0" smtClean="0"/>
              <a:t>PCA(principal component analysis) </a:t>
            </a:r>
            <a:r>
              <a:rPr lang="ko-KR" altLang="en-US" sz="2400" dirty="0"/>
              <a:t>알고리즘 또는 사전 훈련된 </a:t>
            </a:r>
            <a:r>
              <a:rPr lang="en-US" altLang="ko-KR" sz="2400" dirty="0" smtClean="0"/>
              <a:t>CAE(Convolutional auto encoder</a:t>
            </a:r>
            <a:r>
              <a:rPr lang="en-US" altLang="ko-KR" sz="2400" dirty="0"/>
              <a:t>)</a:t>
            </a:r>
            <a:r>
              <a:rPr lang="ko-KR" altLang="en-US" sz="2400" dirty="0"/>
              <a:t>를 </a:t>
            </a:r>
            <a:r>
              <a:rPr lang="ko-KR" altLang="en-US" sz="2400" dirty="0" smtClean="0"/>
              <a:t>사용</a:t>
            </a:r>
            <a:endParaRPr lang="en-US" altLang="ko-KR" sz="2400" dirty="0" smtClean="0"/>
          </a:p>
          <a:p>
            <a:r>
              <a:rPr lang="ko-KR" altLang="en-US" sz="2400" dirty="0" smtClean="0"/>
              <a:t>마지막으로 </a:t>
            </a:r>
            <a:r>
              <a:rPr lang="en-US" altLang="ko-KR" sz="2400" dirty="0" smtClean="0"/>
              <a:t>gated recurrent unit </a:t>
            </a:r>
            <a:r>
              <a:rPr lang="ko-KR" altLang="en-US" sz="2400" dirty="0" smtClean="0"/>
              <a:t>를 </a:t>
            </a:r>
            <a:r>
              <a:rPr lang="ko-KR" altLang="en-US" sz="2400" dirty="0"/>
              <a:t>사용하여 이러한 형상을 </a:t>
            </a:r>
            <a:r>
              <a:rPr lang="ko-KR" altLang="en-US" sz="2400" dirty="0" smtClean="0"/>
              <a:t>모델링하고 </a:t>
            </a:r>
            <a:r>
              <a:rPr lang="ko-KR" altLang="en-US" sz="2400" dirty="0"/>
              <a:t>다른 움직임을 </a:t>
            </a:r>
            <a:r>
              <a:rPr lang="ko-KR" altLang="en-US" sz="2400" dirty="0" smtClean="0"/>
              <a:t>분류</a:t>
            </a:r>
            <a:endParaRPr lang="en-US" altLang="ko-KR" sz="2400" dirty="0" smtClean="0"/>
          </a:p>
          <a:p>
            <a:r>
              <a:rPr lang="ko-KR" altLang="en-US" sz="2400" dirty="0"/>
              <a:t> 실험 결과에 따르면 </a:t>
            </a:r>
            <a:r>
              <a:rPr lang="en-US" altLang="ko-KR" sz="2400" dirty="0"/>
              <a:t>PCA </a:t>
            </a:r>
            <a:r>
              <a:rPr lang="ko-KR" altLang="en-US" sz="2400" dirty="0"/>
              <a:t>기반 방법의 경우 </a:t>
            </a:r>
            <a:r>
              <a:rPr lang="en-US" altLang="ko-KR" sz="2400" dirty="0"/>
              <a:t>93.06%, CAE </a:t>
            </a:r>
            <a:r>
              <a:rPr lang="ko-KR" altLang="en-US" sz="2400" dirty="0"/>
              <a:t>기반 방법의 경우 </a:t>
            </a:r>
            <a:r>
              <a:rPr lang="en-US" altLang="ko-KR" sz="2400" dirty="0"/>
              <a:t>96.80%</a:t>
            </a:r>
            <a:r>
              <a:rPr lang="ko-KR" altLang="en-US" sz="2400" dirty="0"/>
              <a:t>의 정확도</a:t>
            </a:r>
          </a:p>
        </p:txBody>
      </p:sp>
    </p:spTree>
    <p:extLst>
      <p:ext uri="{BB962C8B-B14F-4D97-AF65-F5344CB8AC3E}">
        <p14:creationId xmlns:p14="http://schemas.microsoft.com/office/powerpoint/2010/main" val="237016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5980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활동 인식 </a:t>
            </a:r>
            <a:r>
              <a:rPr lang="ko-KR" altLang="en-US" sz="2000" dirty="0" smtClean="0"/>
              <a:t>분야에서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선도적인 </a:t>
            </a:r>
            <a:r>
              <a:rPr lang="ko-KR" altLang="en-US" sz="2000" dirty="0"/>
              <a:t>가정용 모니터링 센서 중 하나가 될 잠재력을 </a:t>
            </a:r>
            <a:r>
              <a:rPr lang="ko-KR" altLang="en-US" sz="2000" dirty="0" smtClean="0"/>
              <a:t>가지고 있음</a:t>
            </a:r>
            <a:endParaRPr lang="en-US" altLang="ko-KR" sz="2000" dirty="0" smtClean="0"/>
          </a:p>
          <a:p>
            <a:r>
              <a:rPr lang="ko-KR" altLang="en-US" sz="2000" dirty="0"/>
              <a:t> </a:t>
            </a:r>
            <a:r>
              <a:rPr lang="en-US" altLang="ko-KR" sz="2000" dirty="0"/>
              <a:t>UWB </a:t>
            </a:r>
            <a:r>
              <a:rPr lang="ko-KR" altLang="en-US" sz="2000" dirty="0"/>
              <a:t>레이더의 주요 장점은 저전력 소비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비침입</a:t>
            </a:r>
            <a:r>
              <a:rPr lang="ko-KR" altLang="en-US" sz="2000" dirty="0"/>
              <a:t> 및 프라이버시 </a:t>
            </a:r>
            <a:r>
              <a:rPr lang="ko-KR" altLang="en-US" sz="2000" dirty="0" smtClean="0"/>
              <a:t>보호</a:t>
            </a:r>
            <a:endParaRPr lang="en-US" altLang="ko-KR" sz="2000" dirty="0" smtClean="0"/>
          </a:p>
          <a:p>
            <a:r>
              <a:rPr lang="en-US" altLang="ko-KR" sz="2000" dirty="0" err="1" smtClean="0"/>
              <a:t>Jokanovic</a:t>
            </a:r>
            <a:r>
              <a:rPr lang="en-US" altLang="ko-KR" sz="2000" dirty="0" smtClean="0"/>
              <a:t> et al. [13] a unsupervised pre-trained </a:t>
            </a:r>
            <a:r>
              <a:rPr lang="en-US" altLang="ko-KR" sz="2000" dirty="0" err="1" smtClean="0"/>
              <a:t>autoencoder</a:t>
            </a:r>
            <a:r>
              <a:rPr lang="ko-KR" altLang="en-US" sz="2000" dirty="0" smtClean="0"/>
              <a:t>를 </a:t>
            </a:r>
            <a:r>
              <a:rPr lang="ko-KR" altLang="en-US" sz="2000" dirty="0"/>
              <a:t>사용하여 스펙트럼 영상에서 형상을 추출하고 낙상 감지에 </a:t>
            </a:r>
            <a:r>
              <a:rPr lang="en-US" altLang="ko-KR" sz="2000" dirty="0"/>
              <a:t>87%</a:t>
            </a:r>
            <a:r>
              <a:rPr lang="ko-KR" altLang="en-US" sz="2000" dirty="0"/>
              <a:t>의 </a:t>
            </a:r>
            <a:r>
              <a:rPr lang="ko-KR" altLang="en-US" sz="2000" dirty="0" smtClean="0"/>
              <a:t>성공</a:t>
            </a:r>
            <a:endParaRPr lang="en-US" altLang="ko-KR" sz="2000" dirty="0" smtClean="0"/>
          </a:p>
          <a:p>
            <a:r>
              <a:rPr lang="en-US" altLang="ko-KR" sz="2000" dirty="0" err="1" smtClean="0"/>
              <a:t>Seyfioglu</a:t>
            </a:r>
            <a:r>
              <a:rPr lang="en-US" altLang="ko-KR" sz="2000" dirty="0" smtClean="0"/>
              <a:t> et al. [14] </a:t>
            </a:r>
            <a:r>
              <a:rPr lang="ko-KR" altLang="en-US" sz="2000" dirty="0"/>
              <a:t>자동 인코더를 </a:t>
            </a:r>
            <a:r>
              <a:rPr lang="en-US" altLang="ko-KR" sz="2000" dirty="0" smtClean="0"/>
              <a:t> a convolutional </a:t>
            </a:r>
            <a:r>
              <a:rPr lang="en-US" altLang="ko-KR" sz="2000" dirty="0" err="1" smtClean="0"/>
              <a:t>autoencoder</a:t>
            </a:r>
            <a:r>
              <a:rPr lang="en-US" altLang="ko-KR" sz="2000" dirty="0" smtClean="0"/>
              <a:t> (CAE) </a:t>
            </a:r>
            <a:r>
              <a:rPr lang="ko-KR" altLang="en-US" sz="2000" dirty="0" smtClean="0"/>
              <a:t>로 </a:t>
            </a:r>
            <a:r>
              <a:rPr lang="ko-KR" altLang="en-US" sz="2000" dirty="0"/>
              <a:t>대체하고 </a:t>
            </a:r>
            <a:r>
              <a:rPr lang="ko-KR" altLang="en-US" sz="2000" dirty="0" err="1" smtClean="0"/>
              <a:t>인시던트의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개념을 차용하여 </a:t>
            </a:r>
            <a:r>
              <a:rPr lang="en-US" altLang="ko-KR" sz="2000" dirty="0"/>
              <a:t>12</a:t>
            </a:r>
            <a:r>
              <a:rPr lang="ko-KR" altLang="en-US" sz="2000" dirty="0"/>
              <a:t>개의 다른 인간 활동의 마이크로 도플러 서명에 대해 </a:t>
            </a:r>
            <a:r>
              <a:rPr lang="en-US" altLang="ko-KR" sz="2000" dirty="0"/>
              <a:t>94.2%</a:t>
            </a:r>
            <a:r>
              <a:rPr lang="ko-KR" altLang="en-US" sz="2000" dirty="0"/>
              <a:t>의 정확한 </a:t>
            </a:r>
            <a:r>
              <a:rPr lang="ko-KR" altLang="en-US" sz="2000" dirty="0" smtClean="0"/>
              <a:t>분류</a:t>
            </a:r>
            <a:endParaRPr lang="en-US" altLang="ko-KR" sz="2000" dirty="0" smtClean="0"/>
          </a:p>
          <a:p>
            <a:r>
              <a:rPr lang="ko-KR" altLang="en-US" sz="2000" dirty="0"/>
              <a:t>이 </a:t>
            </a:r>
            <a:r>
              <a:rPr lang="ko-KR" altLang="en-US" sz="2000" dirty="0" smtClean="0"/>
              <a:t>연구에서는 </a:t>
            </a:r>
            <a:r>
              <a:rPr lang="ko-KR" altLang="en-US" sz="2000" dirty="0"/>
              <a:t>동작과 동시에 실행할 수 있는 새로운 </a:t>
            </a:r>
            <a:r>
              <a:rPr lang="en-US" altLang="ko-KR" sz="2000" dirty="0"/>
              <a:t>UWB </a:t>
            </a:r>
            <a:r>
              <a:rPr lang="ko-KR" altLang="en-US" sz="2000" dirty="0"/>
              <a:t>레이더 동작 인식 아키텍처를 </a:t>
            </a:r>
            <a:r>
              <a:rPr lang="ko-KR" altLang="en-US" sz="2000" dirty="0" smtClean="0"/>
              <a:t>제안</a:t>
            </a:r>
            <a:endParaRPr lang="en-US" altLang="ko-KR" sz="2000" dirty="0" smtClean="0"/>
          </a:p>
          <a:p>
            <a:r>
              <a:rPr lang="ko-KR" altLang="en-US" sz="2000" dirty="0"/>
              <a:t>이 아키텍처는 입력으로 </a:t>
            </a:r>
            <a:r>
              <a:rPr lang="en-US" altLang="ko-KR" sz="2000" dirty="0" smtClean="0"/>
              <a:t>time-varying range–Doppler images (TRDI)</a:t>
            </a:r>
            <a:r>
              <a:rPr lang="ko-KR" altLang="en-US" sz="2000" dirty="0" smtClean="0"/>
              <a:t>를 취함</a:t>
            </a:r>
            <a:endParaRPr lang="en-US" altLang="ko-KR" sz="2000" dirty="0" smtClean="0"/>
          </a:p>
          <a:p>
            <a:r>
              <a:rPr lang="ko-KR" altLang="en-US" sz="2000" dirty="0"/>
              <a:t>특히 주성분 분석</a:t>
            </a:r>
            <a:r>
              <a:rPr lang="en-US" altLang="ko-KR" sz="2000" dirty="0"/>
              <a:t>(PCA)[15</a:t>
            </a:r>
            <a:r>
              <a:rPr lang="en-US" altLang="ko-KR" sz="2000" dirty="0" smtClean="0"/>
              <a:t>], </a:t>
            </a:r>
            <a:r>
              <a:rPr lang="ko-KR" altLang="en-US" sz="2000" dirty="0" smtClean="0"/>
              <a:t>특징 </a:t>
            </a:r>
            <a:r>
              <a:rPr lang="ko-KR" altLang="en-US" sz="2000" dirty="0"/>
              <a:t>추출에 </a:t>
            </a:r>
            <a:r>
              <a:rPr lang="en-US" altLang="ko-KR" sz="2000" dirty="0"/>
              <a:t>CAE [14]</a:t>
            </a:r>
            <a:r>
              <a:rPr lang="ko-KR" altLang="en-US" sz="2000" dirty="0"/>
              <a:t>를 </a:t>
            </a:r>
            <a:r>
              <a:rPr lang="ko-KR" altLang="en-US" sz="2000" dirty="0" smtClean="0"/>
              <a:t>사용하고 </a:t>
            </a:r>
            <a:r>
              <a:rPr lang="ko-KR" altLang="en-US" sz="2000" dirty="0"/>
              <a:t>형상을 동적으로 </a:t>
            </a:r>
            <a:r>
              <a:rPr lang="ko-KR" altLang="en-US" sz="2000" dirty="0" smtClean="0"/>
              <a:t>모델링하며 </a:t>
            </a:r>
            <a:r>
              <a:rPr lang="en-US" altLang="ko-KR" sz="2000" dirty="0" smtClean="0"/>
              <a:t> gated recurrent unit (GRU) </a:t>
            </a:r>
            <a:r>
              <a:rPr lang="ko-KR" altLang="en-US" sz="2000" dirty="0" smtClean="0"/>
              <a:t>를 채택 </a:t>
            </a:r>
            <a:endParaRPr lang="en-US" altLang="ko-KR" sz="2000" dirty="0" smtClean="0"/>
          </a:p>
          <a:p>
            <a:r>
              <a:rPr lang="en-US" altLang="ko-KR" sz="2000" dirty="0"/>
              <a:t>8</a:t>
            </a:r>
            <a:r>
              <a:rPr lang="ko-KR" altLang="en-US" sz="2000" dirty="0"/>
              <a:t>가지 종류의 실내 활동을 인식하기 위한 알고리즘 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349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56" y="3548235"/>
            <a:ext cx="5305425" cy="6477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Signal model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2.1 Radar system</a:t>
            </a:r>
          </a:p>
          <a:p>
            <a:r>
              <a:rPr lang="ko-KR" altLang="en-US" dirty="0"/>
              <a:t>레이더의 범위 </a:t>
            </a:r>
            <a:r>
              <a:rPr lang="ko-KR" altLang="en-US" dirty="0" err="1"/>
              <a:t>분해능은</a:t>
            </a:r>
            <a:r>
              <a:rPr lang="ko-KR" altLang="en-US" dirty="0"/>
              <a:t> 전송된 신호 대역폭에 비례하기 때문에 </a:t>
            </a:r>
            <a:r>
              <a:rPr lang="en-US" altLang="ko-KR" dirty="0"/>
              <a:t>UWB </a:t>
            </a:r>
            <a:r>
              <a:rPr lang="ko-KR" altLang="en-US" dirty="0"/>
              <a:t>레이더는 매우 작은 표적의 존재와 그 움직임을 감지할 </a:t>
            </a:r>
            <a:r>
              <a:rPr lang="ko-KR" altLang="en-US" dirty="0" err="1" smtClean="0"/>
              <a:t>수있음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R</a:t>
            </a:r>
            <a:r>
              <a:rPr lang="ko-KR" altLang="en-US" dirty="0"/>
              <a:t>에 있는 데이터의 각 행은 빠른 시간에 펄스 반사 신호를 </a:t>
            </a:r>
            <a:r>
              <a:rPr lang="ko-KR" altLang="en-US" dirty="0" err="1"/>
              <a:t>샘플링하여</a:t>
            </a:r>
            <a:r>
              <a:rPr lang="ko-KR" altLang="en-US" dirty="0"/>
              <a:t> </a:t>
            </a:r>
            <a:r>
              <a:rPr lang="ko-KR" altLang="en-US" dirty="0" smtClean="0"/>
              <a:t>형성되는데 </a:t>
            </a:r>
            <a:r>
              <a:rPr lang="ko-KR" altLang="en-US" dirty="0"/>
              <a:t>이를 레이더 스캔이라고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r>
              <a:rPr lang="ko-KR" altLang="en-US" dirty="0"/>
              <a:t>고속 샘플링에 의해 생성된 포인트는 특정 거리에서 반사된 신호 강도 정보가 저장되는 범위 빈에 매핑</a:t>
            </a:r>
          </a:p>
        </p:txBody>
      </p:sp>
    </p:spTree>
    <p:extLst>
      <p:ext uri="{BB962C8B-B14F-4D97-AF65-F5344CB8AC3E}">
        <p14:creationId xmlns:p14="http://schemas.microsoft.com/office/powerpoint/2010/main" val="1747977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Data representation domains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42702" y="1690688"/>
            <a:ext cx="7211097" cy="4351338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레이더 </a:t>
            </a:r>
            <a:r>
              <a:rPr lang="ko-KR" altLang="en-US" sz="1800" dirty="0" smtClean="0"/>
              <a:t>신호에 타겟이 되는 것이 </a:t>
            </a:r>
            <a:r>
              <a:rPr lang="ko-KR" altLang="en-US" sz="1800" dirty="0"/>
              <a:t>움직이는 </a:t>
            </a:r>
            <a:r>
              <a:rPr lang="ko-KR" altLang="en-US" sz="1800" dirty="0" smtClean="0"/>
              <a:t>부분이 </a:t>
            </a:r>
            <a:r>
              <a:rPr lang="ko-KR" altLang="en-US" sz="1800" dirty="0"/>
              <a:t>있는 </a:t>
            </a:r>
            <a:r>
              <a:rPr lang="ko-KR" altLang="en-US" sz="1800" dirty="0" err="1"/>
              <a:t>비강성</a:t>
            </a:r>
            <a:r>
              <a:rPr lang="ko-KR" altLang="en-US" sz="1800" dirty="0"/>
              <a:t> </a:t>
            </a:r>
            <a:r>
              <a:rPr lang="ko-KR" altLang="en-US" sz="1800" dirty="0" err="1" smtClean="0"/>
              <a:t>물체면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이러한 이동 </a:t>
            </a:r>
            <a:r>
              <a:rPr lang="ko-KR" altLang="en-US" sz="1800" dirty="0" smtClean="0"/>
              <a:t>부분에 </a:t>
            </a:r>
            <a:r>
              <a:rPr lang="ko-KR" altLang="en-US" sz="1800" dirty="0"/>
              <a:t>의해 생성된 도플러 효과는 레이더 수신 </a:t>
            </a:r>
            <a:r>
              <a:rPr lang="ko-KR" altLang="en-US" sz="1800" dirty="0" smtClean="0"/>
              <a:t>신호에 반영</a:t>
            </a:r>
            <a:endParaRPr lang="en-US" altLang="ko-KR" sz="1800" dirty="0" smtClean="0"/>
          </a:p>
          <a:p>
            <a:r>
              <a:rPr lang="ko-KR" altLang="en-US" sz="1800" dirty="0"/>
              <a:t>레이더 데이터는 그림 </a:t>
            </a:r>
            <a:r>
              <a:rPr lang="en-US" altLang="ko-KR" sz="1800" dirty="0"/>
              <a:t>1a</a:t>
            </a:r>
            <a:r>
              <a:rPr lang="ko-KR" altLang="en-US" sz="1800" dirty="0"/>
              <a:t>에서 보듯이 </a:t>
            </a:r>
            <a:r>
              <a:rPr lang="ko-KR" altLang="en-US" sz="1800" dirty="0" smtClean="0"/>
              <a:t>범위 </a:t>
            </a:r>
            <a:r>
              <a:rPr lang="en-US" altLang="ko-KR" sz="1800" dirty="0" smtClean="0"/>
              <a:t>range-time image (</a:t>
            </a:r>
            <a:r>
              <a:rPr lang="en-US" altLang="ko-KR" sz="1800" dirty="0"/>
              <a:t>RTI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로 </a:t>
            </a:r>
            <a:r>
              <a:rPr lang="ko-KR" altLang="en-US" sz="1800" dirty="0"/>
              <a:t>데 직접 사용될 수 있다</a:t>
            </a:r>
            <a:r>
              <a:rPr lang="en-US" altLang="ko-KR" sz="1800" dirty="0"/>
              <a:t>[19</a:t>
            </a:r>
            <a:r>
              <a:rPr lang="en-US" altLang="ko-KR" sz="1800" dirty="0" smtClean="0"/>
              <a:t>]</a:t>
            </a:r>
          </a:p>
          <a:p>
            <a:r>
              <a:rPr lang="en-US" altLang="ko-KR" sz="1800" dirty="0"/>
              <a:t>Fourier</a:t>
            </a:r>
            <a:r>
              <a:rPr lang="ko-KR" altLang="en-US" sz="1800" dirty="0"/>
              <a:t>를 적용하여 </a:t>
            </a:r>
            <a:r>
              <a:rPr lang="en-US" altLang="ko-KR" sz="1800" dirty="0" smtClean="0"/>
              <a:t>range–Doppler images (</a:t>
            </a:r>
            <a:r>
              <a:rPr lang="en-US" altLang="ko-KR" sz="1800" dirty="0"/>
              <a:t>RDI)</a:t>
            </a:r>
            <a:r>
              <a:rPr lang="ko-KR" altLang="en-US" sz="1800" dirty="0"/>
              <a:t>을 얻을 수 </a:t>
            </a:r>
            <a:r>
              <a:rPr lang="ko-KR" altLang="en-US" sz="1800" dirty="0" smtClean="0"/>
              <a:t>있음</a:t>
            </a:r>
            <a:endParaRPr lang="en-US" altLang="ko-KR" sz="1800" dirty="0" smtClean="0"/>
          </a:p>
          <a:p>
            <a:r>
              <a:rPr lang="ko-KR" altLang="en-US" sz="1800" dirty="0"/>
              <a:t>움직임의 동적 프로세스를 모델링하기 위해</a:t>
            </a:r>
            <a:r>
              <a:rPr lang="en-US" altLang="ko-KR" sz="1800" dirty="0"/>
              <a:t>, </a:t>
            </a:r>
            <a:r>
              <a:rPr lang="ko-KR" altLang="en-US" sz="1800" dirty="0"/>
              <a:t>우리는 </a:t>
            </a:r>
            <a:r>
              <a:rPr lang="en-US" altLang="ko-KR" sz="1800" dirty="0"/>
              <a:t>TRDI</a:t>
            </a:r>
            <a:r>
              <a:rPr lang="ko-KR" altLang="en-US" sz="1800" dirty="0"/>
              <a:t>라는 새로운 데이터 표현을 </a:t>
            </a:r>
            <a:r>
              <a:rPr lang="ko-KR" altLang="en-US" sz="1800" dirty="0" smtClean="0"/>
              <a:t>제안</a:t>
            </a:r>
            <a:endParaRPr lang="en-US" altLang="ko-KR" sz="1800" dirty="0" smtClean="0"/>
          </a:p>
          <a:p>
            <a:r>
              <a:rPr lang="ko-KR" altLang="en-US" sz="1800" dirty="0"/>
              <a:t>그림 </a:t>
            </a:r>
            <a:r>
              <a:rPr lang="en-US" altLang="ko-KR" sz="1800" dirty="0"/>
              <a:t>2</a:t>
            </a:r>
            <a:r>
              <a:rPr lang="ko-KR" altLang="en-US" sz="1800" dirty="0"/>
              <a:t>에서 </a:t>
            </a:r>
            <a:r>
              <a:rPr lang="ko-KR" altLang="en-US" sz="1800" dirty="0" smtClean="0"/>
              <a:t> 보이듯 </a:t>
            </a:r>
            <a:r>
              <a:rPr lang="en-US" altLang="ko-KR" sz="1800" dirty="0" smtClean="0"/>
              <a:t>TRDI</a:t>
            </a:r>
            <a:r>
              <a:rPr lang="ko-KR" altLang="en-US" sz="1800" dirty="0"/>
              <a:t>는 일련의 </a:t>
            </a:r>
            <a:r>
              <a:rPr lang="en-US" altLang="ko-KR" sz="1800" dirty="0"/>
              <a:t>RDI</a:t>
            </a:r>
            <a:r>
              <a:rPr lang="ko-KR" altLang="en-US" sz="1800" dirty="0"/>
              <a:t>로 구성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8" y="1357589"/>
            <a:ext cx="3435626" cy="54145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173" y="4512365"/>
            <a:ext cx="2862262" cy="210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0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Method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17512"/>
            <a:ext cx="10515600" cy="199100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TRDI</a:t>
            </a:r>
            <a:r>
              <a:rPr lang="ko-KR" altLang="en-US" sz="2000" dirty="0"/>
              <a:t>에 근거한 소설 </a:t>
            </a:r>
            <a:r>
              <a:rPr lang="en-US" altLang="ko-KR" sz="2000" dirty="0"/>
              <a:t>UWB </a:t>
            </a:r>
            <a:r>
              <a:rPr lang="ko-KR" altLang="en-US" sz="2000" dirty="0"/>
              <a:t>레이더 동작 인식 아키텍처는 그림 </a:t>
            </a:r>
            <a:r>
              <a:rPr lang="en-US" altLang="ko-KR" sz="2000" dirty="0"/>
              <a:t>3</a:t>
            </a:r>
            <a:r>
              <a:rPr lang="ko-KR" altLang="en-US" sz="2000" dirty="0"/>
              <a:t>과 </a:t>
            </a:r>
            <a:r>
              <a:rPr lang="ko-KR" altLang="en-US" sz="2000" dirty="0" smtClean="0"/>
              <a:t>같다</a:t>
            </a:r>
            <a:endParaRPr lang="en-US" altLang="ko-KR" sz="2000" dirty="0" smtClean="0"/>
          </a:p>
          <a:p>
            <a:r>
              <a:rPr lang="ko-KR" altLang="en-US" sz="2000" dirty="0"/>
              <a:t>일반적인 체계에서 이 방법은 세 가지 단계 즉</a:t>
            </a:r>
            <a:r>
              <a:rPr lang="en-US" altLang="ko-KR" sz="2000" dirty="0"/>
              <a:t>, </a:t>
            </a:r>
            <a:r>
              <a:rPr lang="ko-KR" altLang="en-US" sz="2000" dirty="0"/>
              <a:t>사전 처리</a:t>
            </a:r>
            <a:r>
              <a:rPr lang="en-US" altLang="ko-KR" sz="2000" dirty="0"/>
              <a:t>, </a:t>
            </a:r>
            <a:r>
              <a:rPr lang="ko-KR" altLang="en-US" sz="2000" dirty="0"/>
              <a:t>형상 추출 및 동적 모델링이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r>
              <a:rPr lang="en-US" altLang="ko-KR" sz="2000" dirty="0"/>
              <a:t>TRDI</a:t>
            </a:r>
            <a:r>
              <a:rPr lang="ko-KR" altLang="en-US" sz="2000" dirty="0"/>
              <a:t>에서 업데이트된 각 </a:t>
            </a:r>
            <a:r>
              <a:rPr lang="en-US" altLang="ko-KR" sz="2000" dirty="0"/>
              <a:t>RDI</a:t>
            </a:r>
            <a:r>
              <a:rPr lang="ko-KR" altLang="en-US" sz="2000" dirty="0"/>
              <a:t>는 형상 추출 중에 형상 벡터로 압축된 다음 이 형상이 동적 모델링을 위해 </a:t>
            </a:r>
            <a:r>
              <a:rPr lang="en-US" altLang="ko-KR" sz="2000" dirty="0"/>
              <a:t>GRU</a:t>
            </a:r>
            <a:r>
              <a:rPr lang="ko-KR" altLang="en-US" sz="2000" dirty="0"/>
              <a:t>로 전송되며</a:t>
            </a:r>
            <a:r>
              <a:rPr lang="en-US" altLang="ko-KR" sz="2000" dirty="0"/>
              <a:t>, </a:t>
            </a:r>
            <a:r>
              <a:rPr lang="ko-KR" altLang="en-US" sz="2000" dirty="0"/>
              <a:t>여기서 분류 </a:t>
            </a:r>
            <a:r>
              <a:rPr lang="ko-KR" altLang="en-US" sz="2000" dirty="0" smtClean="0"/>
              <a:t>결과를 얻음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4440"/>
            <a:ext cx="9220614" cy="356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99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Preprocessing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수신된 원시 레이더 반사 신호가 어수선하기 때문에 </a:t>
            </a:r>
            <a:r>
              <a:rPr lang="ko-KR" altLang="en-US" sz="2400" dirty="0" smtClean="0"/>
              <a:t>레이더 </a:t>
            </a:r>
            <a:r>
              <a:rPr lang="ko-KR" altLang="en-US" sz="2400" dirty="0"/>
              <a:t>대상 반사 신호의 </a:t>
            </a:r>
            <a:r>
              <a:rPr lang="en-US" altLang="ko-KR" sz="2400" dirty="0"/>
              <a:t>SNR</a:t>
            </a:r>
            <a:r>
              <a:rPr lang="ko-KR" altLang="en-US" sz="2400" dirty="0"/>
              <a:t>을 개선하기 위한 </a:t>
            </a:r>
            <a:r>
              <a:rPr lang="ko-KR" altLang="en-US" sz="2400" dirty="0" smtClean="0"/>
              <a:t>노이즈 처리 기법이 필요</a:t>
            </a:r>
            <a:r>
              <a:rPr lang="en-US" altLang="ko-KR" sz="2400" dirty="0" smtClean="0"/>
              <a:t>[21]</a:t>
            </a:r>
          </a:p>
          <a:p>
            <a:r>
              <a:rPr lang="ko-KR" altLang="en-US" sz="2400" dirty="0"/>
              <a:t>다른 접근방식에 비해 낮은 계산 비용과 단순성 때문에 이 연구에서 </a:t>
            </a:r>
            <a:r>
              <a:rPr lang="en-US" altLang="ko-KR" sz="2400" dirty="0"/>
              <a:t>SVD </a:t>
            </a:r>
            <a:r>
              <a:rPr lang="ko-KR" altLang="en-US" sz="2400" dirty="0"/>
              <a:t>기반 </a:t>
            </a:r>
            <a:r>
              <a:rPr lang="ko-KR" altLang="en-US" sz="2400" dirty="0" err="1"/>
              <a:t>클러터</a:t>
            </a:r>
            <a:r>
              <a:rPr lang="ko-KR" altLang="en-US" sz="2400" dirty="0"/>
              <a:t> 제거가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r>
              <a:rPr lang="ko-KR" altLang="en-US" sz="2400" dirty="0"/>
              <a:t> 레이더 스캔에 있는 배경 </a:t>
            </a:r>
            <a:r>
              <a:rPr lang="ko-KR" altLang="en-US" sz="2400" dirty="0" err="1"/>
              <a:t>클러터가</a:t>
            </a:r>
            <a:r>
              <a:rPr lang="ko-KR" altLang="en-US" sz="2400" dirty="0"/>
              <a:t> 거의 동일하기 때문에</a:t>
            </a:r>
            <a:r>
              <a:rPr lang="en-US" altLang="ko-KR" sz="2400" dirty="0"/>
              <a:t>(</a:t>
            </a:r>
            <a:r>
              <a:rPr lang="ko-KR" altLang="en-US" sz="2400" dirty="0"/>
              <a:t>배경이 정적이기 때문에</a:t>
            </a:r>
            <a:r>
              <a:rPr lang="en-US" altLang="ko-KR" sz="2400" dirty="0"/>
              <a:t>), </a:t>
            </a:r>
            <a:r>
              <a:rPr lang="ko-KR" altLang="en-US" sz="2400" dirty="0" err="1"/>
              <a:t>클러터는</a:t>
            </a:r>
            <a:r>
              <a:rPr lang="ko-KR" altLang="en-US" sz="2400" dirty="0"/>
              <a:t> </a:t>
            </a:r>
            <a:r>
              <a:rPr lang="en-US" altLang="ko-KR" sz="2400" dirty="0"/>
              <a:t>1</a:t>
            </a:r>
            <a:r>
              <a:rPr lang="ko-KR" altLang="en-US" sz="2400" dirty="0"/>
              <a:t>차원 하위 공간에 걸쳐 있다</a:t>
            </a:r>
          </a:p>
        </p:txBody>
      </p:sp>
    </p:spTree>
    <p:extLst>
      <p:ext uri="{BB962C8B-B14F-4D97-AF65-F5344CB8AC3E}">
        <p14:creationId xmlns:p14="http://schemas.microsoft.com/office/powerpoint/2010/main" val="319413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88235"/>
            <a:ext cx="10515600" cy="588872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3.2 Feature extraction</a:t>
            </a:r>
          </a:p>
          <a:p>
            <a:r>
              <a:rPr lang="ko-KR" altLang="en-US" dirty="0" smtClean="0"/>
              <a:t>레이더 </a:t>
            </a:r>
            <a:r>
              <a:rPr lang="ko-KR" altLang="en-US" dirty="0"/>
              <a:t>감지 범위 내에서 대상의 활동은 신체 부위의 속도 변화 역학 관계의 흐름으로 생각할 수 있는 일련의 </a:t>
            </a:r>
            <a:r>
              <a:rPr lang="en-US" altLang="ko-KR" dirty="0"/>
              <a:t>TRDI</a:t>
            </a:r>
            <a:r>
              <a:rPr lang="ko-KR" altLang="en-US" dirty="0"/>
              <a:t>를 </a:t>
            </a:r>
            <a:r>
              <a:rPr lang="ko-KR" altLang="en-US" dirty="0" smtClean="0"/>
              <a:t>초래</a:t>
            </a:r>
            <a:endParaRPr lang="en-US" altLang="ko-KR" dirty="0" smtClean="0"/>
          </a:p>
          <a:p>
            <a:r>
              <a:rPr lang="ko-KR" altLang="en-US" dirty="0"/>
              <a:t>최근 일부 자동 형상 추출 알고리즘은 그 적용 가능성을 입증했다</a:t>
            </a:r>
            <a:r>
              <a:rPr lang="en-US" altLang="ko-KR" dirty="0"/>
              <a:t>(</a:t>
            </a:r>
            <a:r>
              <a:rPr lang="ko-KR" altLang="en-US" dirty="0"/>
              <a:t>특히 </a:t>
            </a:r>
            <a:r>
              <a:rPr lang="en-US" altLang="ko-KR" dirty="0"/>
              <a:t>PCA</a:t>
            </a:r>
            <a:r>
              <a:rPr lang="ko-KR" altLang="en-US" dirty="0"/>
              <a:t>와 </a:t>
            </a:r>
            <a:r>
              <a:rPr lang="en-US" altLang="ko-KR" dirty="0"/>
              <a:t>CAE 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 smtClean="0"/>
              <a:t>3.2.2 Deep learning based method</a:t>
            </a:r>
          </a:p>
          <a:p>
            <a:r>
              <a:rPr lang="ko-KR" altLang="en-US" dirty="0"/>
              <a:t>기존의 </a:t>
            </a:r>
            <a:r>
              <a:rPr lang="en-US" altLang="ko-KR" dirty="0"/>
              <a:t>CNN</a:t>
            </a:r>
            <a:r>
              <a:rPr lang="ko-KR" altLang="en-US" dirty="0"/>
              <a:t>은 훈련 중 상당히 큰 </a:t>
            </a:r>
            <a:r>
              <a:rPr lang="ko-KR" altLang="en-US" dirty="0" err="1"/>
              <a:t>데이터셋을</a:t>
            </a:r>
            <a:r>
              <a:rPr lang="ko-KR" altLang="en-US" dirty="0"/>
              <a:t> 필요로 하는데</a:t>
            </a:r>
            <a:r>
              <a:rPr lang="en-US" altLang="ko-KR" dirty="0"/>
              <a:t>, </a:t>
            </a:r>
            <a:r>
              <a:rPr lang="ko-KR" altLang="en-US" dirty="0"/>
              <a:t>이는 레이더 움직임 인식 분야에서 실현되기 </a:t>
            </a:r>
            <a:r>
              <a:rPr lang="ko-KR" altLang="en-US" dirty="0" smtClean="0"/>
              <a:t>어려움</a:t>
            </a:r>
            <a:endParaRPr lang="en-US" altLang="ko-KR" dirty="0" smtClean="0"/>
          </a:p>
          <a:p>
            <a:r>
              <a:rPr lang="ko-KR" altLang="en-US" dirty="0" err="1"/>
              <a:t>메흐메트</a:t>
            </a:r>
            <a:r>
              <a:rPr lang="ko-KR" altLang="en-US" dirty="0"/>
              <a:t> 외 연구진은 </a:t>
            </a:r>
            <a:r>
              <a:rPr lang="en-US" altLang="ko-KR" dirty="0"/>
              <a:t>CAE</a:t>
            </a:r>
            <a:r>
              <a:rPr lang="ko-KR" altLang="en-US" dirty="0"/>
              <a:t>로 미리 훈련된 신경망이 무작위로 초기화된 네트워크보다 마이크로 도플러 기능 추출에서 더 나은 일반화 기능을 가지고 있다는 것을 </a:t>
            </a:r>
            <a:r>
              <a:rPr lang="ko-KR" altLang="en-US" dirty="0" smtClean="0"/>
              <a:t>보여주었음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중략</a:t>
            </a:r>
            <a:r>
              <a:rPr lang="en-US" altLang="ko-KR" dirty="0" smtClean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674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641" y="2133876"/>
            <a:ext cx="3048620" cy="466259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1670" y="96769"/>
            <a:ext cx="10515600" cy="817632"/>
          </a:xfrm>
        </p:spPr>
        <p:txBody>
          <a:bodyPr/>
          <a:lstStyle/>
          <a:p>
            <a:r>
              <a:rPr lang="en-US" altLang="ko-KR" dirty="0" smtClean="0"/>
              <a:t>4. Experimental results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88504" y="914401"/>
            <a:ext cx="10515600" cy="514329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 섹션의 목표는 </a:t>
            </a:r>
            <a:r>
              <a:rPr lang="ko-KR" altLang="en-US" sz="2000" dirty="0" err="1"/>
              <a:t>기어다니기</a:t>
            </a:r>
            <a:r>
              <a:rPr lang="en-US" altLang="ko-KR" sz="2000" dirty="0"/>
              <a:t>, </a:t>
            </a:r>
            <a:r>
              <a:rPr lang="ko-KR" altLang="en-US" sz="2000" dirty="0"/>
              <a:t>넘어지기</a:t>
            </a:r>
            <a:r>
              <a:rPr lang="en-US" altLang="ko-KR" sz="2000" dirty="0"/>
              <a:t>, </a:t>
            </a:r>
            <a:r>
              <a:rPr lang="ko-KR" altLang="en-US" sz="2000" dirty="0"/>
              <a:t>조깅</a:t>
            </a:r>
            <a:r>
              <a:rPr lang="en-US" altLang="ko-KR" sz="2000" dirty="0"/>
              <a:t>, </a:t>
            </a:r>
            <a:r>
              <a:rPr lang="ko-KR" altLang="en-US" sz="2000" dirty="0"/>
              <a:t>점프하기</a:t>
            </a:r>
            <a:r>
              <a:rPr lang="en-US" altLang="ko-KR" sz="2000" dirty="0"/>
              <a:t>, </a:t>
            </a:r>
            <a:r>
              <a:rPr lang="ko-KR" altLang="en-US" sz="2000" dirty="0"/>
              <a:t>앉기</a:t>
            </a:r>
            <a:r>
              <a:rPr lang="en-US" altLang="ko-KR" sz="2000" dirty="0"/>
              <a:t>, </a:t>
            </a:r>
            <a:r>
              <a:rPr lang="ko-KR" altLang="en-US" sz="2000" dirty="0"/>
              <a:t>구토하기</a:t>
            </a:r>
            <a:r>
              <a:rPr lang="en-US" altLang="ko-KR" sz="2000" dirty="0"/>
              <a:t>, </a:t>
            </a:r>
            <a:r>
              <a:rPr lang="ko-KR" altLang="en-US" sz="2000" dirty="0"/>
              <a:t>쪼그리고 앉기</a:t>
            </a:r>
            <a:r>
              <a:rPr lang="en-US" altLang="ko-KR" sz="2000" dirty="0"/>
              <a:t>, </a:t>
            </a:r>
            <a:r>
              <a:rPr lang="ko-KR" altLang="en-US" sz="2000" dirty="0"/>
              <a:t>걷기 등 </a:t>
            </a:r>
            <a:r>
              <a:rPr lang="en-US" altLang="ko-KR" sz="2000" dirty="0"/>
              <a:t>8</a:t>
            </a:r>
            <a:r>
              <a:rPr lang="ko-KR" altLang="en-US" sz="2000" dirty="0"/>
              <a:t>가지 종류의 동작을 인식하는 </a:t>
            </a:r>
            <a:r>
              <a:rPr lang="ko-KR" altLang="en-US" sz="2000" dirty="0" smtClean="0"/>
              <a:t>실험</a:t>
            </a:r>
            <a:endParaRPr lang="en-US" altLang="ko-KR" sz="2000" dirty="0" smtClean="0"/>
          </a:p>
          <a:p>
            <a:r>
              <a:rPr lang="ko-KR" altLang="en-US" sz="2000" dirty="0"/>
              <a:t>결과는 제안된 방법이 최대 </a:t>
            </a:r>
            <a:r>
              <a:rPr lang="en-US" altLang="ko-KR" sz="2000" dirty="0"/>
              <a:t>96.80%</a:t>
            </a:r>
            <a:r>
              <a:rPr lang="ko-KR" altLang="en-US" sz="2000" dirty="0"/>
              <a:t>의 정확도로 활동을 구별할 수 </a:t>
            </a:r>
            <a:r>
              <a:rPr lang="ko-KR" altLang="en-US" sz="2000" dirty="0" smtClean="0"/>
              <a:t>있음</a:t>
            </a:r>
            <a:endParaRPr lang="en-US" altLang="ko-KR" sz="2000" dirty="0" smtClean="0"/>
          </a:p>
          <a:p>
            <a:pPr marL="0" indent="0">
              <a:buNone/>
            </a:pP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89401" y="1974850"/>
            <a:ext cx="779890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4.1 Data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실험은 방 같은 환경에서 시행</a:t>
            </a:r>
            <a:endParaRPr lang="en-US" altLang="ko-KR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시험 대상자가 다치는 것을 막기 위해 바닥에 방석</a:t>
            </a:r>
            <a:endParaRPr lang="en-US" altLang="ko-KR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XeThru</a:t>
            </a:r>
            <a:r>
              <a:rPr lang="en-US" altLang="ko-KR" dirty="0"/>
              <a:t> X4M03</a:t>
            </a:r>
            <a:r>
              <a:rPr lang="ko-KR" altLang="en-US" dirty="0"/>
              <a:t>이라는 이름으로 실험에 사용된 </a:t>
            </a:r>
            <a:r>
              <a:rPr lang="en-US" altLang="ko-KR" dirty="0"/>
              <a:t>UWB </a:t>
            </a:r>
            <a:r>
              <a:rPr lang="ko-KR" altLang="en-US" dirty="0"/>
              <a:t>레이더 시스템은 노르웨이의 </a:t>
            </a:r>
            <a:r>
              <a:rPr lang="en-US" altLang="ko-KR" dirty="0" err="1"/>
              <a:t>Novlda</a:t>
            </a:r>
            <a:r>
              <a:rPr lang="ko-KR" altLang="en-US" dirty="0"/>
              <a:t>사가 제조한 최첨단 </a:t>
            </a:r>
            <a:r>
              <a:rPr lang="en-US" altLang="ko-KR" dirty="0"/>
              <a:t>UWB </a:t>
            </a:r>
            <a:r>
              <a:rPr lang="ko-KR" altLang="en-US" dirty="0"/>
              <a:t>레이더 개발 </a:t>
            </a:r>
            <a:r>
              <a:rPr lang="ko-KR" altLang="en-US" dirty="0" smtClean="0"/>
              <a:t>모듈</a:t>
            </a:r>
            <a:endParaRPr lang="en-US" altLang="ko-K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고도와 방위각 모두에서 약 </a:t>
            </a:r>
            <a:r>
              <a:rPr lang="en-US" altLang="ko-KR" dirty="0"/>
              <a:t>60°</a:t>
            </a:r>
            <a:r>
              <a:rPr lang="ko-KR" altLang="en-US" dirty="0"/>
              <a:t>의 </a:t>
            </a:r>
            <a:r>
              <a:rPr lang="en-US" altLang="ko-KR" dirty="0"/>
              <a:t>-3dB </a:t>
            </a:r>
            <a:r>
              <a:rPr lang="ko-KR" altLang="en-US" dirty="0"/>
              <a:t>광폭의 </a:t>
            </a:r>
            <a:r>
              <a:rPr lang="en-US" altLang="ko-KR" dirty="0"/>
              <a:t>2</a:t>
            </a:r>
            <a:r>
              <a:rPr lang="ko-KR" altLang="en-US" dirty="0"/>
              <a:t>방향 패치 안테나를 가지고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전송되는 펄스 파형은 주파수 스펙트럼이 </a:t>
            </a:r>
            <a:r>
              <a:rPr lang="en-US" altLang="ko-KR" dirty="0"/>
              <a:t>7.25GHz</a:t>
            </a:r>
            <a:r>
              <a:rPr lang="ko-KR" altLang="en-US" dirty="0"/>
              <a:t>를 중심으로 하는 대역 통과 </a:t>
            </a:r>
            <a:r>
              <a:rPr lang="ko-KR" altLang="en-US" dirty="0" smtClean="0"/>
              <a:t>신호</a:t>
            </a:r>
            <a:endParaRPr lang="en-US" altLang="ko-K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 모듈의 주요 특징은 애플리케이션 사용자 정의에 유용한 다양한 소프트 구성 매개변수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초당 프레임</a:t>
            </a:r>
            <a:r>
              <a:rPr lang="en-US" altLang="ko-KR" dirty="0"/>
              <a:t>, </a:t>
            </a:r>
            <a:r>
              <a:rPr lang="ko-KR" altLang="en-US" dirty="0"/>
              <a:t>스텝당 펄스</a:t>
            </a:r>
            <a:r>
              <a:rPr lang="en-US" altLang="ko-KR" dirty="0"/>
              <a:t>, </a:t>
            </a:r>
            <a:r>
              <a:rPr lang="ko-KR" altLang="en-US" dirty="0"/>
              <a:t>감지 범위</a:t>
            </a:r>
            <a:r>
              <a:rPr lang="en-US" altLang="ko-KR" dirty="0"/>
              <a:t>)</a:t>
            </a:r>
            <a:r>
              <a:rPr lang="ko-KR" altLang="en-US" dirty="0"/>
              <a:t>를 조정할 수 있다는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 모델 성능의 통계적 평가를 용이하게 하기 위해</a:t>
            </a:r>
            <a:r>
              <a:rPr lang="en-US" altLang="ko-KR" dirty="0"/>
              <a:t>, </a:t>
            </a:r>
            <a:r>
              <a:rPr lang="ko-KR" altLang="en-US" dirty="0"/>
              <a:t>예시 수집 후 오프라인으로 처리를 </a:t>
            </a:r>
            <a:r>
              <a:rPr lang="ko-KR" altLang="en-US" dirty="0" smtClean="0"/>
              <a:t>실시</a:t>
            </a:r>
            <a:endParaRPr lang="en-US" altLang="ko-K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 총 </a:t>
            </a:r>
            <a:r>
              <a:rPr lang="en-US" altLang="ko-KR" dirty="0"/>
              <a:t>4</a:t>
            </a:r>
            <a:r>
              <a:rPr lang="ko-KR" altLang="en-US" dirty="0"/>
              <a:t>명의 다른 사람들이 </a:t>
            </a:r>
            <a:r>
              <a:rPr lang="en-US" altLang="ko-KR" dirty="0"/>
              <a:t>8</a:t>
            </a:r>
            <a:r>
              <a:rPr lang="ko-KR" altLang="en-US" dirty="0"/>
              <a:t>개의 다른 클래스에 걸쳐 </a:t>
            </a:r>
            <a:r>
              <a:rPr lang="en-US" altLang="ko-KR" dirty="0"/>
              <a:t>1657</a:t>
            </a:r>
            <a:r>
              <a:rPr lang="ko-KR" altLang="en-US" dirty="0"/>
              <a:t>개의 동작 예제를 수집하기 위해 실험 대상으로 사용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9045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3150" y="2907212"/>
            <a:ext cx="6038850" cy="20955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536"/>
            <a:ext cx="10334210" cy="1935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9245" y="2247849"/>
            <a:ext cx="58939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4.2 TRDI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샘플은 </a:t>
            </a:r>
            <a:r>
              <a:rPr lang="en-US" altLang="ko-KR" dirty="0"/>
              <a:t>250 </a:t>
            </a:r>
            <a:r>
              <a:rPr lang="ko-KR" altLang="en-US" dirty="0"/>
              <a:t>포인트의 길이와 </a:t>
            </a:r>
            <a:r>
              <a:rPr lang="en-US" altLang="ko-KR" dirty="0"/>
              <a:t>125 </a:t>
            </a:r>
            <a:r>
              <a:rPr lang="ko-KR" altLang="en-US" dirty="0"/>
              <a:t>포인트가 서로 겹치는 </a:t>
            </a:r>
            <a:r>
              <a:rPr lang="en-US" altLang="ko-KR" dirty="0"/>
              <a:t>15</a:t>
            </a:r>
            <a:r>
              <a:rPr lang="ko-KR" altLang="en-US" dirty="0"/>
              <a:t>개의 하위 신호로 </a:t>
            </a:r>
            <a:r>
              <a:rPr lang="ko-KR" altLang="en-US" dirty="0" smtClean="0"/>
              <a:t>분할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동작 중 동시에 수신되는 동작 하위 신호를 </a:t>
            </a:r>
            <a:r>
              <a:rPr lang="ko-KR" altLang="en-US" dirty="0" smtClean="0"/>
              <a:t>시뮬레이션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푸리에</a:t>
            </a:r>
            <a:r>
              <a:rPr lang="ko-KR" altLang="en-US" dirty="0"/>
              <a:t> 변환은 이러한 하위 신호에 적용되며</a:t>
            </a:r>
            <a:r>
              <a:rPr lang="en-US" altLang="ko-KR" dirty="0"/>
              <a:t>(</a:t>
            </a:r>
            <a:r>
              <a:rPr lang="ko-KR" altLang="en-US" dirty="0"/>
              <a:t>혼잡 제거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그 결과 </a:t>
            </a:r>
            <a:r>
              <a:rPr lang="en-US" altLang="ko-KR" dirty="0"/>
              <a:t>15</a:t>
            </a:r>
            <a:r>
              <a:rPr lang="ko-KR" altLang="en-US" dirty="0"/>
              <a:t>개의 </a:t>
            </a:r>
            <a:r>
              <a:rPr lang="en-US" altLang="ko-KR" dirty="0"/>
              <a:t>RDI</a:t>
            </a:r>
            <a:r>
              <a:rPr lang="ko-KR" altLang="en-US" dirty="0"/>
              <a:t>가 회색으로 표시되고 크기</a:t>
            </a:r>
            <a:r>
              <a:rPr lang="en-US" altLang="ko-KR" dirty="0"/>
              <a:t>(64, 16)</a:t>
            </a:r>
            <a:r>
              <a:rPr lang="ko-KR" altLang="en-US" dirty="0"/>
              <a:t>로 크기가 조정되어 계산 복잡성을 </a:t>
            </a:r>
            <a:r>
              <a:rPr lang="ko-KR" altLang="en-US" dirty="0" smtClean="0"/>
              <a:t>감소 시킴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낙상 이벤트에 대한 전형적인 </a:t>
            </a:r>
            <a:r>
              <a:rPr lang="ko-KR" altLang="en-US" dirty="0" err="1"/>
              <a:t>그린스케일</a:t>
            </a:r>
            <a:r>
              <a:rPr lang="ko-KR" altLang="en-US" dirty="0"/>
              <a:t> </a:t>
            </a:r>
            <a:r>
              <a:rPr lang="en-US" altLang="ko-KR" dirty="0"/>
              <a:t>TRDI</a:t>
            </a:r>
            <a:r>
              <a:rPr lang="ko-KR" altLang="en-US" dirty="0"/>
              <a:t>는 그림 </a:t>
            </a:r>
            <a:r>
              <a:rPr lang="en-US" altLang="ko-KR" dirty="0" smtClean="0"/>
              <a:t>7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나타나있음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TRDI</a:t>
            </a:r>
            <a:r>
              <a:rPr lang="ko-KR" altLang="en-US" dirty="0"/>
              <a:t>는 동작 프로세스에 따른 범위 및 주파수 정보의 변화를 명확히 보여주었기 때문에 동적 모델링을 위한 매개체로 사용할 수 있는 큰 </a:t>
            </a:r>
            <a:r>
              <a:rPr lang="ko-KR" altLang="en-US" dirty="0" smtClean="0"/>
              <a:t>잠재력 을 지님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867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25370"/>
            <a:ext cx="10515600" cy="926962"/>
          </a:xfrm>
        </p:spPr>
        <p:txBody>
          <a:bodyPr>
            <a:normAutofit/>
          </a:bodyPr>
          <a:lstStyle/>
          <a:p>
            <a:r>
              <a:rPr lang="en-US" altLang="ko-KR" sz="4000" dirty="0" smtClean="0"/>
              <a:t>4.3 Model evaluation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52331"/>
            <a:ext cx="10515600" cy="4924631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동적 모델링을 위해 각각 </a:t>
            </a:r>
            <a:r>
              <a:rPr lang="en-US" altLang="ko-KR" sz="2000" dirty="0"/>
              <a:t>PCA</a:t>
            </a:r>
            <a:r>
              <a:rPr lang="ko-KR" altLang="en-US" sz="2000" dirty="0"/>
              <a:t>와 </a:t>
            </a:r>
            <a:r>
              <a:rPr lang="en-US" altLang="ko-KR" sz="2000" dirty="0"/>
              <a:t>CAE</a:t>
            </a:r>
            <a:r>
              <a:rPr lang="ko-KR" altLang="en-US" sz="2000" dirty="0"/>
              <a:t>를 </a:t>
            </a:r>
            <a:r>
              <a:rPr lang="en-US" altLang="ko-KR" sz="2000" dirty="0"/>
              <a:t>1</a:t>
            </a:r>
            <a:r>
              <a:rPr lang="ko-KR" altLang="en-US" sz="2000" dirty="0"/>
              <a:t>개</a:t>
            </a:r>
            <a:r>
              <a:rPr lang="en-US" altLang="ko-KR" sz="2000" dirty="0"/>
              <a:t>~3</a:t>
            </a:r>
            <a:r>
              <a:rPr lang="ko-KR" altLang="en-US" sz="2000" dirty="0"/>
              <a:t>개 레이어 </a:t>
            </a:r>
            <a:r>
              <a:rPr lang="en-US" altLang="ko-KR" sz="2000" dirty="0"/>
              <a:t>GRU</a:t>
            </a:r>
            <a:r>
              <a:rPr lang="ko-KR" altLang="en-US" sz="2000" dirty="0"/>
              <a:t>와 함께 형상 추출에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en-US" altLang="ko-KR" sz="2000" dirty="0" smtClean="0"/>
              <a:t>4</a:t>
            </a:r>
            <a:r>
              <a:rPr lang="ko-KR" altLang="en-US" sz="2000" dirty="0" smtClean="0"/>
              <a:t>배의 </a:t>
            </a:r>
            <a:r>
              <a:rPr lang="ko-KR" altLang="en-US" sz="2000" dirty="0"/>
              <a:t>교차 검증 방법은 우리의 실험에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ko-KR" altLang="en-US" sz="2000" dirty="0"/>
              <a:t>각 </a:t>
            </a:r>
            <a:r>
              <a:rPr lang="en-US" altLang="ko-KR" sz="2000" dirty="0" smtClean="0"/>
              <a:t>fold</a:t>
            </a:r>
            <a:r>
              <a:rPr lang="ko-KR" altLang="en-US" sz="2000" dirty="0" smtClean="0"/>
              <a:t>에는 </a:t>
            </a:r>
            <a:r>
              <a:rPr lang="ko-KR" altLang="en-US" sz="2000" dirty="0"/>
              <a:t>실험 대상 중 하나의 동작에 의해 생성된 </a:t>
            </a:r>
            <a:r>
              <a:rPr lang="en-US" altLang="ko-KR" sz="2000" dirty="0"/>
              <a:t>TRDI</a:t>
            </a:r>
            <a:r>
              <a:rPr lang="ko-KR" altLang="en-US" sz="2000" dirty="0"/>
              <a:t>가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r>
              <a:rPr lang="ko-KR" altLang="en-US" sz="2000" dirty="0"/>
              <a:t>평가 결과는 이 네 번의 반복의 평균을 </a:t>
            </a:r>
            <a:r>
              <a:rPr lang="ko-KR" altLang="en-US" sz="2000" dirty="0" smtClean="0"/>
              <a:t>바탕</a:t>
            </a:r>
            <a:endParaRPr lang="en-US" altLang="ko-KR" sz="2000" dirty="0" smtClean="0"/>
          </a:p>
          <a:p>
            <a:r>
              <a:rPr lang="en-US" altLang="ko-KR" sz="2000" dirty="0" smtClean="0"/>
              <a:t>following hardware: </a:t>
            </a:r>
            <a:r>
              <a:rPr lang="en-US" altLang="ko-KR" sz="2000" dirty="0" err="1" smtClean="0"/>
              <a:t>Nvidia</a:t>
            </a:r>
            <a:r>
              <a:rPr lang="en-US" altLang="ko-KR" sz="2000" dirty="0" smtClean="0"/>
              <a:t> Tesla K80 GPU with 12 </a:t>
            </a:r>
            <a:r>
              <a:rPr lang="en-US" altLang="ko-KR" sz="2000" dirty="0" err="1" smtClean="0"/>
              <a:t>Gbit</a:t>
            </a:r>
            <a:r>
              <a:rPr lang="en-US" altLang="ko-KR" sz="2000" dirty="0" smtClean="0"/>
              <a:t> of VRAM, 61 </a:t>
            </a:r>
            <a:r>
              <a:rPr lang="en-US" altLang="ko-KR" sz="2000" dirty="0" err="1" smtClean="0"/>
              <a:t>Gbit</a:t>
            </a:r>
            <a:r>
              <a:rPr lang="en-US" altLang="ko-KR" sz="2000" dirty="0" smtClean="0"/>
              <a:t> of RAM and Intel Xeon 2 cores CPU.</a:t>
            </a:r>
          </a:p>
          <a:p>
            <a:pPr marL="0" indent="0">
              <a:buNone/>
            </a:pPr>
            <a:r>
              <a:rPr lang="en-US" altLang="ko-KR" sz="2400" dirty="0" smtClean="0"/>
              <a:t>4.3.1 Recognition performance</a:t>
            </a:r>
          </a:p>
          <a:p>
            <a:r>
              <a:rPr lang="ko-KR" altLang="en-US" sz="2000" dirty="0"/>
              <a:t> </a:t>
            </a:r>
            <a:r>
              <a:rPr lang="en-US" altLang="ko-KR" sz="2000" dirty="0"/>
              <a:t>CAE</a:t>
            </a:r>
            <a:r>
              <a:rPr lang="ko-KR" altLang="en-US" sz="2000" dirty="0"/>
              <a:t>의 경우</a:t>
            </a:r>
            <a:r>
              <a:rPr lang="en-US" altLang="ko-KR" sz="2000" dirty="0"/>
              <a:t>, CAE</a:t>
            </a:r>
            <a:r>
              <a:rPr lang="ko-KR" altLang="en-US" sz="2000" dirty="0"/>
              <a:t>는 비선형 도메인에서 </a:t>
            </a:r>
            <a:r>
              <a:rPr lang="en-US" altLang="ko-KR" sz="2000" dirty="0"/>
              <a:t>PCA </a:t>
            </a:r>
            <a:r>
              <a:rPr lang="ko-KR" altLang="en-US" sz="2000" dirty="0"/>
              <a:t>알고리즘의 확장으로 </a:t>
            </a:r>
            <a:r>
              <a:rPr lang="ko-KR" altLang="en-US" sz="2000" dirty="0" smtClean="0"/>
              <a:t>간주</a:t>
            </a:r>
            <a:endParaRPr lang="en-US" altLang="ko-KR" sz="2000" dirty="0" smtClean="0"/>
          </a:p>
          <a:p>
            <a:r>
              <a:rPr lang="ko-KR" altLang="en-US" sz="2000" dirty="0"/>
              <a:t>표현력이 증가하여 많은 애플리케이션에서 </a:t>
            </a:r>
            <a:r>
              <a:rPr lang="en-US" altLang="ko-KR" sz="2000" dirty="0"/>
              <a:t>PCA </a:t>
            </a:r>
            <a:r>
              <a:rPr lang="ko-KR" altLang="en-US" sz="2000" dirty="0"/>
              <a:t>알고리즘보다 성능이 우수함을 </a:t>
            </a:r>
            <a:r>
              <a:rPr lang="ko-KR" altLang="en-US" sz="2000" dirty="0" smtClean="0"/>
              <a:t>보여줌</a:t>
            </a:r>
            <a:endParaRPr lang="en-US" altLang="ko-KR" sz="2000" dirty="0" smtClean="0"/>
          </a:p>
          <a:p>
            <a:r>
              <a:rPr lang="en-US" altLang="ko-KR" sz="2000" dirty="0"/>
              <a:t>PCA </a:t>
            </a:r>
            <a:r>
              <a:rPr lang="ko-KR" altLang="en-US" sz="2000" dirty="0"/>
              <a:t>기반 모델과 </a:t>
            </a:r>
            <a:r>
              <a:rPr lang="en-US" altLang="ko-KR" sz="2000" dirty="0"/>
              <a:t>CAE </a:t>
            </a:r>
            <a:r>
              <a:rPr lang="ko-KR" altLang="en-US" sz="2000" dirty="0"/>
              <a:t>기반 모델은 평가에서 각각 </a:t>
            </a:r>
            <a:r>
              <a:rPr lang="en-US" altLang="ko-KR" sz="2000" dirty="0"/>
              <a:t>93.06%</a:t>
            </a:r>
            <a:r>
              <a:rPr lang="ko-KR" altLang="en-US" sz="2000" dirty="0"/>
              <a:t>와 </a:t>
            </a:r>
            <a:r>
              <a:rPr lang="en-US" altLang="ko-KR" sz="2000" dirty="0"/>
              <a:t>96.80%</a:t>
            </a:r>
            <a:r>
              <a:rPr lang="ko-KR" altLang="en-US" sz="2000" dirty="0"/>
              <a:t>의 최대 분류 정확도를 달성할 수 있음을 그림 </a:t>
            </a:r>
            <a:r>
              <a:rPr lang="en-US" altLang="ko-KR" sz="2000" dirty="0"/>
              <a:t>8</a:t>
            </a:r>
            <a:r>
              <a:rPr lang="ko-KR" altLang="en-US" sz="2000" dirty="0"/>
              <a:t>에서 알 </a:t>
            </a:r>
            <a:r>
              <a:rPr lang="ko-KR" altLang="en-US" sz="2000" dirty="0" err="1" smtClean="0"/>
              <a:t>수있음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0061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579"/>
          </a:xfrm>
        </p:spPr>
        <p:txBody>
          <a:bodyPr>
            <a:noAutofit/>
          </a:bodyPr>
          <a:lstStyle/>
          <a:p>
            <a:r>
              <a:rPr lang="en-US" altLang="ko-KR" sz="3200" smtClean="0"/>
              <a:t>4.3.1 Recognition performance</a:t>
            </a:r>
            <a:endParaRPr lang="ko-KR" altLang="en-US" sz="3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2" y="1659096"/>
            <a:ext cx="5528919" cy="46789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643" y="1394584"/>
            <a:ext cx="630555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7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735874" cy="444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8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484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4.3.2 Model size and complexity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모델의 크기와 연산 복잡성도 모바일 컴퓨팅과 실시간 처리의 수요에 주목할 </a:t>
            </a:r>
            <a:r>
              <a:rPr lang="ko-KR" altLang="en-US" dirty="0" smtClean="0"/>
              <a:t>만 함</a:t>
            </a:r>
            <a:endParaRPr lang="en-US" altLang="ko-KR" dirty="0" smtClean="0"/>
          </a:p>
          <a:p>
            <a:r>
              <a:rPr lang="ko-KR" altLang="en-US" dirty="0"/>
              <a:t>균일한 측정 표준을 얻기 위해 모델 </a:t>
            </a:r>
            <a:r>
              <a:rPr lang="ko-KR" altLang="en-US" dirty="0" err="1"/>
              <a:t>파라미터</a:t>
            </a:r>
            <a:r>
              <a:rPr lang="ko-KR" altLang="en-US" dirty="0"/>
              <a:t> 수량과 곱셈 연산</a:t>
            </a:r>
            <a:r>
              <a:rPr lang="en-US" altLang="ko-KR" dirty="0"/>
              <a:t>(MACC)</a:t>
            </a:r>
            <a:r>
              <a:rPr lang="ko-KR" altLang="en-US" dirty="0"/>
              <a:t>을 각각 모델의 크기와 복잡도 측정 기준으로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645" y="3617843"/>
            <a:ext cx="4121633" cy="31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6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본 논문은 동기적 프로세스와 높은 분류 정확도</a:t>
            </a:r>
            <a:r>
              <a:rPr lang="en-US" altLang="ko-KR" sz="2400" dirty="0"/>
              <a:t>(</a:t>
            </a:r>
            <a:r>
              <a:rPr lang="ko-KR" altLang="en-US" sz="2400" dirty="0"/>
              <a:t>최대 </a:t>
            </a:r>
            <a:r>
              <a:rPr lang="en-US" altLang="ko-KR" sz="2400" dirty="0"/>
              <a:t>96.80%)</a:t>
            </a:r>
            <a:r>
              <a:rPr lang="ko-KR" altLang="en-US" sz="2400" dirty="0"/>
              <a:t>의 장점을 모두 갖는 동작인식 아키텍처를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r>
              <a:rPr lang="ko-KR" altLang="en-US" sz="2400" dirty="0" err="1"/>
              <a:t>인식자는</a:t>
            </a:r>
            <a:r>
              <a:rPr lang="ko-KR" altLang="en-US" sz="2400" dirty="0"/>
              <a:t> </a:t>
            </a:r>
            <a:r>
              <a:rPr lang="en-US" altLang="ko-KR" sz="2400" dirty="0"/>
              <a:t>TRDI</a:t>
            </a:r>
            <a:r>
              <a:rPr lang="ko-KR" altLang="en-US" sz="2400" dirty="0"/>
              <a:t>에 근거하여 움직임을 동적으로 분류하기 위한 형상 </a:t>
            </a:r>
            <a:r>
              <a:rPr lang="ko-KR" altLang="en-US" sz="2400" dirty="0" err="1"/>
              <a:t>추출기와</a:t>
            </a:r>
            <a:r>
              <a:rPr lang="ko-KR" altLang="en-US" sz="2400" dirty="0"/>
              <a:t> </a:t>
            </a:r>
            <a:r>
              <a:rPr lang="en-US" altLang="ko-KR" sz="2400" dirty="0"/>
              <a:t>GRU</a:t>
            </a:r>
            <a:r>
              <a:rPr lang="ko-KR" altLang="en-US" sz="2400" dirty="0"/>
              <a:t>로 </a:t>
            </a:r>
            <a:r>
              <a:rPr lang="ko-KR" altLang="en-US" sz="2400" dirty="0" smtClean="0"/>
              <a:t>구성</a:t>
            </a:r>
            <a:endParaRPr lang="en-US" altLang="ko-KR" sz="2400" dirty="0" smtClean="0"/>
          </a:p>
          <a:p>
            <a:r>
              <a:rPr lang="ko-KR" altLang="en-US" sz="2400" dirty="0"/>
              <a:t>우리의 접근방식을 검증하기 위해 </a:t>
            </a:r>
            <a:r>
              <a:rPr lang="en-US" altLang="ko-KR" sz="2400" dirty="0"/>
              <a:t>8</a:t>
            </a:r>
            <a:r>
              <a:rPr lang="ko-KR" altLang="en-US" sz="2400" dirty="0"/>
              <a:t>개의 인체 실내 동작을 실험에서 </a:t>
            </a:r>
            <a:r>
              <a:rPr lang="ko-KR" altLang="en-US" sz="2400" dirty="0" smtClean="0"/>
              <a:t>고려</a:t>
            </a:r>
            <a:endParaRPr lang="en-US" altLang="ko-KR" sz="2400" dirty="0" smtClean="0"/>
          </a:p>
          <a:p>
            <a:r>
              <a:rPr lang="ko-KR" altLang="en-US" sz="2400" dirty="0" err="1"/>
              <a:t>기어다니기</a:t>
            </a:r>
            <a:r>
              <a:rPr lang="en-US" altLang="ko-KR" sz="2400" dirty="0"/>
              <a:t>, </a:t>
            </a:r>
            <a:r>
              <a:rPr lang="ko-KR" altLang="en-US" sz="2400" dirty="0"/>
              <a:t>넘어지기</a:t>
            </a:r>
            <a:r>
              <a:rPr lang="en-US" altLang="ko-KR" sz="2400" dirty="0"/>
              <a:t>, </a:t>
            </a:r>
            <a:r>
              <a:rPr lang="ko-KR" altLang="en-US" sz="2400" dirty="0"/>
              <a:t>조깅</a:t>
            </a:r>
            <a:r>
              <a:rPr lang="en-US" altLang="ko-KR" sz="2400" dirty="0"/>
              <a:t>, </a:t>
            </a:r>
            <a:r>
              <a:rPr lang="ko-KR" altLang="en-US" sz="2400" dirty="0"/>
              <a:t>점프</a:t>
            </a:r>
            <a:r>
              <a:rPr lang="en-US" altLang="ko-KR" sz="2400" dirty="0"/>
              <a:t>, </a:t>
            </a:r>
            <a:r>
              <a:rPr lang="ko-KR" altLang="en-US" sz="2400" dirty="0"/>
              <a:t>앉기</a:t>
            </a:r>
            <a:r>
              <a:rPr lang="en-US" altLang="ko-KR" sz="2400" dirty="0"/>
              <a:t>, </a:t>
            </a:r>
            <a:r>
              <a:rPr lang="ko-KR" altLang="en-US" sz="2400" dirty="0"/>
              <a:t>쪼그려 앉기</a:t>
            </a:r>
            <a:r>
              <a:rPr lang="en-US" altLang="ko-KR" sz="2400" dirty="0"/>
              <a:t>, </a:t>
            </a:r>
            <a:r>
              <a:rPr lang="ko-KR" altLang="en-US" sz="2400" dirty="0"/>
              <a:t>구토</a:t>
            </a:r>
            <a:r>
              <a:rPr lang="en-US" altLang="ko-KR" sz="2400" dirty="0"/>
              <a:t>, </a:t>
            </a:r>
            <a:r>
              <a:rPr lang="ko-KR" altLang="en-US" sz="2400" dirty="0"/>
              <a:t>걷기</a:t>
            </a:r>
            <a:r>
              <a:rPr lang="en-US" altLang="ko-KR" sz="2400" dirty="0"/>
              <a:t>. </a:t>
            </a:r>
            <a:r>
              <a:rPr lang="ko-KR" altLang="en-US" sz="2400" dirty="0"/>
              <a:t>비교를 위해 우리 구조에는 두 가지 형상 추출 방법이 </a:t>
            </a:r>
            <a:r>
              <a:rPr lang="ko-KR" altLang="en-US" sz="2400" dirty="0" smtClean="0"/>
              <a:t>사용</a:t>
            </a:r>
            <a:endParaRPr lang="en-US" altLang="ko-KR" sz="2400" dirty="0" smtClean="0"/>
          </a:p>
          <a:p>
            <a:r>
              <a:rPr lang="en-US" altLang="ko-KR" sz="2400" dirty="0"/>
              <a:t>CAE </a:t>
            </a:r>
            <a:r>
              <a:rPr lang="ko-KR" altLang="en-US" sz="2400" dirty="0"/>
              <a:t>기반 방법은 정확도에서는 </a:t>
            </a:r>
            <a:r>
              <a:rPr lang="en-US" altLang="ko-KR" sz="2400" dirty="0"/>
              <a:t>PCA </a:t>
            </a:r>
            <a:r>
              <a:rPr lang="ko-KR" altLang="en-US" sz="2400" dirty="0"/>
              <a:t>기반 방법을 능가하지만 연산 복잡도는 더 </a:t>
            </a:r>
            <a:r>
              <a:rPr lang="ko-KR" altLang="en-US" sz="2400" dirty="0" smtClean="0"/>
              <a:t>큼</a:t>
            </a:r>
            <a:endParaRPr lang="en-US" altLang="ko-KR" sz="2400" dirty="0" smtClean="0"/>
          </a:p>
          <a:p>
            <a:r>
              <a:rPr lang="ko-KR" altLang="en-US" sz="2400" dirty="0"/>
              <a:t>이러한 결과는 실내 모니터링 및 보조 주거를 위한 </a:t>
            </a:r>
            <a:r>
              <a:rPr lang="en-US" altLang="ko-KR" sz="2400" dirty="0"/>
              <a:t>UWB </a:t>
            </a:r>
            <a:r>
              <a:rPr lang="ko-KR" altLang="en-US" sz="2400" dirty="0"/>
              <a:t>레이더 동작 인식 시스템의 </a:t>
            </a:r>
            <a:r>
              <a:rPr lang="ko-KR" altLang="en-US" sz="2400" dirty="0" smtClean="0"/>
              <a:t>가능성을 보여줌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8787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769</Words>
  <Application>Microsoft Office PowerPoint</Application>
  <PresentationFormat>와이드스크린</PresentationFormat>
  <Paragraphs>82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Abstract</vt:lpstr>
      <vt:lpstr>1. Introduction</vt:lpstr>
      <vt:lpstr>2. Signal model</vt:lpstr>
      <vt:lpstr>2.2 Data representation domains</vt:lpstr>
      <vt:lpstr>3. Method</vt:lpstr>
      <vt:lpstr>3.1 Preprocessing</vt:lpstr>
      <vt:lpstr>PowerPoint 프레젠테이션</vt:lpstr>
      <vt:lpstr>4. Experimental results</vt:lpstr>
      <vt:lpstr>PowerPoint 프레젠테이션</vt:lpstr>
      <vt:lpstr>4.3 Model evaluation</vt:lpstr>
      <vt:lpstr>4.3.1 Recognition performance</vt:lpstr>
      <vt:lpstr>PowerPoint 프레젠테이션</vt:lpstr>
      <vt:lpstr>4.3.2 Model size and complexity</vt:lpstr>
      <vt:lpstr>5.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17</cp:revision>
  <dcterms:created xsi:type="dcterms:W3CDTF">2020-03-06T01:08:54Z</dcterms:created>
  <dcterms:modified xsi:type="dcterms:W3CDTF">2020-03-06T04:20:39Z</dcterms:modified>
</cp:coreProperties>
</file>