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48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94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84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05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8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5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25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69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75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2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639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3AF71-02E5-4D01-9467-BDE6A591D1DA}" type="datetimeFigureOut">
              <a:rPr lang="ko-KR" altLang="en-US" smtClean="0"/>
              <a:t>2020-07-29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8E99D-6481-4016-B844-FFD961C6EE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08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1047750"/>
            <a:ext cx="97250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6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본 논문에서는 </a:t>
            </a:r>
            <a:r>
              <a:rPr lang="ko-KR" altLang="en-US" dirty="0" err="1"/>
              <a:t>스켈레톤</a:t>
            </a:r>
            <a:r>
              <a:rPr lang="ko-KR" altLang="en-US" dirty="0"/>
              <a:t> 시퀀스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인간 </a:t>
            </a:r>
            <a:r>
              <a:rPr lang="ko-KR" altLang="en-US" dirty="0" err="1"/>
              <a:t>스켈레톤</a:t>
            </a:r>
            <a:r>
              <a:rPr lang="ko-KR" altLang="en-US" dirty="0"/>
              <a:t> </a:t>
            </a:r>
            <a:r>
              <a:rPr lang="en-US" altLang="ko-KR" dirty="0" smtClean="0"/>
              <a:t>joint</a:t>
            </a:r>
            <a:r>
              <a:rPr lang="ko-KR" altLang="en-US" dirty="0" smtClean="0"/>
              <a:t>의 </a:t>
            </a:r>
            <a:r>
              <a:rPr lang="en-US" altLang="ko-KR" dirty="0"/>
              <a:t>3D </a:t>
            </a:r>
            <a:r>
              <a:rPr lang="ko-KR" altLang="en-US" dirty="0"/>
              <a:t>궤적</a:t>
            </a:r>
            <a:r>
              <a:rPr lang="en-US" altLang="ko-KR" dirty="0"/>
              <a:t>)</a:t>
            </a:r>
            <a:r>
              <a:rPr lang="ko-KR" altLang="en-US" dirty="0"/>
              <a:t>를 이용한 </a:t>
            </a:r>
            <a:r>
              <a:rPr lang="en-US" altLang="ko-KR" dirty="0"/>
              <a:t>3D </a:t>
            </a:r>
            <a:r>
              <a:rPr lang="ko-KR" altLang="en-US" dirty="0"/>
              <a:t>액션 인식을 위한 새로운 방법을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r>
              <a:rPr lang="ko-KR" altLang="en-US" dirty="0"/>
              <a:t>골격 시퀀스를 </a:t>
            </a:r>
            <a:r>
              <a:rPr lang="ko-KR" altLang="en-US" u="sng" dirty="0"/>
              <a:t>세 개의 클립으로 변환</a:t>
            </a:r>
            <a:r>
              <a:rPr lang="ko-KR" altLang="en-US" dirty="0"/>
              <a:t>하여 심층 신경망을 이용한 공간 시간적 형상 학습을 위한 여러 프레임으로 </a:t>
            </a:r>
            <a:r>
              <a:rPr lang="ko-KR" altLang="en-US" dirty="0" smtClean="0"/>
              <a:t>구성</a:t>
            </a:r>
            <a:endParaRPr lang="en-US" altLang="ko-KR" dirty="0" smtClean="0"/>
          </a:p>
          <a:p>
            <a:r>
              <a:rPr lang="ko-KR" altLang="en-US" dirty="0"/>
              <a:t>생성된 </a:t>
            </a:r>
            <a:r>
              <a:rPr lang="ko-KR" altLang="en-US" u="sng" dirty="0"/>
              <a:t>클립의 각 프레임은 전체 골격 시퀀스의 시간 정보</a:t>
            </a:r>
            <a:r>
              <a:rPr lang="ko-KR" altLang="en-US" dirty="0"/>
              <a:t>를 나타내며</a:t>
            </a:r>
            <a:r>
              <a:rPr lang="en-US" altLang="ko-KR" dirty="0"/>
              <a:t>, </a:t>
            </a:r>
            <a:r>
              <a:rPr lang="ko-KR" altLang="en-US" u="sng" dirty="0"/>
              <a:t>관절 사이의 특정 공간 관계</a:t>
            </a:r>
            <a:r>
              <a:rPr lang="ko-KR" altLang="en-US" dirty="0"/>
              <a:t>를 </a:t>
            </a:r>
            <a:r>
              <a:rPr lang="ko-KR" altLang="en-US" dirty="0" smtClean="0"/>
              <a:t>포함</a:t>
            </a:r>
            <a:endParaRPr lang="en-US" altLang="ko-KR" dirty="0" smtClean="0"/>
          </a:p>
          <a:p>
            <a:r>
              <a:rPr lang="ko-KR" altLang="en-US" dirty="0"/>
              <a:t>골격 시퀀스의 장기적 시간적 정보를 학습한 다음</a:t>
            </a:r>
            <a:r>
              <a:rPr lang="en-US" altLang="ko-KR" dirty="0"/>
              <a:t>, MTLN(Multi-Task Learning Network)</a:t>
            </a:r>
            <a:r>
              <a:rPr lang="ko-KR" altLang="en-US" dirty="0"/>
              <a:t>을 사용하여 생성된 클립의 모든 프레임을 공동으로 처리하여 동작 인식을 위한 공간 구조 정보를 통합</a:t>
            </a:r>
          </a:p>
        </p:txBody>
      </p:sp>
    </p:spTree>
    <p:extLst>
      <p:ext uri="{BB962C8B-B14F-4D97-AF65-F5344CB8AC3E}">
        <p14:creationId xmlns:p14="http://schemas.microsoft.com/office/powerpoint/2010/main" val="399445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3D </a:t>
            </a:r>
            <a:r>
              <a:rPr lang="ko-KR" altLang="en-US" sz="2400" dirty="0" err="1"/>
              <a:t>스켈레톤</a:t>
            </a:r>
            <a:r>
              <a:rPr lang="ko-KR" altLang="en-US" sz="2400" dirty="0"/>
              <a:t> 데이터는 인간 </a:t>
            </a:r>
            <a:r>
              <a:rPr lang="ko-KR" altLang="en-US" sz="2400" dirty="0" err="1"/>
              <a:t>스켈레톤</a:t>
            </a:r>
            <a:r>
              <a:rPr lang="ko-KR" altLang="en-US" sz="2400" dirty="0"/>
              <a:t> 조인트의 궤적을 기록하고 조도 변화에 강하며 카메라 뷰에 불변한다</a:t>
            </a:r>
            <a:r>
              <a:rPr lang="en-US" altLang="ko-KR" sz="2400" dirty="0"/>
              <a:t>[14</a:t>
            </a:r>
            <a:r>
              <a:rPr lang="en-US" altLang="ko-KR" sz="2400" dirty="0" smtClean="0"/>
              <a:t>]</a:t>
            </a:r>
          </a:p>
          <a:p>
            <a:r>
              <a:rPr lang="ko-KR" altLang="en-US" sz="2400" dirty="0"/>
              <a:t> 고도로 정밀하고 저렴한 기기가 보급됨에 따라 </a:t>
            </a:r>
            <a:r>
              <a:rPr lang="en-US" altLang="ko-KR" sz="2400" dirty="0"/>
              <a:t>3D </a:t>
            </a:r>
            <a:r>
              <a:rPr lang="ko-KR" altLang="en-US" sz="2400" dirty="0"/>
              <a:t>골격 시퀀스에 기초한 행동 인식에 대한 관심이 높아지고 있다</a:t>
            </a:r>
            <a:r>
              <a:rPr lang="en-US" altLang="ko-KR" sz="2400" dirty="0"/>
              <a:t>[49, 42, 6, 37, 54, 26, 22, 46, 19</a:t>
            </a:r>
            <a:r>
              <a:rPr lang="en-US" altLang="ko-KR" sz="2400" dirty="0" smtClean="0"/>
              <a:t>]</a:t>
            </a:r>
          </a:p>
          <a:p>
            <a:r>
              <a:rPr lang="ko-KR" altLang="en-US" sz="2400" dirty="0"/>
              <a:t>구체적으로는 각 골격 시퀀스에 대해</a:t>
            </a:r>
            <a:r>
              <a:rPr lang="en-US" altLang="ko-KR" sz="2400" dirty="0"/>
              <a:t>, </a:t>
            </a:r>
            <a:r>
              <a:rPr lang="ko-KR" altLang="en-US" sz="2400" dirty="0"/>
              <a:t>골격 시퀀스의 원통형 좌표 </a:t>
            </a:r>
            <a:r>
              <a:rPr lang="en-US" altLang="ko-KR" sz="2400" dirty="0"/>
              <a:t>3 </a:t>
            </a:r>
            <a:r>
              <a:rPr lang="ko-KR" altLang="en-US" sz="2400" dirty="0"/>
              <a:t>채널에 해당하는 클립 </a:t>
            </a:r>
            <a:r>
              <a:rPr lang="en-US" altLang="ko-KR" sz="2400" dirty="0"/>
              <a:t>3</a:t>
            </a:r>
            <a:r>
              <a:rPr lang="ko-KR" altLang="en-US" sz="2400" dirty="0"/>
              <a:t>개를 </a:t>
            </a:r>
            <a:r>
              <a:rPr lang="ko-KR" altLang="en-US" sz="2400" dirty="0" smtClean="0"/>
              <a:t>생성</a:t>
            </a:r>
            <a:endParaRPr lang="en-US" altLang="ko-KR" sz="2400" dirty="0" smtClean="0"/>
          </a:p>
          <a:p>
            <a:r>
              <a:rPr lang="ko-KR" altLang="en-US" sz="2400" dirty="0"/>
              <a:t> 각 클립은 </a:t>
            </a:r>
            <a:r>
              <a:rPr lang="en-US" altLang="ko-KR" sz="2400" dirty="0"/>
              <a:t>4</a:t>
            </a:r>
            <a:r>
              <a:rPr lang="ko-KR" altLang="en-US" sz="2400" dirty="0"/>
              <a:t>개의 프레임으로 구성되며</a:t>
            </a:r>
            <a:r>
              <a:rPr lang="en-US" altLang="ko-KR" sz="2400" dirty="0"/>
              <a:t>, 4</a:t>
            </a:r>
            <a:r>
              <a:rPr lang="ko-KR" altLang="en-US" sz="2400" dirty="0"/>
              <a:t>개의 기준 조인트에 대한 조인트의 상대적 위치를 계산하여 </a:t>
            </a:r>
            <a:r>
              <a:rPr lang="ko-KR" altLang="en-US" sz="2400" dirty="0" smtClean="0"/>
              <a:t>생성</a:t>
            </a:r>
            <a:endParaRPr lang="en-US" altLang="ko-KR" sz="2400" dirty="0" smtClean="0"/>
          </a:p>
          <a:p>
            <a:r>
              <a:rPr lang="ko-KR" altLang="en-US" sz="2400" dirty="0"/>
              <a:t>클립의 각 프레임은 전체 골격 시퀀스의 시간적 </a:t>
            </a:r>
            <a:r>
              <a:rPr lang="ko-KR" altLang="en-US" sz="2400" dirty="0" smtClean="0"/>
              <a:t>정보</a:t>
            </a:r>
            <a:r>
              <a:rPr lang="en-US" altLang="ko-KR" sz="2400" dirty="0" smtClean="0"/>
              <a:t>, </a:t>
            </a:r>
            <a:r>
              <a:rPr lang="ko-KR" altLang="en-US" sz="2400" dirty="0" err="1"/>
              <a:t>연결부</a:t>
            </a:r>
            <a:r>
              <a:rPr lang="ko-KR" altLang="en-US" sz="2400" dirty="0"/>
              <a:t> 사이의 특정 공간 관계를 </a:t>
            </a:r>
            <a:r>
              <a:rPr lang="ko-KR" altLang="en-US" sz="2400" dirty="0" smtClean="0"/>
              <a:t>포함</a:t>
            </a:r>
            <a:endParaRPr lang="en-US" altLang="ko-KR" sz="2400" dirty="0" smtClean="0"/>
          </a:p>
          <a:p>
            <a:r>
              <a:rPr lang="ko-KR" altLang="en-US" sz="2400" dirty="0"/>
              <a:t>전체 클립은 </a:t>
            </a:r>
            <a:r>
              <a:rPr lang="ko-KR" altLang="en-US" sz="2400" dirty="0" err="1"/>
              <a:t>공간관계가</a:t>
            </a:r>
            <a:r>
              <a:rPr lang="ko-KR" altLang="en-US" sz="2400" dirty="0"/>
              <a:t> 다른 여러 프레임을 종합해 </a:t>
            </a:r>
            <a:r>
              <a:rPr lang="ko-KR" altLang="en-US" sz="2400" dirty="0" err="1"/>
              <a:t>골격관절의</a:t>
            </a:r>
            <a:r>
              <a:rPr lang="ko-KR" altLang="en-US" sz="2400" dirty="0"/>
              <a:t> 공간구조에 대한 중요한 정보를 제공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86168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Introduction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생성된 클립의 프레임에서 </a:t>
            </a:r>
            <a:r>
              <a:rPr lang="ko-KR" altLang="en-US" sz="2400" dirty="0" smtClean="0"/>
              <a:t>특징을 </a:t>
            </a:r>
            <a:r>
              <a:rPr lang="ko-KR" altLang="en-US" sz="2400" dirty="0"/>
              <a:t>추출하여 </a:t>
            </a:r>
            <a:r>
              <a:rPr lang="ko-KR" altLang="en-US" sz="2400" dirty="0" err="1"/>
              <a:t>스켈레톤</a:t>
            </a:r>
            <a:r>
              <a:rPr lang="ko-KR" altLang="en-US" sz="2400" dirty="0"/>
              <a:t> 시퀀스의 장기 시간적 구조를 파악할 수 </a:t>
            </a:r>
            <a:r>
              <a:rPr lang="ko-KR" altLang="en-US" sz="2400" dirty="0" smtClean="0"/>
              <a:t>있다</a:t>
            </a:r>
            <a:endParaRPr lang="en-US" altLang="ko-KR" sz="2400" dirty="0" smtClean="0"/>
          </a:p>
          <a:p>
            <a:r>
              <a:rPr lang="ko-KR" altLang="en-US" sz="2400" dirty="0"/>
              <a:t>세 개의 클립의 </a:t>
            </a:r>
            <a:r>
              <a:rPr lang="en-US" altLang="ko-KR" sz="2400" dirty="0"/>
              <a:t>CNN </a:t>
            </a:r>
            <a:r>
              <a:rPr lang="ko-KR" altLang="en-US" sz="2400" dirty="0"/>
              <a:t>기능이 하나의 </a:t>
            </a:r>
            <a:r>
              <a:rPr lang="ko-KR" altLang="en-US" sz="2400" dirty="0" err="1"/>
              <a:t>피쳐</a:t>
            </a:r>
            <a:r>
              <a:rPr lang="ko-KR" altLang="en-US" sz="2400" dirty="0"/>
              <a:t> 벡터로 </a:t>
            </a:r>
            <a:r>
              <a:rPr lang="ko-KR" altLang="en-US" sz="2400" dirty="0" smtClean="0"/>
              <a:t>결합</a:t>
            </a:r>
            <a:endParaRPr lang="en-US" altLang="ko-KR" sz="2400" dirty="0" smtClean="0"/>
          </a:p>
          <a:p>
            <a:r>
              <a:rPr lang="ko-KR" altLang="en-US" sz="2400" dirty="0"/>
              <a:t> </a:t>
            </a:r>
            <a:r>
              <a:rPr lang="en-US" altLang="ko-KR" sz="2400" dirty="0"/>
              <a:t>MTLN(Multi-Task Learning Network)</a:t>
            </a:r>
            <a:r>
              <a:rPr lang="ko-KR" altLang="en-US" sz="2400" dirty="0"/>
              <a:t>을 이용한 </a:t>
            </a:r>
            <a:r>
              <a:rPr lang="ko-KR" altLang="en-US" sz="2400" dirty="0" err="1"/>
              <a:t>행동인식에</a:t>
            </a:r>
            <a:r>
              <a:rPr lang="ko-KR" altLang="en-US" sz="2400" dirty="0"/>
              <a:t> 서로 다른 특징 벡터 간의 내재적 관계를 </a:t>
            </a:r>
            <a:r>
              <a:rPr lang="ko-KR" altLang="en-US" sz="2400" dirty="0" smtClean="0"/>
              <a:t>활용</a:t>
            </a:r>
            <a:endParaRPr lang="en-US" altLang="ko-KR" sz="2400" dirty="0" smtClean="0"/>
          </a:p>
          <a:p>
            <a:r>
              <a:rPr lang="ko-KR" altLang="en-US" sz="2400" dirty="0"/>
              <a:t>본 논문의 주요 기여는 다음과 같이 요약된다</a:t>
            </a:r>
            <a:r>
              <a:rPr lang="en-US" altLang="ko-KR" sz="2400" dirty="0" smtClean="0"/>
              <a:t>.</a:t>
            </a:r>
          </a:p>
          <a:p>
            <a:pPr marL="514350" indent="-514350">
              <a:buAutoNum type="arabicParenBoth"/>
            </a:pPr>
            <a:r>
              <a:rPr lang="ko-KR" altLang="en-US" sz="2400" dirty="0" smtClean="0"/>
              <a:t>프레임 </a:t>
            </a:r>
            <a:r>
              <a:rPr lang="ko-KR" altLang="en-US" sz="2400" dirty="0"/>
              <a:t>이미지로부터 </a:t>
            </a:r>
            <a:r>
              <a:rPr lang="ko-KR" altLang="en-US" sz="2400" dirty="0" smtClean="0"/>
              <a:t>학습함으로써 골격 </a:t>
            </a:r>
            <a:r>
              <a:rPr lang="ko-KR" altLang="en-US" sz="2400" dirty="0"/>
              <a:t>시퀀스를 새로운 표현으로 변환할 것을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pPr marL="514350" indent="-514350">
              <a:buAutoNum type="arabicParenBoth"/>
            </a:pPr>
            <a:r>
              <a:rPr lang="en-US" altLang="ko-KR" sz="2400" dirty="0" smtClean="0"/>
              <a:t>MTLN</a:t>
            </a:r>
            <a:r>
              <a:rPr lang="ko-KR" altLang="en-US" sz="2400" dirty="0"/>
              <a:t>을 도입하여 생성된 클립에 있는 프레임의 모든 </a:t>
            </a:r>
            <a:r>
              <a:rPr lang="en-US" altLang="ko-KR" sz="2400" dirty="0"/>
              <a:t>CNN </a:t>
            </a:r>
            <a:r>
              <a:rPr lang="ko-KR" altLang="en-US" sz="2400" dirty="0"/>
              <a:t>기능을 처리하여 학습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936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Proposed Method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29" y="1882775"/>
            <a:ext cx="93249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12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3.1. Clip Generation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4</a:t>
            </a:r>
            <a:r>
              <a:rPr lang="ko-KR" altLang="en-US" sz="2400" dirty="0"/>
              <a:t>개의 기준 관절</a:t>
            </a:r>
            <a:r>
              <a:rPr lang="en-US" altLang="ko-KR" sz="2400" dirty="0"/>
              <a:t>, </a:t>
            </a:r>
            <a:r>
              <a:rPr lang="ko-KR" altLang="en-US" sz="2400" dirty="0"/>
              <a:t>즉 왼쪽 어깨</a:t>
            </a:r>
            <a:r>
              <a:rPr lang="en-US" altLang="ko-KR" sz="2400" dirty="0"/>
              <a:t>, </a:t>
            </a:r>
            <a:r>
              <a:rPr lang="ko-KR" altLang="en-US" sz="2400" dirty="0"/>
              <a:t>오른쪽 어깨</a:t>
            </a:r>
            <a:r>
              <a:rPr lang="en-US" altLang="ko-KR" sz="2400" dirty="0"/>
              <a:t>, </a:t>
            </a:r>
            <a:r>
              <a:rPr lang="ko-KR" altLang="en-US" sz="2400" dirty="0"/>
              <a:t>왼쪽 엉덩이</a:t>
            </a:r>
            <a:r>
              <a:rPr lang="en-US" altLang="ko-KR" sz="2400" dirty="0"/>
              <a:t>, </a:t>
            </a:r>
            <a:r>
              <a:rPr lang="ko-KR" altLang="en-US" sz="2400" dirty="0"/>
              <a:t>오른쪽 </a:t>
            </a:r>
            <a:r>
              <a:rPr lang="ko-KR" altLang="en-US" sz="2400" dirty="0" smtClean="0"/>
              <a:t>엉덩이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이 </a:t>
            </a:r>
            <a:r>
              <a:rPr lang="en-US" altLang="ko-KR" sz="2400" dirty="0"/>
              <a:t>4</a:t>
            </a:r>
            <a:r>
              <a:rPr lang="ko-KR" altLang="en-US" sz="2400" dirty="0"/>
              <a:t>개의 관절은 대부분의 동작에서 안정적이라는 사실 때문에 기준 </a:t>
            </a:r>
            <a:r>
              <a:rPr lang="ko-KR" altLang="en-US" sz="2400" dirty="0" err="1"/>
              <a:t>관절으로</a:t>
            </a:r>
            <a:r>
              <a:rPr lang="ko-KR" altLang="en-US" sz="2400" dirty="0"/>
              <a:t> </a:t>
            </a:r>
            <a:r>
              <a:rPr lang="ko-KR" altLang="en-US" sz="2400" dirty="0" smtClean="0"/>
              <a:t>선택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3.2.1 Temporal Pooling of CNN Feature Maps</a:t>
            </a:r>
          </a:p>
          <a:p>
            <a:r>
              <a:rPr lang="ko-KR" altLang="en-US" sz="2400" dirty="0"/>
              <a:t>사전 훈련된 </a:t>
            </a:r>
            <a:r>
              <a:rPr lang="en-US" altLang="ko-KR" sz="2400" dirty="0"/>
              <a:t>CNN </a:t>
            </a:r>
            <a:r>
              <a:rPr lang="ko-KR" altLang="en-US" sz="2400" dirty="0"/>
              <a:t>모델은 </a:t>
            </a:r>
            <a:r>
              <a:rPr lang="en-US" altLang="ko-KR" sz="2400" dirty="0"/>
              <a:t>ImageNet[34]</a:t>
            </a:r>
            <a:r>
              <a:rPr lang="ko-KR" altLang="en-US" sz="2400" dirty="0"/>
              <a:t>로 사전 훈련된 </a:t>
            </a:r>
            <a:r>
              <a:rPr lang="ko-KR" altLang="en-US" sz="2400" dirty="0" smtClean="0"/>
              <a:t>모델</a:t>
            </a:r>
            <a:r>
              <a:rPr lang="en-US" altLang="ko-KR" sz="2400" dirty="0" smtClean="0"/>
              <a:t>(VGG19[38])</a:t>
            </a:r>
            <a:r>
              <a:rPr lang="ko-KR" altLang="en-US" sz="2400" dirty="0" smtClean="0"/>
              <a:t>에 </a:t>
            </a:r>
            <a:r>
              <a:rPr lang="ko-KR" altLang="en-US" sz="2400" dirty="0"/>
              <a:t>의해 추출된 </a:t>
            </a:r>
            <a:r>
              <a:rPr lang="en-US" altLang="ko-KR" sz="2400" dirty="0" smtClean="0"/>
              <a:t>CNN</a:t>
            </a:r>
          </a:p>
          <a:p>
            <a:r>
              <a:rPr lang="ko-KR" altLang="en-US" sz="2400" dirty="0"/>
              <a:t>즉 크기가 </a:t>
            </a:r>
            <a:r>
              <a:rPr lang="en-US" altLang="ko-KR" sz="2400" dirty="0"/>
              <a:t>14×14</a:t>
            </a:r>
            <a:r>
              <a:rPr lang="ko-KR" altLang="en-US" sz="2400" dirty="0"/>
              <a:t>인 </a:t>
            </a:r>
            <a:r>
              <a:rPr lang="en-US" altLang="ko-KR" sz="2400" dirty="0"/>
              <a:t>512 </a:t>
            </a:r>
            <a:r>
              <a:rPr lang="ko-KR" altLang="en-US" sz="2400" dirty="0" err="1"/>
              <a:t>피쳐</a:t>
            </a:r>
            <a:r>
              <a:rPr lang="ko-KR" altLang="en-US" sz="2400" dirty="0"/>
              <a:t> 맵</a:t>
            </a:r>
            <a:endParaRPr lang="en-US" altLang="ko-KR" sz="2400" dirty="0" smtClean="0"/>
          </a:p>
          <a:p>
            <a:endParaRPr lang="ko-KR" altLang="en-US" sz="2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498" y="4438347"/>
            <a:ext cx="5967004" cy="22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9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smtClean="0"/>
              <a:t>3.2.2 Multi-Task Learning Network (MTLN)</a:t>
            </a:r>
            <a:endParaRPr lang="ko-KR" altLang="en-US" sz="4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2400" dirty="0"/>
              <a:t>MTLN</a:t>
            </a:r>
            <a:r>
              <a:rPr lang="ko-KR" altLang="en-US" sz="2400" dirty="0"/>
              <a:t>은 </a:t>
            </a:r>
            <a:r>
              <a:rPr lang="en-US" altLang="ko-KR" sz="2400" dirty="0"/>
              <a:t>4</a:t>
            </a:r>
            <a:r>
              <a:rPr lang="ko-KR" altLang="en-US" sz="2400" dirty="0"/>
              <a:t>개의 </a:t>
            </a:r>
            <a:r>
              <a:rPr lang="ko-KR" altLang="en-US" sz="2400" dirty="0" err="1"/>
              <a:t>피쳐</a:t>
            </a:r>
            <a:r>
              <a:rPr lang="ko-KR" altLang="en-US" sz="2400" dirty="0"/>
              <a:t> 벡터를 공동으로 처리하여 그들의 내적 관계를 작용 인식에 활용할 것을 </a:t>
            </a:r>
            <a:r>
              <a:rPr lang="ko-KR" altLang="en-US" sz="2400" dirty="0" smtClean="0"/>
              <a:t>제안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4. Experiments and Analysis</a:t>
            </a:r>
          </a:p>
          <a:p>
            <a:pPr marL="0" indent="0">
              <a:buNone/>
            </a:pPr>
            <a:r>
              <a:rPr lang="ko-KR" altLang="en-US" sz="2400" dirty="0"/>
              <a:t>데이터 집합</a:t>
            </a:r>
            <a:r>
              <a:rPr lang="en-US" altLang="ko-KR" sz="2400" dirty="0"/>
              <a:t>: NTU RGB+D </a:t>
            </a:r>
            <a:r>
              <a:rPr lang="ko-KR" altLang="en-US" sz="2400" dirty="0"/>
              <a:t>데이터 집합</a:t>
            </a:r>
            <a:r>
              <a:rPr lang="en-US" altLang="ko-KR" sz="2400" dirty="0"/>
              <a:t>[37], SBU </a:t>
            </a:r>
            <a:r>
              <a:rPr lang="ko-KR" altLang="en-US" sz="2400" dirty="0" err="1"/>
              <a:t>키넥트</a:t>
            </a:r>
            <a:r>
              <a:rPr lang="ko-KR" altLang="en-US" sz="2400" dirty="0"/>
              <a:t> 상호작용 데이터 집합</a:t>
            </a:r>
            <a:r>
              <a:rPr lang="en-US" altLang="ko-KR" sz="2400" dirty="0"/>
              <a:t>[53] </a:t>
            </a:r>
            <a:r>
              <a:rPr lang="ko-KR" altLang="en-US" sz="2400" dirty="0"/>
              <a:t>및 </a:t>
            </a:r>
            <a:r>
              <a:rPr lang="en-US" altLang="ko-KR" sz="2400" dirty="0"/>
              <a:t>CMU </a:t>
            </a:r>
            <a:r>
              <a:rPr lang="ko-KR" altLang="en-US" sz="2400" dirty="0"/>
              <a:t>데이터 집합</a:t>
            </a:r>
            <a:r>
              <a:rPr lang="en-US" altLang="ko-KR" sz="2400" dirty="0"/>
              <a:t>[4</a:t>
            </a:r>
            <a:r>
              <a:rPr lang="en-US" altLang="ko-KR" sz="2400" dirty="0" smtClean="0"/>
              <a:t>]</a:t>
            </a:r>
          </a:p>
          <a:p>
            <a:r>
              <a:rPr lang="ko-KR" altLang="en-US" sz="2400" dirty="0"/>
              <a:t>제안된 방법의 주요 아이디어는 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1</a:t>
            </a:r>
            <a:r>
              <a:rPr lang="en-US" altLang="ko-KR" sz="2400" dirty="0"/>
              <a:t>) </a:t>
            </a:r>
            <a:r>
              <a:rPr lang="ko-KR" altLang="en-US" sz="2400" dirty="0"/>
              <a:t>골격 시퀀스에서 </a:t>
            </a:r>
            <a:r>
              <a:rPr lang="en-US" altLang="ko-KR" sz="2400" dirty="0"/>
              <a:t>3</a:t>
            </a:r>
            <a:r>
              <a:rPr lang="ko-KR" altLang="en-US" sz="2400" dirty="0"/>
              <a:t>개의 클립</a:t>
            </a:r>
            <a:r>
              <a:rPr lang="en-US" altLang="ko-KR" sz="2400" dirty="0"/>
              <a:t>(</a:t>
            </a:r>
            <a:r>
              <a:rPr lang="ko-KR" altLang="en-US" sz="2400" dirty="0"/>
              <a:t>각 클립은 </a:t>
            </a:r>
            <a:r>
              <a:rPr lang="en-US" altLang="ko-KR" sz="2400" dirty="0"/>
              <a:t>4</a:t>
            </a:r>
            <a:r>
              <a:rPr lang="ko-KR" altLang="en-US" sz="2400" dirty="0"/>
              <a:t>개의 프레임으로 구성됨</a:t>
            </a:r>
            <a:r>
              <a:rPr lang="en-US" altLang="ko-KR" sz="2400" dirty="0"/>
              <a:t>)</a:t>
            </a:r>
            <a:r>
              <a:rPr lang="ko-KR" altLang="en-US" sz="2400" dirty="0"/>
              <a:t>을 생성하는 방법</a:t>
            </a:r>
            <a:r>
              <a:rPr lang="en-US" altLang="ko-KR" sz="2400" dirty="0"/>
              <a:t>, 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2</a:t>
            </a:r>
            <a:r>
              <a:rPr lang="en-US" altLang="ko-KR" sz="2400" dirty="0"/>
              <a:t>) CNN</a:t>
            </a:r>
            <a:r>
              <a:rPr lang="ko-KR" altLang="en-US" sz="2400" dirty="0"/>
              <a:t>을 사용하여 생성된 클립의 각 프레임에서 골격 시퀀스의 글로벌 장기 시간적 정보를 학습하는 방법</a:t>
            </a:r>
            <a:r>
              <a:rPr lang="en-US" altLang="ko-KR" sz="2400" dirty="0"/>
              <a:t>, </a:t>
            </a:r>
            <a:endParaRPr lang="en-US" altLang="ko-KR" sz="2400" dirty="0" smtClean="0"/>
          </a:p>
          <a:p>
            <a:pPr marL="0" indent="0">
              <a:buNone/>
            </a:pPr>
            <a:r>
              <a:rPr lang="en-US" altLang="ko-KR" sz="2400" dirty="0" smtClean="0"/>
              <a:t>3</a:t>
            </a:r>
            <a:r>
              <a:rPr lang="en-US" altLang="ko-KR" sz="2400" dirty="0"/>
              <a:t>) MTLN</a:t>
            </a:r>
            <a:r>
              <a:rPr lang="ko-KR" altLang="en-US" sz="2400" dirty="0"/>
              <a:t>을 사용하여 </a:t>
            </a:r>
            <a:r>
              <a:rPr lang="en-US" altLang="ko-KR" sz="2400" dirty="0"/>
              <a:t>4</a:t>
            </a:r>
            <a:r>
              <a:rPr lang="ko-KR" altLang="en-US" sz="2400" dirty="0"/>
              <a:t>개의 프레임의 </a:t>
            </a:r>
            <a:r>
              <a:rPr lang="en-US" altLang="ko-KR" sz="2400" dirty="0"/>
              <a:t>CNN </a:t>
            </a:r>
            <a:r>
              <a:rPr lang="ko-KR" altLang="en-US" sz="2400" dirty="0"/>
              <a:t>기능을 공동으로 훈련하는 방법이</a:t>
            </a:r>
          </a:p>
        </p:txBody>
      </p:sp>
    </p:spTree>
    <p:extLst>
      <p:ext uri="{BB962C8B-B14F-4D97-AF65-F5344CB8AC3E}">
        <p14:creationId xmlns:p14="http://schemas.microsoft.com/office/powerpoint/2010/main" val="2430904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4.2. Implementation Details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제안된 방법은 </a:t>
            </a:r>
            <a:r>
              <a:rPr lang="en-US" altLang="ko-KR" dirty="0" err="1"/>
              <a:t>MatConvNet</a:t>
            </a:r>
            <a:r>
              <a:rPr lang="en-US" altLang="ko-KR" dirty="0"/>
              <a:t> </a:t>
            </a:r>
            <a:r>
              <a:rPr lang="ko-KR" altLang="en-US" dirty="0" err="1"/>
              <a:t>툴박스를</a:t>
            </a:r>
            <a:r>
              <a:rPr lang="ko-KR" altLang="en-US" dirty="0"/>
              <a:t> 사용하여 구현 </a:t>
            </a:r>
            <a:r>
              <a:rPr lang="en-US" altLang="ko-KR" dirty="0"/>
              <a:t>[40]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426290"/>
            <a:ext cx="4410075" cy="39909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673634" y="410894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 smtClean="0"/>
              <a:t>3</a:t>
            </a:r>
            <a:r>
              <a:rPr lang="ko-KR" altLang="en-US" sz="2400" dirty="0" smtClean="0"/>
              <a:t>개 채널로 컬러 클립을 생성한 다음 테스트했을 때 성능은 </a:t>
            </a:r>
            <a:r>
              <a:rPr lang="en-US" altLang="ko-KR" sz="2400" dirty="0" smtClean="0"/>
              <a:t>84.67%</a:t>
            </a:r>
            <a:r>
              <a:rPr lang="ko-KR" altLang="en-US" sz="2400" dirty="0" smtClean="0"/>
              <a:t>로 제안된 방법보다 약 </a:t>
            </a:r>
            <a:r>
              <a:rPr lang="en-US" altLang="ko-KR" sz="2400" dirty="0" smtClean="0"/>
              <a:t>4% </a:t>
            </a:r>
            <a:r>
              <a:rPr lang="ko-KR" altLang="en-US" sz="2400" dirty="0" smtClean="0"/>
              <a:t>더 나쁘다</a:t>
            </a:r>
            <a:r>
              <a:rPr lang="en-US" altLang="ko-KR" sz="24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이것은 아마도 세 개의 생성된 채널의 관계가 자연색 이미지의 </a:t>
            </a:r>
            <a:r>
              <a:rPr lang="en-US" altLang="ko-KR" sz="2400" dirty="0" smtClean="0"/>
              <a:t>RGB </a:t>
            </a:r>
            <a:r>
              <a:rPr lang="ko-KR" altLang="en-US" sz="2400" dirty="0" smtClean="0"/>
              <a:t>채널의 그것과 다르다는 사실 때문일 것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561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Conclusion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본 논문에서는 강력한 </a:t>
            </a:r>
            <a:r>
              <a:rPr lang="ko-KR" altLang="en-US" dirty="0" err="1"/>
              <a:t>피쳐</a:t>
            </a:r>
            <a:r>
              <a:rPr lang="ko-KR" altLang="en-US" dirty="0"/>
              <a:t> 학습과 액션 인식을 위해 골격 시퀀스를 </a:t>
            </a:r>
            <a:r>
              <a:rPr lang="en-US" altLang="ko-KR" dirty="0"/>
              <a:t>3</a:t>
            </a:r>
            <a:r>
              <a:rPr lang="ko-KR" altLang="en-US" dirty="0"/>
              <a:t>개의 비디오 클립으로 변환할 것을 </a:t>
            </a:r>
            <a:r>
              <a:rPr lang="ko-KR" altLang="en-US" dirty="0" smtClean="0"/>
              <a:t>제안</a:t>
            </a:r>
            <a:endParaRPr lang="en-US" altLang="ko-KR" dirty="0" smtClean="0"/>
          </a:p>
          <a:p>
            <a:r>
              <a:rPr lang="en-US" altLang="ko-KR" dirty="0"/>
              <a:t>MTLN</a:t>
            </a:r>
            <a:r>
              <a:rPr lang="ko-KR" altLang="en-US" dirty="0"/>
              <a:t>을 제안하여 모든 시간 단계에서 </a:t>
            </a:r>
            <a:r>
              <a:rPr lang="ko-KR" altLang="en-US" dirty="0" err="1"/>
              <a:t>피쳐</a:t>
            </a:r>
            <a:r>
              <a:rPr lang="ko-KR" altLang="en-US" dirty="0"/>
              <a:t> 벡터를 병렬로 학습함으로써 </a:t>
            </a:r>
            <a:r>
              <a:rPr lang="ko-KR" altLang="en-US" dirty="0" err="1"/>
              <a:t>피쳐</a:t>
            </a:r>
            <a:r>
              <a:rPr lang="ko-KR" altLang="en-US" dirty="0"/>
              <a:t> 벡터의 내적 관계를 활용하고 작용 인식을 위한 성능을 </a:t>
            </a:r>
            <a:r>
              <a:rPr lang="ko-KR" altLang="en-US" dirty="0" smtClean="0"/>
              <a:t>개선</a:t>
            </a:r>
            <a:endParaRPr lang="en-US" altLang="ko-KR" dirty="0" smtClean="0"/>
          </a:p>
          <a:p>
            <a:r>
              <a:rPr lang="en-US" altLang="ko-KR" dirty="0"/>
              <a:t>NTU RGB+D </a:t>
            </a:r>
            <a:r>
              <a:rPr lang="ko-KR" altLang="en-US" dirty="0"/>
              <a:t>데이터 집합</a:t>
            </a:r>
            <a:r>
              <a:rPr lang="en-US" altLang="ko-KR" dirty="0"/>
              <a:t>, SBU </a:t>
            </a:r>
            <a:r>
              <a:rPr lang="ko-KR" altLang="en-US" dirty="0" err="1"/>
              <a:t>키넥트</a:t>
            </a:r>
            <a:r>
              <a:rPr lang="ko-KR" altLang="en-US" dirty="0"/>
              <a:t> 상호작용 데이터 집합</a:t>
            </a:r>
            <a:r>
              <a:rPr lang="en-US" altLang="ko-KR" dirty="0"/>
              <a:t>, CMU </a:t>
            </a:r>
            <a:r>
              <a:rPr lang="ko-KR" altLang="en-US" dirty="0"/>
              <a:t>데이터 집합 등 </a:t>
            </a:r>
            <a:r>
              <a:rPr lang="en-US" altLang="ko-KR" dirty="0"/>
              <a:t>3</a:t>
            </a:r>
            <a:r>
              <a:rPr lang="ko-KR" altLang="en-US" dirty="0"/>
              <a:t>가지 데이터 집합에서 제안 방법을 </a:t>
            </a:r>
            <a:r>
              <a:rPr lang="ko-KR" altLang="en-US" dirty="0" smtClean="0"/>
              <a:t>테스트</a:t>
            </a:r>
            <a:endParaRPr lang="en-US" altLang="ko-KR" dirty="0" smtClean="0"/>
          </a:p>
          <a:p>
            <a:r>
              <a:rPr lang="en-US" altLang="ko-KR" dirty="0" err="1"/>
              <a:t>Ke</a:t>
            </a:r>
            <a:r>
              <a:rPr lang="en-US" altLang="ko-KR" dirty="0"/>
              <a:t>, </a:t>
            </a:r>
            <a:r>
              <a:rPr lang="en-US" altLang="ko-KR" dirty="0" err="1"/>
              <a:t>Qiuhong</a:t>
            </a:r>
            <a:r>
              <a:rPr lang="en-US" altLang="ko-KR" dirty="0"/>
              <a:t>, et al. "A new representation of skeleton sequences for 3d action recognition." </a:t>
            </a:r>
            <a:r>
              <a:rPr lang="en-US" altLang="ko-KR" i="1" dirty="0"/>
              <a:t>Proceedings of the IEEE conference on computer vision and pattern recognition</a:t>
            </a:r>
            <a:r>
              <a:rPr lang="en-US" altLang="ko-KR" dirty="0"/>
              <a:t>. 2017.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0594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409</Words>
  <Application>Microsoft Office PowerPoint</Application>
  <PresentationFormat>와이드스크린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Abstract</vt:lpstr>
      <vt:lpstr>1. Introduction</vt:lpstr>
      <vt:lpstr>1. Introduction</vt:lpstr>
      <vt:lpstr>3. Proposed Method</vt:lpstr>
      <vt:lpstr>3.1. Clip Generation</vt:lpstr>
      <vt:lpstr>3.2.2 Multi-Task Learning Network (MTLN)</vt:lpstr>
      <vt:lpstr>4.2. Implementation Details</vt:lpstr>
      <vt:lpstr>5.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k jh</cp:lastModifiedBy>
  <cp:revision>29</cp:revision>
  <dcterms:created xsi:type="dcterms:W3CDTF">2020-07-27T05:42:59Z</dcterms:created>
  <dcterms:modified xsi:type="dcterms:W3CDTF">2020-07-29T02:48:46Z</dcterms:modified>
</cp:coreProperties>
</file>