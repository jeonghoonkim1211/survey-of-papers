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78" autoAdjust="0"/>
  </p:normalViewPr>
  <p:slideViewPr>
    <p:cSldViewPr snapToGrid="0">
      <p:cViewPr varScale="1">
        <p:scale>
          <a:sx n="73" d="100"/>
          <a:sy n="73" d="100"/>
        </p:scale>
        <p:origin x="7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64971-0F24-46B1-BF27-7582AF5848B8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D22E3-46FB-4B71-8537-6ECFDC7EF9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76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9D22E3-46FB-4B71-8537-6ECFDC7EF9A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939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66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4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591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807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2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44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89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4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51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920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92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3E09A-66AA-45DC-A989-E41BD19E1E25}" type="datetimeFigureOut">
              <a:rPr lang="ko-KR" altLang="en-US" smtClean="0"/>
              <a:t>2020-07-30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EAB38-1898-4395-9694-C4D3A965E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53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853730"/>
            <a:ext cx="804862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24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Abstract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사람의 </a:t>
            </a:r>
            <a:r>
              <a:rPr lang="ko-KR" altLang="en-US" sz="2400" dirty="0" smtClean="0"/>
              <a:t>움직임으로 </a:t>
            </a:r>
            <a:r>
              <a:rPr lang="ko-KR" altLang="en-US" sz="2400" dirty="0"/>
              <a:t>마이크로 도플러 </a:t>
            </a:r>
            <a:r>
              <a:rPr lang="ko-KR" altLang="en-US" sz="2400" dirty="0" err="1"/>
              <a:t>시그니처에</a:t>
            </a:r>
            <a:r>
              <a:rPr lang="ko-KR" altLang="en-US" sz="2400" dirty="0"/>
              <a:t> 기초한 사람 식별을 위한 초음파 </a:t>
            </a:r>
            <a:r>
              <a:rPr lang="ko-KR" altLang="en-US" sz="2400" dirty="0" err="1"/>
              <a:t>임펄스</a:t>
            </a:r>
            <a:r>
              <a:rPr lang="ko-KR" altLang="en-US" sz="2400" dirty="0"/>
              <a:t> 레이더의 사용을 </a:t>
            </a:r>
            <a:r>
              <a:rPr lang="ko-KR" altLang="en-US" sz="2400" dirty="0" smtClean="0"/>
              <a:t>제안</a:t>
            </a:r>
            <a:endParaRPr lang="en-US" altLang="ko-KR" sz="2400" dirty="0" smtClean="0"/>
          </a:p>
          <a:p>
            <a:r>
              <a:rPr lang="ko-KR" altLang="en-US" sz="2400" dirty="0"/>
              <a:t>계층적 특징을 이용하기 위해 새로운 </a:t>
            </a:r>
            <a:r>
              <a:rPr lang="en-US" altLang="ko-KR" sz="2400" dirty="0" smtClean="0"/>
              <a:t>convolutional neural network(CNN) </a:t>
            </a:r>
            <a:r>
              <a:rPr lang="ko-KR" altLang="en-US" sz="2400" dirty="0"/>
              <a:t>아키텍처를 </a:t>
            </a:r>
            <a:r>
              <a:rPr lang="ko-KR" altLang="en-US" sz="2400" dirty="0" smtClean="0"/>
              <a:t>제안</a:t>
            </a:r>
            <a:endParaRPr lang="en-US" altLang="ko-KR" sz="2400" dirty="0" smtClean="0"/>
          </a:p>
          <a:p>
            <a:r>
              <a:rPr lang="ko-KR" altLang="en-US" sz="2400" dirty="0"/>
              <a:t>실험 결과는 선택된 여섯 가지 동작의 마이크로 도플러 </a:t>
            </a:r>
            <a:r>
              <a:rPr lang="ko-KR" altLang="en-US" sz="2400" dirty="0" err="1" smtClean="0"/>
              <a:t>시그니처를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활용함으로써 사람 식별의 임무를 정확하게 </a:t>
            </a:r>
            <a:r>
              <a:rPr lang="ko-KR" altLang="en-US" sz="2400" dirty="0" smtClean="0"/>
              <a:t>달성</a:t>
            </a:r>
            <a:endParaRPr lang="en-US" altLang="ko-KR" sz="2400" dirty="0" smtClean="0"/>
          </a:p>
          <a:p>
            <a:r>
              <a:rPr lang="ko-KR" altLang="en-US" sz="2400" dirty="0"/>
              <a:t>특히 사람을 식별하기 위해 </a:t>
            </a:r>
            <a:r>
              <a:rPr lang="en-US" altLang="ko-KR" sz="2400" dirty="0" smtClean="0"/>
              <a:t>＂</a:t>
            </a:r>
            <a:r>
              <a:rPr lang="ko-KR" altLang="en-US" sz="2400" dirty="0" smtClean="0"/>
              <a:t>뛰기</a:t>
            </a:r>
            <a:r>
              <a:rPr lang="en-US" altLang="ko-KR" sz="2400" dirty="0" smtClean="0"/>
              <a:t>"</a:t>
            </a:r>
            <a:r>
              <a:rPr lang="ko-KR" altLang="en-US" sz="2400" dirty="0"/>
              <a:t>의 움직임이 채택될 경우</a:t>
            </a:r>
            <a:r>
              <a:rPr lang="en-US" altLang="ko-KR" sz="2400" dirty="0"/>
              <a:t>, </a:t>
            </a:r>
            <a:r>
              <a:rPr lang="ko-KR" altLang="en-US" sz="2400" dirty="0"/>
              <a:t>모델은 </a:t>
            </a:r>
            <a:r>
              <a:rPr lang="en-US" altLang="ko-KR" sz="2400" dirty="0"/>
              <a:t>15</a:t>
            </a:r>
            <a:r>
              <a:rPr lang="ko-KR" altLang="en-US" sz="2400" dirty="0"/>
              <a:t>명의 식별에 대해 </a:t>
            </a:r>
            <a:r>
              <a:rPr lang="en-US" altLang="ko-KR" sz="2400" dirty="0"/>
              <a:t>95.21%</a:t>
            </a:r>
            <a:r>
              <a:rPr lang="ko-KR" altLang="en-US" sz="2400" dirty="0"/>
              <a:t>의 정확도를 </a:t>
            </a:r>
            <a:r>
              <a:rPr lang="ko-KR" altLang="en-US" sz="2400" dirty="0" smtClean="0"/>
              <a:t>달성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altLang="ko-KR" sz="2400" dirty="0" smtClean="0"/>
              <a:t>Index Terms— Convolutional neural network (CNN), </a:t>
            </a:r>
            <a:r>
              <a:rPr lang="en-US" altLang="ko-KR" sz="2400" dirty="0" err="1" smtClean="0"/>
              <a:t>microDoppler</a:t>
            </a:r>
            <a:r>
              <a:rPr lang="en-US" altLang="ko-KR" sz="2400" dirty="0" smtClean="0"/>
              <a:t>,</a:t>
            </a:r>
          </a:p>
          <a:p>
            <a:pPr marL="0" indent="0">
              <a:buNone/>
            </a:pPr>
            <a:r>
              <a:rPr lang="en-US" altLang="ko-KR" sz="2400" dirty="0" smtClean="0"/>
              <a:t>person identification, </a:t>
            </a:r>
            <a:r>
              <a:rPr lang="en-US" altLang="ko-KR" sz="2400" dirty="0" err="1" smtClean="0"/>
              <a:t>ultrawideband</a:t>
            </a:r>
            <a:r>
              <a:rPr lang="en-US" altLang="ko-KR" sz="2400" dirty="0" smtClean="0"/>
              <a:t> (UWB) impulse radar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8448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개인 신원은 감시와 보안 분야에서 중추적인 </a:t>
            </a:r>
            <a:r>
              <a:rPr lang="ko-KR" altLang="en-US" sz="2400" dirty="0" smtClean="0"/>
              <a:t>역할</a:t>
            </a:r>
            <a:endParaRPr lang="en-US" altLang="ko-KR" sz="2400" dirty="0" smtClean="0"/>
          </a:p>
          <a:p>
            <a:r>
              <a:rPr lang="ko-KR" altLang="en-US" sz="2400" dirty="0"/>
              <a:t>개인은 동작의 특성에 의해 식별될 수 있다는 것이 </a:t>
            </a:r>
            <a:r>
              <a:rPr lang="ko-KR" altLang="en-US" sz="2400" dirty="0" smtClean="0"/>
              <a:t>입증</a:t>
            </a:r>
            <a:r>
              <a:rPr lang="en-US" altLang="ko-KR" sz="2400" dirty="0" smtClean="0"/>
              <a:t>[1]</a:t>
            </a:r>
          </a:p>
          <a:p>
            <a:r>
              <a:rPr lang="ko-KR" altLang="en-US" sz="2400" dirty="0"/>
              <a:t>레이더에 마이크로 도플러 효과가 나타나면서 레이더 센서는 움직이는 표적에 </a:t>
            </a:r>
            <a:r>
              <a:rPr lang="ko-KR" altLang="en-US" sz="2400" dirty="0" smtClean="0"/>
              <a:t>민감</a:t>
            </a:r>
            <a:endParaRPr lang="en-US" altLang="ko-KR" sz="2400" dirty="0" smtClean="0"/>
          </a:p>
          <a:p>
            <a:r>
              <a:rPr lang="ko-KR" altLang="en-US" sz="2400" dirty="0"/>
              <a:t>마이크로 도플러 </a:t>
            </a:r>
            <a:r>
              <a:rPr lang="ko-KR" altLang="en-US" sz="2400" dirty="0" err="1" smtClean="0"/>
              <a:t>시그니쳐는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인간 표적과 레이더 안테나 사이의 상대적 움직임에 의해 </a:t>
            </a:r>
            <a:r>
              <a:rPr lang="ko-KR" altLang="en-US" sz="2400" dirty="0" smtClean="0"/>
              <a:t>발생</a:t>
            </a:r>
            <a:endParaRPr lang="en-US" altLang="ko-KR" sz="2400" dirty="0" smtClean="0"/>
          </a:p>
          <a:p>
            <a:r>
              <a:rPr lang="en-US" altLang="ko-KR" sz="2400" dirty="0" smtClean="0"/>
              <a:t>CNN</a:t>
            </a:r>
            <a:r>
              <a:rPr lang="ko-KR" altLang="en-US" sz="2400" dirty="0" smtClean="0"/>
              <a:t>을 </a:t>
            </a:r>
            <a:r>
              <a:rPr lang="ko-KR" altLang="en-US" sz="2400" dirty="0"/>
              <a:t>채용하여 실외 환경에서 레이더 기반 인간 식별 시스템을 </a:t>
            </a:r>
            <a:r>
              <a:rPr lang="ko-KR" altLang="en-US" sz="2400" dirty="0" smtClean="0"/>
              <a:t>개발</a:t>
            </a:r>
            <a:endParaRPr lang="en-US" altLang="ko-KR" sz="2400" dirty="0" smtClean="0"/>
          </a:p>
          <a:p>
            <a:r>
              <a:rPr lang="ko-KR" altLang="en-US" sz="2400" dirty="0"/>
              <a:t>인간 걸음걸이의 마이크로 도플러 스펙트럼을 이용한 개인 </a:t>
            </a:r>
            <a:r>
              <a:rPr lang="ko-KR" altLang="en-US" sz="2400" dirty="0" err="1"/>
              <a:t>식별용</a:t>
            </a:r>
            <a:r>
              <a:rPr lang="ko-KR" altLang="en-US" sz="2400" dirty="0"/>
              <a:t> 파이프라인을 </a:t>
            </a:r>
            <a:r>
              <a:rPr lang="ko-KR" altLang="en-US" sz="2400" dirty="0" smtClean="0"/>
              <a:t>제시</a:t>
            </a:r>
            <a:endParaRPr lang="en-US" altLang="ko-KR" sz="2400" dirty="0" smtClean="0"/>
          </a:p>
          <a:p>
            <a:r>
              <a:rPr lang="ko-KR" altLang="en-US" sz="2400" dirty="0"/>
              <a:t>원시 데이터는 사람 식별을 위해 마이크로 도플러 스펙트럼으로 변환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148" y="155682"/>
            <a:ext cx="2426182" cy="200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6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MOTIVATION AND OBSERVATIONS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AutoNum type="alphaUcPeriod"/>
            </a:pPr>
            <a:r>
              <a:rPr lang="en-US" altLang="ko-KR" sz="2000" dirty="0" smtClean="0"/>
              <a:t>Motivation</a:t>
            </a:r>
          </a:p>
          <a:p>
            <a:r>
              <a:rPr lang="ko-KR" altLang="en-US" sz="2000" dirty="0"/>
              <a:t>인간의 걸음걸이는 간단히 </a:t>
            </a:r>
            <a:r>
              <a:rPr lang="en-US" altLang="ko-KR" sz="2000" dirty="0"/>
              <a:t>"</a:t>
            </a:r>
            <a:r>
              <a:rPr lang="ko-KR" altLang="en-US" sz="2000" dirty="0"/>
              <a:t>보행 방식</a:t>
            </a:r>
            <a:r>
              <a:rPr lang="en-US" altLang="ko-KR" sz="2000" dirty="0"/>
              <a:t>"</a:t>
            </a:r>
            <a:r>
              <a:rPr lang="ko-KR" altLang="en-US" sz="2000" dirty="0"/>
              <a:t>으로 정의할 수 </a:t>
            </a:r>
            <a:r>
              <a:rPr lang="ko-KR" altLang="en-US" sz="2000" dirty="0" smtClean="0"/>
              <a:t>있음</a:t>
            </a:r>
            <a:endParaRPr lang="en-US" altLang="ko-KR" sz="2000" dirty="0" smtClean="0"/>
          </a:p>
          <a:p>
            <a:r>
              <a:rPr lang="ko-KR" altLang="en-US" sz="2000" dirty="0"/>
              <a:t>개인들 사이에서 같은 운동의 다양성을 </a:t>
            </a:r>
            <a:r>
              <a:rPr lang="ko-KR" altLang="en-US" sz="2000" dirty="0" smtClean="0"/>
              <a:t>초래</a:t>
            </a:r>
            <a:endParaRPr lang="en-US" altLang="ko-KR" sz="2000" dirty="0" smtClean="0"/>
          </a:p>
          <a:p>
            <a:r>
              <a:rPr lang="ko-KR" altLang="en-US" sz="2000" dirty="0" smtClean="0"/>
              <a:t>걸음걸이 기반 </a:t>
            </a:r>
            <a:r>
              <a:rPr lang="ko-KR" altLang="en-US" sz="2000" dirty="0"/>
              <a:t>개인 식별은 보행 중 사지 움직임에 중점을 둔 개인의 신체적 차이를 </a:t>
            </a:r>
            <a:r>
              <a:rPr lang="ko-KR" altLang="en-US" sz="2000" dirty="0" smtClean="0"/>
              <a:t>이용</a:t>
            </a:r>
            <a:endParaRPr lang="en-US" altLang="ko-KR" sz="2000" dirty="0" smtClean="0"/>
          </a:p>
          <a:p>
            <a:r>
              <a:rPr lang="ko-KR" altLang="en-US" sz="2000" dirty="0"/>
              <a:t>전체 인체가 대략적으로 몇 개의 강직하게 연결된 세그먼트의 조합으로 </a:t>
            </a:r>
            <a:r>
              <a:rPr lang="ko-KR" altLang="en-US" sz="2000" dirty="0" err="1" smtClean="0"/>
              <a:t>간주될때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개인 간의 차이는 각 세그먼트에서 도플러 이동의 불일치로 </a:t>
            </a:r>
            <a:r>
              <a:rPr lang="ko-KR" altLang="en-US" sz="2000" dirty="0" smtClean="0"/>
              <a:t>설명</a:t>
            </a:r>
            <a:endParaRPr lang="en-US" altLang="ko-KR" sz="2000" dirty="0" smtClean="0"/>
          </a:p>
          <a:p>
            <a:r>
              <a:rPr lang="ko-KR" altLang="en-US" sz="2000" dirty="0"/>
              <a:t>이러한 것</a:t>
            </a:r>
            <a:r>
              <a:rPr lang="ko-KR" altLang="en-US" sz="2000" dirty="0" smtClean="0"/>
              <a:t>들은 </a:t>
            </a:r>
            <a:r>
              <a:rPr lang="ko-KR" altLang="en-US" sz="2000" dirty="0"/>
              <a:t>보통 마이크로 도플러 </a:t>
            </a:r>
            <a:r>
              <a:rPr lang="ko-KR" altLang="en-US" sz="2000" dirty="0" err="1" smtClean="0"/>
              <a:t>시그니쳐라고</a:t>
            </a:r>
            <a:r>
              <a:rPr lang="ko-KR" altLang="en-US" sz="2000" dirty="0" smtClean="0"/>
              <a:t> 불림</a:t>
            </a:r>
            <a:endParaRPr lang="en-US" altLang="ko-KR" sz="2000" dirty="0" smtClean="0"/>
          </a:p>
          <a:p>
            <a:r>
              <a:rPr lang="ko-KR" altLang="en-US" sz="2000" dirty="0" smtClean="0"/>
              <a:t>또한 </a:t>
            </a:r>
            <a:r>
              <a:rPr lang="ko-KR" altLang="en-US" sz="2000" dirty="0"/>
              <a:t>걸음걸이의 마이크로 도플러 </a:t>
            </a:r>
            <a:r>
              <a:rPr lang="ko-KR" altLang="en-US" sz="2000" dirty="0" err="1"/>
              <a:t>서명뿐만</a:t>
            </a:r>
            <a:r>
              <a:rPr lang="ko-KR" altLang="en-US" sz="2000" dirty="0"/>
              <a:t> 아니라 다른 동작의 서명도 충분한 개인 정보를 </a:t>
            </a:r>
            <a:r>
              <a:rPr lang="ko-KR" altLang="en-US" sz="2000" dirty="0" smtClean="0"/>
              <a:t>간직</a:t>
            </a:r>
            <a:endParaRPr lang="en-US" altLang="ko-KR" sz="2000" dirty="0" smtClean="0"/>
          </a:p>
          <a:p>
            <a:r>
              <a:rPr lang="ko-KR" altLang="en-US" sz="2000" dirty="0"/>
              <a:t>예를 들어</a:t>
            </a:r>
            <a:r>
              <a:rPr lang="en-US" altLang="ko-KR" sz="2000" dirty="0"/>
              <a:t>, </a:t>
            </a:r>
            <a:r>
              <a:rPr lang="ko-KR" altLang="en-US" sz="2000" dirty="0"/>
              <a:t>과도한 체중을 운반하는 사람은 </a:t>
            </a:r>
            <a:r>
              <a:rPr lang="ko-KR" altLang="en-US" sz="2000" dirty="0" smtClean="0"/>
              <a:t>보통 </a:t>
            </a:r>
            <a:r>
              <a:rPr lang="ko-KR" altLang="en-US" sz="2000" dirty="0"/>
              <a:t>발뒤꿈치가 아닌 발바닥 전체로 땅을 쳐서 몸의 균형을 </a:t>
            </a:r>
            <a:r>
              <a:rPr lang="ko-KR" altLang="en-US" sz="2000" dirty="0" smtClean="0"/>
              <a:t>맞추지만 달리기를 하는 동안은 그렇지 않음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95082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MOTIVATION AND OBSERVATIONS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smtClean="0"/>
              <a:t>B. Observations</a:t>
            </a:r>
          </a:p>
          <a:p>
            <a:r>
              <a:rPr lang="en-US" altLang="ko-KR" sz="2000" dirty="0"/>
              <a:t>UWB </a:t>
            </a:r>
            <a:r>
              <a:rPr lang="ko-KR" altLang="en-US" sz="2000" dirty="0"/>
              <a:t>레이더는 </a:t>
            </a:r>
            <a:r>
              <a:rPr lang="en-US" altLang="ko-KR" sz="2000" dirty="0"/>
              <a:t>4.3GHz</a:t>
            </a:r>
            <a:r>
              <a:rPr lang="ko-KR" altLang="en-US" sz="2000" dirty="0"/>
              <a:t>에서 작동하며</a:t>
            </a:r>
            <a:r>
              <a:rPr lang="en-US" altLang="ko-KR" sz="2000" dirty="0"/>
              <a:t>, </a:t>
            </a:r>
            <a:r>
              <a:rPr lang="ko-KR" altLang="en-US" sz="2000" dirty="0"/>
              <a:t>펄스 반복 주파수</a:t>
            </a:r>
            <a:r>
              <a:rPr lang="en-US" altLang="ko-KR" sz="2000" dirty="0"/>
              <a:t>(PRF)</a:t>
            </a:r>
            <a:r>
              <a:rPr lang="ko-KR" altLang="en-US" sz="2000" dirty="0"/>
              <a:t>는 </a:t>
            </a:r>
            <a:r>
              <a:rPr lang="en-US" altLang="ko-KR" sz="2000" dirty="0" smtClean="0"/>
              <a:t>368Hz</a:t>
            </a:r>
          </a:p>
          <a:p>
            <a:r>
              <a:rPr lang="ko-KR" altLang="en-US" sz="2000" dirty="0"/>
              <a:t>이 측정은 여성 </a:t>
            </a:r>
            <a:r>
              <a:rPr lang="en-US" altLang="ko-KR" sz="2000" dirty="0"/>
              <a:t>5</a:t>
            </a:r>
            <a:r>
              <a:rPr lang="ko-KR" altLang="en-US" sz="2000" dirty="0"/>
              <a:t>명과 남성 </a:t>
            </a:r>
            <a:r>
              <a:rPr lang="en-US" altLang="ko-KR" sz="2000" dirty="0"/>
              <a:t>10</a:t>
            </a:r>
            <a:r>
              <a:rPr lang="ko-KR" altLang="en-US" sz="2000" dirty="0"/>
              <a:t>명을 포함한 </a:t>
            </a:r>
            <a:r>
              <a:rPr lang="en-US" altLang="ko-KR" sz="2000" dirty="0"/>
              <a:t>15</a:t>
            </a:r>
            <a:r>
              <a:rPr lang="ko-KR" altLang="en-US" sz="2000" dirty="0"/>
              <a:t>명으로부터 </a:t>
            </a:r>
            <a:r>
              <a:rPr lang="ko-KR" altLang="en-US" sz="2000" dirty="0" smtClean="0"/>
              <a:t>이루어짐</a:t>
            </a:r>
            <a:endParaRPr lang="en-US" altLang="ko-KR" sz="2000" dirty="0" smtClean="0"/>
          </a:p>
          <a:p>
            <a:r>
              <a:rPr lang="en-US" altLang="ko-KR" sz="2000" dirty="0"/>
              <a:t>6</a:t>
            </a:r>
            <a:r>
              <a:rPr lang="ko-KR" altLang="en-US" sz="2000" dirty="0"/>
              <a:t>가지 동작</a:t>
            </a:r>
            <a:r>
              <a:rPr lang="en-US" altLang="ko-KR" sz="2000" dirty="0"/>
              <a:t>, </a:t>
            </a:r>
            <a:r>
              <a:rPr lang="ko-KR" altLang="en-US" sz="2000" dirty="0"/>
              <a:t>즉 전진 점프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기어다니기</a:t>
            </a:r>
            <a:r>
              <a:rPr lang="en-US" altLang="ko-KR" sz="2000" dirty="0"/>
              <a:t>, </a:t>
            </a:r>
            <a:r>
              <a:rPr lang="ko-KR" altLang="en-US" sz="2000" dirty="0" smtClean="0"/>
              <a:t>살금살금 걷기</a:t>
            </a:r>
            <a:r>
              <a:rPr lang="en-US" altLang="ko-KR" sz="2000" dirty="0" smtClean="0"/>
              <a:t>, </a:t>
            </a:r>
            <a:r>
              <a:rPr lang="ko-KR" altLang="en-US" sz="2000" dirty="0"/>
              <a:t>걷기</a:t>
            </a:r>
            <a:r>
              <a:rPr lang="en-US" altLang="ko-KR" sz="2000" dirty="0"/>
              <a:t>, </a:t>
            </a:r>
            <a:r>
              <a:rPr lang="ko-KR" altLang="en-US" sz="2000" dirty="0" err="1" smtClean="0"/>
              <a:t>권투동작</a:t>
            </a:r>
            <a:r>
              <a:rPr lang="en-US" altLang="ko-KR" sz="2000" dirty="0" smtClean="0"/>
              <a:t>, </a:t>
            </a:r>
            <a:r>
              <a:rPr lang="ko-KR" altLang="en-US" sz="2000" dirty="0"/>
              <a:t>달리기 등이 </a:t>
            </a:r>
            <a:r>
              <a:rPr lang="ko-KR" altLang="en-US" sz="2000" dirty="0" smtClean="0"/>
              <a:t>고려</a:t>
            </a:r>
            <a:endParaRPr lang="en-US" altLang="ko-KR" sz="2000" dirty="0" smtClean="0"/>
          </a:p>
          <a:p>
            <a:r>
              <a:rPr lang="ko-KR" altLang="en-US" sz="2000" dirty="0"/>
              <a:t>각각의 동작은 적어도 </a:t>
            </a:r>
            <a:r>
              <a:rPr lang="en-US" altLang="ko-KR" sz="2000" dirty="0"/>
              <a:t>3</a:t>
            </a:r>
            <a:r>
              <a:rPr lang="ko-KR" altLang="en-US" sz="2000" dirty="0"/>
              <a:t>초간 </a:t>
            </a:r>
            <a:r>
              <a:rPr lang="ko-KR" altLang="en-US" sz="2000" dirty="0" smtClean="0"/>
              <a:t>지속</a:t>
            </a:r>
            <a:endParaRPr lang="en-US" altLang="ko-KR" sz="2000" dirty="0" smtClean="0"/>
          </a:p>
          <a:p>
            <a:r>
              <a:rPr lang="en-US" altLang="ko-KR" sz="2000" dirty="0"/>
              <a:t>WB </a:t>
            </a:r>
            <a:r>
              <a:rPr lang="ko-KR" altLang="en-US" sz="2000" dirty="0"/>
              <a:t>레이더는 </a:t>
            </a:r>
            <a:r>
              <a:rPr lang="en-US" altLang="ko-KR" sz="2000" dirty="0"/>
              <a:t>1.2m </a:t>
            </a:r>
            <a:r>
              <a:rPr lang="ko-KR" altLang="en-US" sz="2000" dirty="0"/>
              <a:t>높이에 배치돼 피사체로부터 </a:t>
            </a:r>
            <a:r>
              <a:rPr lang="en-US" altLang="ko-KR" sz="2000" dirty="0"/>
              <a:t>5m </a:t>
            </a:r>
            <a:r>
              <a:rPr lang="ko-KR" altLang="en-US" sz="2000" dirty="0" smtClean="0"/>
              <a:t>떨어져 있음</a:t>
            </a:r>
            <a:endParaRPr lang="en-US" altLang="ko-KR" sz="2000" dirty="0" smtClean="0"/>
          </a:p>
          <a:p>
            <a:r>
              <a:rPr lang="en-US" altLang="ko-KR" sz="2000" dirty="0" smtClean="0"/>
              <a:t>15 (persons) × 15 (times) × 6 (motions) = 1350 trials</a:t>
            </a:r>
          </a:p>
          <a:p>
            <a:r>
              <a:rPr lang="en-US" altLang="ko-KR" sz="2000" dirty="0"/>
              <a:t>1</a:t>
            </a:r>
            <a:r>
              <a:rPr lang="ko-KR" altLang="en-US" sz="2000" dirty="0"/>
              <a:t>인당 </a:t>
            </a:r>
            <a:r>
              <a:rPr lang="ko-KR" altLang="en-US" sz="2000" dirty="0" err="1"/>
              <a:t>운동당</a:t>
            </a:r>
            <a:r>
              <a:rPr lang="ko-KR" altLang="en-US" sz="2000" dirty="0"/>
              <a:t> 약 </a:t>
            </a:r>
            <a:r>
              <a:rPr lang="en-US" altLang="ko-KR" sz="2000" dirty="0"/>
              <a:t>3000</a:t>
            </a:r>
            <a:r>
              <a:rPr lang="ko-KR" altLang="en-US" sz="2000" dirty="0"/>
              <a:t>개의 스펙트럼이 최종적으로 생성</a:t>
            </a:r>
            <a:endParaRPr lang="en-US" altLang="ko-KR" sz="2000" dirty="0" smtClean="0"/>
          </a:p>
          <a:p>
            <a:r>
              <a:rPr lang="ko-KR" altLang="en-US" sz="2000" dirty="0"/>
              <a:t>마이크로 도플러 스펙트럼은 평균 배경 </a:t>
            </a:r>
            <a:r>
              <a:rPr lang="ko-KR" altLang="en-US" sz="2000" dirty="0" smtClean="0"/>
              <a:t>감산 </a:t>
            </a:r>
            <a:r>
              <a:rPr lang="en-US" altLang="ko-KR" sz="2000" dirty="0" smtClean="0"/>
              <a:t>-&gt; </a:t>
            </a:r>
            <a:r>
              <a:rPr lang="ko-KR" altLang="en-US" sz="2000" dirty="0"/>
              <a:t> </a:t>
            </a:r>
            <a:r>
              <a:rPr lang="en-US" altLang="ko-KR" sz="2000" dirty="0"/>
              <a:t>1024 </a:t>
            </a:r>
            <a:r>
              <a:rPr lang="ko-KR" altLang="en-US" sz="2000" dirty="0"/>
              <a:t>포인트 단시간 </a:t>
            </a:r>
            <a:r>
              <a:rPr lang="ko-KR" altLang="en-US" sz="2000" dirty="0" err="1"/>
              <a:t>푸리에</a:t>
            </a:r>
            <a:r>
              <a:rPr lang="ko-KR" altLang="en-US" sz="2000" dirty="0"/>
              <a:t> 변환</a:t>
            </a:r>
            <a:r>
              <a:rPr lang="en-US" altLang="ko-KR" sz="2000" dirty="0"/>
              <a:t>(STFT</a:t>
            </a:r>
            <a:r>
              <a:rPr lang="en-US" altLang="ko-KR" sz="2000" dirty="0" smtClean="0"/>
              <a:t>)-&gt; </a:t>
            </a:r>
            <a:r>
              <a:rPr lang="en-US" altLang="ko-KR" sz="2000" dirty="0"/>
              <a:t>0.2s</a:t>
            </a:r>
            <a:r>
              <a:rPr lang="ko-KR" altLang="en-US" sz="2000" dirty="0"/>
              <a:t>의 일관된 펄스 간격</a:t>
            </a:r>
            <a:r>
              <a:rPr lang="en-US" altLang="ko-KR" sz="2000" dirty="0"/>
              <a:t>(CPI)</a:t>
            </a:r>
            <a:r>
              <a:rPr lang="ko-KR" altLang="en-US" sz="2000" dirty="0"/>
              <a:t>을 갖는 </a:t>
            </a:r>
            <a:r>
              <a:rPr lang="en-US" altLang="ko-KR" sz="2000" dirty="0"/>
              <a:t>1.2s</a:t>
            </a:r>
            <a:r>
              <a:rPr lang="ko-KR" altLang="en-US" sz="2000" dirty="0"/>
              <a:t>의 저속 윈도우 </a:t>
            </a:r>
            <a:r>
              <a:rPr lang="ko-KR" altLang="en-US" sz="2000" dirty="0" err="1"/>
              <a:t>인터셉션을</a:t>
            </a:r>
            <a:r>
              <a:rPr lang="ko-KR" altLang="en-US" sz="2000" dirty="0"/>
              <a:t> 포함한 여러 작업</a:t>
            </a:r>
          </a:p>
        </p:txBody>
      </p:sp>
    </p:spTree>
    <p:extLst>
      <p:ext uri="{BB962C8B-B14F-4D97-AF65-F5344CB8AC3E}">
        <p14:creationId xmlns:p14="http://schemas.microsoft.com/office/powerpoint/2010/main" val="367774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7644"/>
            <a:ext cx="5362575" cy="50673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MOTIVATION AND OBSERVATIONS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62576" y="1825625"/>
            <a:ext cx="5991224" cy="435133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다양성은 주로 키와 몸무게를 포함한 생리적 특성에 의해 </a:t>
            </a:r>
            <a:r>
              <a:rPr lang="ko-KR" altLang="en-US" sz="2400" dirty="0" smtClean="0"/>
              <a:t>영향을 받음</a:t>
            </a:r>
            <a:endParaRPr lang="en-US" altLang="ko-KR" sz="2400" dirty="0" smtClean="0"/>
          </a:p>
          <a:p>
            <a:r>
              <a:rPr lang="ko-KR" altLang="en-US" sz="2400" dirty="0"/>
              <a:t>또한 다양성은 개인의 성장기 생활에서 배양되는 개인의 운동 </a:t>
            </a:r>
            <a:r>
              <a:rPr lang="ko-KR" altLang="en-US" sz="2400" dirty="0" smtClean="0"/>
              <a:t>방식에서 파생되기도 함</a:t>
            </a:r>
            <a:endParaRPr lang="en-US" altLang="ko-KR" sz="2400" dirty="0" smtClean="0"/>
          </a:p>
          <a:p>
            <a:r>
              <a:rPr lang="ko-KR" altLang="en-US" sz="2400" dirty="0"/>
              <a:t>모션 분류 모델과 달리</a:t>
            </a:r>
            <a:r>
              <a:rPr lang="en-US" altLang="ko-KR" sz="2400" dirty="0"/>
              <a:t>, </a:t>
            </a:r>
            <a:r>
              <a:rPr lang="ko-KR" altLang="en-US" sz="2400" dirty="0"/>
              <a:t>마이크로 도플러 기반 개인 식별 모델은 </a:t>
            </a:r>
            <a:r>
              <a:rPr lang="ko-KR" altLang="en-US" sz="2400" dirty="0" smtClean="0"/>
              <a:t>모션을 누가 했는지를 목적으로 함 </a:t>
            </a:r>
            <a:r>
              <a:rPr lang="en-US" altLang="ko-KR" sz="2400" dirty="0" smtClean="0"/>
              <a:t>(termed “fine-grained” classification)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5226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5" y="1301612"/>
            <a:ext cx="10741678" cy="293421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smtClean="0"/>
              <a:t>III. PERSON IDENTIFICATION USING MICRO-DOPPLER ANALYSIS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4482962"/>
            <a:ext cx="10515600" cy="188802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CNN </a:t>
            </a:r>
            <a:r>
              <a:rPr lang="ko-KR" altLang="en-US" sz="2000" dirty="0" err="1" smtClean="0"/>
              <a:t>아키텍처는</a:t>
            </a:r>
            <a:r>
              <a:rPr lang="ko-KR" altLang="en-US" sz="2000" dirty="0" err="1"/>
              <a:t>각</a:t>
            </a:r>
            <a:r>
              <a:rPr lang="ko-KR" altLang="en-US" sz="2000" dirty="0"/>
              <a:t> 층의 </a:t>
            </a:r>
            <a:r>
              <a:rPr lang="en-US" altLang="ko-KR" sz="2000" dirty="0" smtClean="0"/>
              <a:t>feature</a:t>
            </a:r>
            <a:r>
              <a:rPr lang="ko-KR" altLang="en-US" sz="2000" dirty="0" smtClean="0"/>
              <a:t> </a:t>
            </a:r>
            <a:r>
              <a:rPr lang="ko-KR" altLang="en-US" sz="2000" dirty="0" err="1"/>
              <a:t>맵을</a:t>
            </a:r>
            <a:r>
              <a:rPr lang="ko-KR" altLang="en-US" sz="2000" dirty="0"/>
              <a:t> </a:t>
            </a:r>
            <a:r>
              <a:rPr lang="en-US" altLang="ko-KR" sz="2000" dirty="0"/>
              <a:t>4</a:t>
            </a:r>
            <a:r>
              <a:rPr lang="ko-KR" altLang="en-US" sz="2000" dirty="0"/>
              <a:t>차원 </a:t>
            </a:r>
            <a:r>
              <a:rPr lang="ko-KR" altLang="en-US" sz="2000" dirty="0" err="1"/>
              <a:t>텐서</a:t>
            </a:r>
            <a:r>
              <a:rPr lang="en-US" altLang="ko-KR" sz="2000" dirty="0"/>
              <a:t>(</a:t>
            </a: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/>
              <a:t>높이 </a:t>
            </a:r>
            <a:r>
              <a:rPr lang="en-US" altLang="ko-KR" sz="2000" dirty="0"/>
              <a:t>× </a:t>
            </a:r>
            <a:r>
              <a:rPr lang="ko-KR" altLang="en-US" sz="2000" dirty="0"/>
              <a:t>폭 </a:t>
            </a:r>
            <a:r>
              <a:rPr lang="en-US" altLang="ko-KR" sz="2000" dirty="0"/>
              <a:t>× </a:t>
            </a:r>
            <a:r>
              <a:rPr lang="ko-KR" altLang="en-US" sz="2000" dirty="0"/>
              <a:t>채널 </a:t>
            </a:r>
            <a:r>
              <a:rPr lang="en-US" altLang="ko-KR" sz="2000" dirty="0"/>
              <a:t>× </a:t>
            </a:r>
            <a:r>
              <a:rPr lang="ko-KR" altLang="en-US" sz="2000" dirty="0"/>
              <a:t>배치</a:t>
            </a:r>
            <a:r>
              <a:rPr lang="en-US" altLang="ko-KR" sz="2000" dirty="0"/>
              <a:t>)</a:t>
            </a:r>
            <a:r>
              <a:rPr lang="ko-KR" altLang="en-US" sz="2000" dirty="0"/>
              <a:t>로 고려하여 </a:t>
            </a:r>
            <a:r>
              <a:rPr lang="en-US" altLang="ko-KR" sz="2000" dirty="0"/>
              <a:t>4</a:t>
            </a:r>
            <a:r>
              <a:rPr lang="ko-KR" altLang="en-US" sz="2000" dirty="0"/>
              <a:t>개의 </a:t>
            </a:r>
            <a:r>
              <a:rPr lang="en-US" altLang="ko-KR" sz="2000" dirty="0"/>
              <a:t>3</a:t>
            </a:r>
            <a:r>
              <a:rPr lang="ko-KR" altLang="en-US" sz="2000" dirty="0"/>
              <a:t>차원 </a:t>
            </a:r>
            <a:r>
              <a:rPr lang="ko-KR" altLang="en-US" sz="2000" dirty="0" err="1"/>
              <a:t>텐서</a:t>
            </a:r>
            <a:r>
              <a:rPr lang="en-US" altLang="ko-KR" sz="2000" dirty="0"/>
              <a:t>(AWT)</a:t>
            </a:r>
            <a:r>
              <a:rPr lang="ko-KR" altLang="en-US" sz="2000" dirty="0"/>
              <a:t>를 초래하는 각 치수의 평균을 계산하는데 이를 </a:t>
            </a:r>
            <a:r>
              <a:rPr lang="ko-KR" altLang="en-US" sz="2000" dirty="0" err="1"/>
              <a:t>어댑티브</a:t>
            </a:r>
            <a:r>
              <a:rPr lang="ko-KR" altLang="en-US" sz="2000" dirty="0"/>
              <a:t> 웨이트 </a:t>
            </a:r>
            <a:r>
              <a:rPr lang="ko-KR" altLang="en-US" sz="2000" dirty="0" err="1"/>
              <a:t>텐서</a:t>
            </a:r>
            <a:r>
              <a:rPr lang="en-US" altLang="ko-KR" sz="2000" dirty="0"/>
              <a:t>(AWT)</a:t>
            </a:r>
            <a:r>
              <a:rPr lang="ko-KR" altLang="en-US" sz="2000" dirty="0"/>
              <a:t>라고 </a:t>
            </a:r>
            <a:r>
              <a:rPr lang="ko-KR" altLang="en-US" sz="2000" dirty="0" smtClean="0"/>
              <a:t>함</a:t>
            </a:r>
            <a:endParaRPr lang="en-US" altLang="ko-KR" sz="2000" dirty="0" smtClean="0"/>
          </a:p>
          <a:p>
            <a:r>
              <a:rPr lang="ko-KR" altLang="en-US" sz="2000" dirty="0"/>
              <a:t>각 스펙트럼은 </a:t>
            </a:r>
            <a:r>
              <a:rPr lang="en-US" altLang="ko-KR" sz="2000" dirty="0"/>
              <a:t>100 × 100</a:t>
            </a:r>
            <a:r>
              <a:rPr lang="ko-KR" altLang="en-US" sz="2000" dirty="0"/>
              <a:t>까지 </a:t>
            </a:r>
            <a:r>
              <a:rPr lang="ko-KR" altLang="en-US" sz="2000" dirty="0" err="1" smtClean="0"/>
              <a:t>스케일링됨</a:t>
            </a:r>
            <a:endParaRPr lang="en-US" altLang="ko-KR" sz="2000" dirty="0" smtClean="0"/>
          </a:p>
          <a:p>
            <a:r>
              <a:rPr lang="ko-KR" altLang="en-US" sz="2000" dirty="0"/>
              <a:t>훈련 후</a:t>
            </a:r>
            <a:r>
              <a:rPr lang="en-US" altLang="ko-KR" sz="2000" dirty="0"/>
              <a:t>, </a:t>
            </a:r>
            <a:r>
              <a:rPr lang="ko-KR" altLang="en-US" sz="2000" dirty="0"/>
              <a:t>다른 동작 기반의 개인 식별을 위한 </a:t>
            </a:r>
            <a:r>
              <a:rPr lang="en-US" altLang="ko-KR" sz="2000" dirty="0"/>
              <a:t>6</a:t>
            </a:r>
            <a:r>
              <a:rPr lang="ko-KR" altLang="en-US" sz="2000" dirty="0"/>
              <a:t>개의 </a:t>
            </a:r>
            <a:r>
              <a:rPr lang="en-US" altLang="ko-KR" sz="2000" dirty="0" smtClean="0"/>
              <a:t>identification</a:t>
            </a:r>
            <a:r>
              <a:rPr lang="ko-KR" altLang="en-US" sz="2000" dirty="0" smtClean="0"/>
              <a:t>을 얻음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1491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III. PERSON IDENTIFICATION USING MICRO-DOPPLER ANALYSIS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65060" y="1825625"/>
            <a:ext cx="5988739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제안된 모델의 정확도는 </a:t>
            </a:r>
            <a:r>
              <a:rPr lang="en-US" altLang="ko-KR" dirty="0"/>
              <a:t>6</a:t>
            </a:r>
            <a:r>
              <a:rPr lang="ko-KR" altLang="en-US" dirty="0"/>
              <a:t>가지 동작 모두에서 </a:t>
            </a:r>
            <a:r>
              <a:rPr lang="en-US" altLang="ko-KR" dirty="0"/>
              <a:t>70%</a:t>
            </a:r>
            <a:r>
              <a:rPr lang="ko-KR" altLang="en-US" dirty="0"/>
              <a:t>를 </a:t>
            </a:r>
            <a:r>
              <a:rPr lang="ko-KR" altLang="en-US" dirty="0" smtClean="0"/>
              <a:t>초과</a:t>
            </a:r>
            <a:endParaRPr lang="en-US" altLang="ko-KR" dirty="0" smtClean="0"/>
          </a:p>
          <a:p>
            <a:r>
              <a:rPr lang="ko-KR" altLang="en-US" dirty="0"/>
              <a:t>인간의 움직임이 마이크로 도플러 기반의 개인 식별 작업에서 큰 잠재력을 가지고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r>
              <a:rPr lang="ko-KR" altLang="en-US" dirty="0"/>
              <a:t>모든 동작 중에서 </a:t>
            </a:r>
            <a:r>
              <a:rPr lang="en-US" altLang="ko-KR" dirty="0"/>
              <a:t>'</a:t>
            </a:r>
            <a:r>
              <a:rPr lang="ko-KR" altLang="en-US" dirty="0"/>
              <a:t>달리기</a:t>
            </a:r>
            <a:r>
              <a:rPr lang="en-US" altLang="ko-KR" dirty="0"/>
              <a:t>'</a:t>
            </a:r>
            <a:r>
              <a:rPr lang="ko-KR" altLang="en-US" dirty="0"/>
              <a:t>는 </a:t>
            </a:r>
            <a:r>
              <a:rPr lang="en-US" altLang="ko-KR" dirty="0"/>
              <a:t>95.21%</a:t>
            </a:r>
            <a:r>
              <a:rPr lang="ko-KR" altLang="en-US" dirty="0"/>
              <a:t>의 높은 정확도로 가장 차별적인 </a:t>
            </a:r>
            <a:r>
              <a:rPr lang="ko-KR" altLang="en-US" dirty="0" smtClean="0"/>
              <a:t>동작</a:t>
            </a:r>
            <a:endParaRPr lang="en-US" altLang="ko-KR" dirty="0" smtClean="0"/>
          </a:p>
          <a:p>
            <a:r>
              <a:rPr lang="ko-KR" altLang="en-US" dirty="0"/>
              <a:t>저속 </a:t>
            </a:r>
            <a:r>
              <a:rPr lang="ko-KR" altLang="en-US" dirty="0" smtClean="0"/>
              <a:t>동작은 특징이 명시되어 </a:t>
            </a:r>
            <a:r>
              <a:rPr lang="ko-KR" altLang="en-US" dirty="0"/>
              <a:t>있지 않아 만족스럽지 못한 성능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10" y="2038558"/>
            <a:ext cx="52768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09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IV. CONCLUSION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사용자 </a:t>
            </a:r>
            <a:r>
              <a:rPr lang="ko-KR" altLang="en-US" sz="2400" dirty="0"/>
              <a:t>식별 문제를 해결하기 위해 </a:t>
            </a:r>
            <a:r>
              <a:rPr lang="en-US" altLang="ko-KR" sz="2400" dirty="0"/>
              <a:t>UWB </a:t>
            </a:r>
            <a:r>
              <a:rPr lang="ko-KR" altLang="en-US" sz="2400" dirty="0" err="1"/>
              <a:t>임펄스</a:t>
            </a:r>
            <a:r>
              <a:rPr lang="ko-KR" altLang="en-US" sz="2400" dirty="0"/>
              <a:t> 레이더가 </a:t>
            </a:r>
            <a:r>
              <a:rPr lang="ko-KR" altLang="en-US" sz="2400" dirty="0" smtClean="0"/>
              <a:t>사용 됨</a:t>
            </a:r>
            <a:endParaRPr lang="en-US" altLang="ko-KR" sz="2400" dirty="0" smtClean="0"/>
          </a:p>
          <a:p>
            <a:r>
              <a:rPr lang="ko-KR" altLang="en-US" sz="2400" dirty="0"/>
              <a:t>개인의 신원과 관련된 마이크로 도플러 </a:t>
            </a:r>
            <a:r>
              <a:rPr lang="ko-KR" altLang="en-US" sz="2400" dirty="0" err="1" smtClean="0"/>
              <a:t>시그니처을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기반으로하는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새로운 </a:t>
            </a:r>
            <a:r>
              <a:rPr lang="en-US" altLang="ko-KR" sz="2400" dirty="0"/>
              <a:t>CNN </a:t>
            </a:r>
            <a:r>
              <a:rPr lang="ko-KR" altLang="en-US" sz="2400" dirty="0"/>
              <a:t>모델이 </a:t>
            </a:r>
            <a:r>
              <a:rPr lang="ko-KR" altLang="en-US" sz="2400" dirty="0" smtClean="0"/>
              <a:t>제안</a:t>
            </a:r>
            <a:endParaRPr lang="en-US" altLang="ko-KR" sz="2400" dirty="0" smtClean="0"/>
          </a:p>
          <a:p>
            <a:r>
              <a:rPr lang="ko-KR" altLang="en-US" sz="2400" dirty="0"/>
              <a:t>이 모델은 </a:t>
            </a:r>
            <a:r>
              <a:rPr lang="en-US" altLang="ko-KR" sz="2400" dirty="0"/>
              <a:t>6</a:t>
            </a:r>
            <a:r>
              <a:rPr lang="ko-KR" altLang="en-US" sz="2400" dirty="0"/>
              <a:t>가지 동작에서 </a:t>
            </a:r>
            <a:r>
              <a:rPr lang="en-US" altLang="ko-KR" sz="2400" dirty="0"/>
              <a:t>70% </a:t>
            </a:r>
            <a:r>
              <a:rPr lang="ko-KR" altLang="en-US" sz="2400" dirty="0"/>
              <a:t>이상의 정확도를 가진 </a:t>
            </a:r>
            <a:r>
              <a:rPr lang="en-US" altLang="ko-KR" sz="2400" dirty="0"/>
              <a:t>15</a:t>
            </a:r>
            <a:r>
              <a:rPr lang="ko-KR" altLang="en-US" sz="2400" dirty="0"/>
              <a:t>개의 인간 피험자를 분류할 수 </a:t>
            </a:r>
            <a:r>
              <a:rPr lang="ko-KR" altLang="en-US" sz="2400" dirty="0" smtClean="0"/>
              <a:t>있었음</a:t>
            </a:r>
            <a:endParaRPr lang="en-US" altLang="ko-KR" sz="2400" dirty="0" smtClean="0"/>
          </a:p>
          <a:p>
            <a:r>
              <a:rPr lang="ko-KR" altLang="en-US" sz="2400" dirty="0" smtClean="0"/>
              <a:t>뛰기 동작에서는 </a:t>
            </a:r>
            <a:r>
              <a:rPr lang="ko-KR" altLang="en-US" sz="2400" dirty="0"/>
              <a:t>식별 정확도가 </a:t>
            </a:r>
            <a:r>
              <a:rPr lang="en-US" altLang="ko-KR" sz="2400" dirty="0"/>
              <a:t>95.21</a:t>
            </a:r>
            <a:r>
              <a:rPr lang="en-US" altLang="ko-KR" sz="2400" dirty="0" smtClean="0"/>
              <a:t>%</a:t>
            </a:r>
          </a:p>
          <a:p>
            <a:r>
              <a:rPr lang="ko-KR" altLang="en-US" sz="2400" dirty="0"/>
              <a:t>실험 결과는 제안된 네트워크가 비교 알고리즘을 </a:t>
            </a:r>
            <a:r>
              <a:rPr lang="ko-KR" altLang="en-US" sz="2400" dirty="0" smtClean="0"/>
              <a:t>능가함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613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480</Words>
  <Application>Microsoft Office PowerPoint</Application>
  <PresentationFormat>와이드스크린</PresentationFormat>
  <Paragraphs>55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Abstract</vt:lpstr>
      <vt:lpstr>INTRODUCTION</vt:lpstr>
      <vt:lpstr>II. MOTIVATION AND OBSERVATIONS</vt:lpstr>
      <vt:lpstr>II. MOTIVATION AND OBSERVATIONS</vt:lpstr>
      <vt:lpstr>II. MOTIVATION AND OBSERVATIONS</vt:lpstr>
      <vt:lpstr>III. PERSON IDENTIFICATION USING MICRO-DOPPLER ANALYSIS</vt:lpstr>
      <vt:lpstr>III. PERSON IDENTIFICATION USING MICRO-DOPPLER ANALYSIS</vt:lpstr>
      <vt:lpstr>IV.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 jh</dc:creator>
  <cp:lastModifiedBy>k jh</cp:lastModifiedBy>
  <cp:revision>22</cp:revision>
  <dcterms:created xsi:type="dcterms:W3CDTF">2020-03-05T04:36:06Z</dcterms:created>
  <dcterms:modified xsi:type="dcterms:W3CDTF">2020-07-30T02:53:20Z</dcterms:modified>
</cp:coreProperties>
</file>