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6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207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98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59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2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292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67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16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9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844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96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102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B0961-0C69-48F1-982C-70F2378298C2}" type="datetimeFigureOut">
              <a:rPr lang="ko-KR" altLang="en-US" smtClean="0"/>
              <a:t>2020-06-30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46C26-D696-47A2-8AC3-02EE47C88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9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1462"/>
            <a:ext cx="1034415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366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Intro.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85787"/>
            <a:ext cx="10515600" cy="4351338"/>
          </a:xfrm>
        </p:spPr>
        <p:txBody>
          <a:bodyPr>
            <a:noAutofit/>
          </a:bodyPr>
          <a:lstStyle/>
          <a:p>
            <a:r>
              <a:rPr lang="en-US" altLang="ko-KR" sz="2000" dirty="0" smtClean="0"/>
              <a:t>Background : </a:t>
            </a:r>
            <a:r>
              <a:rPr lang="ko-KR" altLang="en-US" sz="2000" dirty="0" smtClean="0"/>
              <a:t>운동 </a:t>
            </a:r>
            <a:r>
              <a:rPr lang="ko-KR" altLang="en-US" sz="2000" dirty="0"/>
              <a:t>스크린은 운동 능력을 평가하기 위해 운동과 재활에 점점 더 많이 사용되고 </a:t>
            </a:r>
            <a:r>
              <a:rPr lang="ko-KR" altLang="en-US" sz="2000" dirty="0" smtClean="0"/>
              <a:t>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주관적인 </a:t>
            </a:r>
            <a:r>
              <a:rPr lang="ko-KR" altLang="en-US" sz="2000" dirty="0"/>
              <a:t>시각적 </a:t>
            </a:r>
            <a:r>
              <a:rPr lang="ko-KR" altLang="en-US" sz="2000" dirty="0" smtClean="0"/>
              <a:t>감지</a:t>
            </a:r>
            <a:r>
              <a:rPr lang="en-US" altLang="ko-KR" sz="2000" dirty="0" smtClean="0"/>
              <a:t> (</a:t>
            </a:r>
            <a:r>
              <a:rPr lang="ko-KR" altLang="en-US" sz="2000" dirty="0" smtClean="0"/>
              <a:t>예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최대 </a:t>
            </a:r>
            <a:r>
              <a:rPr lang="ko-KR" altLang="en-US" sz="2000" dirty="0" err="1" smtClean="0"/>
              <a:t>스쿼트</a:t>
            </a:r>
            <a:r>
              <a:rPr lang="ko-KR" altLang="en-US" sz="2000" dirty="0" smtClean="0"/>
              <a:t> 깊이에서 척추 각도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를 사용하여 평가하는 것은  전신 이동 조정 등 연관성이 설명되지 않음</a:t>
            </a:r>
            <a:endParaRPr lang="en-US" altLang="ko-KR" sz="2000" dirty="0" smtClean="0"/>
          </a:p>
          <a:p>
            <a:r>
              <a:rPr lang="en-US" altLang="ko-KR" sz="2000" dirty="0" smtClean="0"/>
              <a:t>Objective : </a:t>
            </a:r>
            <a:r>
              <a:rPr lang="ko-KR" altLang="en-US" sz="2000" dirty="0"/>
              <a:t>딥 </a:t>
            </a:r>
            <a:r>
              <a:rPr lang="ko-KR" altLang="en-US" sz="2000" dirty="0" err="1"/>
              <a:t>스쿼트</a:t>
            </a:r>
            <a:r>
              <a:rPr lang="ko-KR" altLang="en-US" sz="2000" dirty="0"/>
              <a:t> 및 허들 </a:t>
            </a:r>
            <a:r>
              <a:rPr lang="ko-KR" altLang="en-US" sz="2000" dirty="0" smtClean="0"/>
              <a:t>스텝</a:t>
            </a:r>
            <a:r>
              <a:rPr lang="en-US" altLang="ko-KR" sz="2000" dirty="0" smtClean="0"/>
              <a:t>, </a:t>
            </a:r>
            <a:r>
              <a:rPr lang="ko-KR" altLang="en-US" sz="2000" dirty="0"/>
              <a:t>이산 </a:t>
            </a:r>
            <a:r>
              <a:rPr lang="ko-KR" altLang="en-US" sz="2000" dirty="0" err="1"/>
              <a:t>키네마틱</a:t>
            </a:r>
            <a:r>
              <a:rPr lang="ko-KR" altLang="en-US" sz="2000" dirty="0"/>
              <a:t> 측정치가 패턴 인식과 기계 학습을 통해 식별된 신생 그룹 간에 어떻게 다른지를 </a:t>
            </a:r>
            <a:r>
              <a:rPr lang="ko-KR" altLang="en-US" sz="2000" dirty="0" smtClean="0"/>
              <a:t>비교</a:t>
            </a:r>
            <a:endParaRPr lang="en-US" altLang="ko-KR" sz="2000" dirty="0" smtClean="0"/>
          </a:p>
          <a:p>
            <a:r>
              <a:rPr lang="en-US" altLang="ko-KR" sz="2000" dirty="0" smtClean="0"/>
              <a:t>Methods : </a:t>
            </a:r>
            <a:r>
              <a:rPr lang="ko-KR" altLang="en-US" sz="2000" dirty="0"/>
              <a:t>참가자의 딥 </a:t>
            </a:r>
            <a:r>
              <a:rPr lang="ko-KR" altLang="en-US" sz="2000" dirty="0" err="1"/>
              <a:t>스쿼트</a:t>
            </a:r>
            <a:r>
              <a:rPr lang="en-US" altLang="ko-KR" sz="2000" dirty="0"/>
              <a:t>(DS) </a:t>
            </a:r>
            <a:r>
              <a:rPr lang="ko-KR" altLang="en-US" sz="2000" dirty="0"/>
              <a:t>및 허들 스텝 성능의 </a:t>
            </a:r>
            <a:r>
              <a:rPr lang="en-US" altLang="ko-KR" sz="2000" dirty="0"/>
              <a:t>3</a:t>
            </a:r>
            <a:r>
              <a:rPr lang="ko-KR" altLang="en-US" sz="2000" dirty="0"/>
              <a:t>차원</a:t>
            </a:r>
            <a:r>
              <a:rPr lang="en-US" altLang="ko-KR" sz="2000" dirty="0"/>
              <a:t>(3D) </a:t>
            </a:r>
            <a:r>
              <a:rPr lang="ko-KR" altLang="en-US" sz="2000" dirty="0"/>
              <a:t>궤적 데이터에 </a:t>
            </a:r>
            <a:r>
              <a:rPr lang="en-US" altLang="ko-KR" sz="2000" dirty="0">
                <a:solidFill>
                  <a:srgbClr val="FF0000"/>
                </a:solidFill>
              </a:rPr>
              <a:t>PCA</a:t>
            </a:r>
            <a:r>
              <a:rPr lang="en-US" altLang="ko-KR" sz="2000" dirty="0"/>
              <a:t>(</a:t>
            </a:r>
            <a:r>
              <a:rPr lang="ko-KR" altLang="en-US" sz="2000" dirty="0"/>
              <a:t>주요 구성요소 분석</a:t>
            </a:r>
            <a:r>
              <a:rPr lang="en-US" altLang="ko-KR" sz="2000" dirty="0"/>
              <a:t>)</a:t>
            </a:r>
            <a:r>
              <a:rPr lang="ko-KR" altLang="en-US" sz="2000" dirty="0"/>
              <a:t>를 </a:t>
            </a:r>
            <a:r>
              <a:rPr lang="ko-KR" altLang="en-US" sz="2000" dirty="0" smtClean="0"/>
              <a:t>적용</a:t>
            </a:r>
            <a:r>
              <a:rPr lang="en-US" altLang="ko-KR" sz="2000" dirty="0" smtClean="0"/>
              <a:t>, </a:t>
            </a:r>
            <a:r>
              <a:rPr lang="ko-KR" altLang="en-US" sz="2000" dirty="0"/>
              <a:t>가우스 혼합물 모델</a:t>
            </a:r>
            <a:r>
              <a:rPr lang="en-US" altLang="ko-KR" sz="2000" dirty="0"/>
              <a:t>(</a:t>
            </a:r>
            <a:r>
              <a:rPr lang="en-US" altLang="ko-KR" sz="2000" dirty="0">
                <a:solidFill>
                  <a:srgbClr val="FF0000"/>
                </a:solidFill>
              </a:rPr>
              <a:t>GMM</a:t>
            </a:r>
            <a:r>
              <a:rPr lang="en-US" altLang="ko-KR" sz="2000" dirty="0"/>
              <a:t>)</a:t>
            </a:r>
            <a:r>
              <a:rPr lang="ko-KR" altLang="en-US" sz="2000" dirty="0"/>
              <a:t>이 </a:t>
            </a:r>
            <a:r>
              <a:rPr lang="ko-KR" altLang="en-US" sz="2000" dirty="0" smtClean="0"/>
              <a:t>적합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ko-KR" altLang="en-US" sz="2000" dirty="0"/>
              <a:t>긴급한 움직임 표현형을 식별하기 위한 </a:t>
            </a:r>
            <a:r>
              <a:rPr lang="ko-KR" altLang="en-US" sz="2000" dirty="0" err="1"/>
              <a:t>감독되지</a:t>
            </a:r>
            <a:r>
              <a:rPr lang="ko-KR" altLang="en-US" sz="2000" dirty="0"/>
              <a:t> 않은 기계 학습 </a:t>
            </a:r>
            <a:r>
              <a:rPr lang="ko-KR" altLang="en-US" sz="2000" dirty="0" smtClean="0"/>
              <a:t>접근방식</a:t>
            </a:r>
            <a:r>
              <a:rPr lang="en-US" altLang="ko-KR" sz="2000" dirty="0" smtClean="0"/>
              <a:t>(</a:t>
            </a:r>
            <a:r>
              <a:rPr lang="en-US" altLang="ko-KR" sz="2000" dirty="0" smtClean="0">
                <a:solidFill>
                  <a:srgbClr val="FF0000"/>
                </a:solidFill>
              </a:rPr>
              <a:t>clustering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으로 </a:t>
            </a:r>
            <a:r>
              <a:rPr lang="ko-KR" altLang="en-US" sz="2000" dirty="0"/>
              <a:t>주성분 점수를 </a:t>
            </a:r>
            <a:r>
              <a:rPr lang="ko-KR" altLang="en-US" sz="2000" dirty="0" err="1"/>
              <a:t>군집화하는</a:t>
            </a:r>
            <a:r>
              <a:rPr lang="ko-KR" altLang="en-US" sz="2000" dirty="0"/>
              <a:t> 데 </a:t>
            </a:r>
            <a:r>
              <a:rPr lang="ko-KR" altLang="en-US" sz="2000" dirty="0" smtClean="0"/>
              <a:t>사용</a:t>
            </a:r>
            <a:endParaRPr lang="en-US" altLang="ko-KR" sz="2000" dirty="0" smtClean="0"/>
          </a:p>
          <a:p>
            <a:r>
              <a:rPr lang="en-US" altLang="ko-KR" sz="2000" dirty="0" smtClean="0"/>
              <a:t>Results : </a:t>
            </a:r>
            <a:r>
              <a:rPr lang="en-US" altLang="ko-KR" sz="2000" dirty="0"/>
              <a:t>DS</a:t>
            </a:r>
            <a:r>
              <a:rPr lang="ko-KR" altLang="en-US" sz="2000" dirty="0"/>
              <a:t>와 우측 허들 스텝</a:t>
            </a:r>
            <a:r>
              <a:rPr lang="en-US" altLang="ko-KR" sz="2000" dirty="0"/>
              <a:t>(RHS)</a:t>
            </a:r>
            <a:r>
              <a:rPr lang="ko-KR" altLang="en-US" sz="2000" dirty="0"/>
              <a:t>에는 </a:t>
            </a:r>
            <a:r>
              <a:rPr lang="en-US" altLang="ko-KR" sz="2000" dirty="0">
                <a:solidFill>
                  <a:srgbClr val="FF0000"/>
                </a:solidFill>
              </a:rPr>
              <a:t>3</a:t>
            </a:r>
            <a:r>
              <a:rPr lang="ko-KR" altLang="en-US" sz="2000" dirty="0">
                <a:solidFill>
                  <a:srgbClr val="FF0000"/>
                </a:solidFill>
              </a:rPr>
              <a:t>개의 클러스터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즉</a:t>
            </a:r>
            <a:r>
              <a:rPr lang="en-US" altLang="ko-KR" sz="2000" dirty="0">
                <a:solidFill>
                  <a:srgbClr val="FF0000"/>
                </a:solidFill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표현형</a:t>
            </a:r>
            <a:r>
              <a:rPr lang="en-US" altLang="ko-KR" sz="2000" dirty="0"/>
              <a:t>)</a:t>
            </a:r>
            <a:r>
              <a:rPr lang="ko-KR" altLang="en-US" sz="2000" dirty="0"/>
              <a:t>가</a:t>
            </a:r>
            <a:r>
              <a:rPr lang="en-US" altLang="ko-KR" sz="2000" dirty="0"/>
              <a:t>, </a:t>
            </a:r>
            <a:r>
              <a:rPr lang="ko-KR" altLang="en-US" sz="2000" dirty="0"/>
              <a:t>좌측 허들 스텝</a:t>
            </a:r>
            <a:r>
              <a:rPr lang="en-US" altLang="ko-KR" sz="2000" dirty="0"/>
              <a:t>(LHS)</a:t>
            </a:r>
            <a:r>
              <a:rPr lang="ko-KR" altLang="en-US" sz="2000" dirty="0"/>
              <a:t>에는 </a:t>
            </a:r>
            <a:r>
              <a:rPr lang="en-US" altLang="ko-KR" sz="2000" dirty="0"/>
              <a:t>4</a:t>
            </a:r>
            <a:r>
              <a:rPr lang="ko-KR" altLang="en-US" sz="2000" dirty="0"/>
              <a:t>개의 </a:t>
            </a:r>
            <a:r>
              <a:rPr lang="ko-KR" altLang="en-US" sz="2000" dirty="0" smtClean="0"/>
              <a:t>표현형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ko-KR" altLang="en-US" sz="2000" dirty="0" smtClean="0"/>
              <a:t>선택된 </a:t>
            </a:r>
            <a:r>
              <a:rPr lang="ko-KR" altLang="en-US" sz="2000" dirty="0" err="1"/>
              <a:t>이산형</a:t>
            </a:r>
            <a:r>
              <a:rPr lang="ko-KR" altLang="en-US" sz="2000" dirty="0"/>
              <a:t> 운동학적 조치에 대해서는 </a:t>
            </a:r>
            <a:r>
              <a:rPr lang="en-US" altLang="ko-KR" sz="2000" dirty="0"/>
              <a:t>5</a:t>
            </a:r>
            <a:r>
              <a:rPr lang="ko-KR" altLang="en-US" sz="2000" dirty="0"/>
              <a:t>점 만점에 </a:t>
            </a:r>
            <a:r>
              <a:rPr lang="en-US" altLang="ko-KR" sz="2000" dirty="0"/>
              <a:t>4</a:t>
            </a:r>
            <a:r>
              <a:rPr lang="ko-KR" altLang="en-US" sz="2000" dirty="0"/>
              <a:t>점</a:t>
            </a:r>
            <a:r>
              <a:rPr lang="en-US" altLang="ko-KR" sz="2000" dirty="0"/>
              <a:t>, 7</a:t>
            </a:r>
            <a:r>
              <a:rPr lang="ko-KR" altLang="en-US" sz="2000" dirty="0"/>
              <a:t>점 만점에 </a:t>
            </a:r>
            <a:r>
              <a:rPr lang="en-US" altLang="ko-KR" sz="2000" dirty="0"/>
              <a:t>7</a:t>
            </a:r>
            <a:r>
              <a:rPr lang="ko-KR" altLang="en-US" sz="2000" dirty="0"/>
              <a:t>점</a:t>
            </a:r>
            <a:r>
              <a:rPr lang="en-US" altLang="ko-KR" sz="2000" dirty="0"/>
              <a:t>, 7</a:t>
            </a:r>
            <a:r>
              <a:rPr lang="ko-KR" altLang="en-US" sz="2000" dirty="0"/>
              <a:t>점 만점에 </a:t>
            </a:r>
            <a:r>
              <a:rPr lang="en-US" altLang="ko-KR" sz="2000" dirty="0"/>
              <a:t>4</a:t>
            </a:r>
            <a:r>
              <a:rPr lang="ko-KR" altLang="en-US" sz="2000" dirty="0"/>
              <a:t>점이 각각 </a:t>
            </a:r>
            <a:r>
              <a:rPr lang="en-US" altLang="ko-KR" sz="2000" dirty="0"/>
              <a:t>DS, RHS, LHS</a:t>
            </a:r>
            <a:r>
              <a:rPr lang="ko-KR" altLang="en-US" sz="2000" dirty="0"/>
              <a:t>에 대한 표현형 사이의 </a:t>
            </a:r>
            <a:r>
              <a:rPr lang="ko-KR" altLang="en-US" sz="2000" dirty="0" err="1"/>
              <a:t>주효과</a:t>
            </a:r>
            <a:r>
              <a:rPr lang="en-US" altLang="ko-KR" sz="2000" dirty="0"/>
              <a:t>(p &lt; 0.05</a:t>
            </a:r>
            <a:r>
              <a:rPr lang="en-US" altLang="ko-KR" sz="2000" dirty="0" smtClean="0"/>
              <a:t>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2704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000" dirty="0"/>
              <a:t>움직임 </a:t>
            </a:r>
            <a:r>
              <a:rPr lang="ko-KR" altLang="en-US" sz="2000" dirty="0" smtClean="0"/>
              <a:t>선별은 </a:t>
            </a:r>
            <a:r>
              <a:rPr lang="ko-KR" altLang="en-US" sz="2000" dirty="0"/>
              <a:t>열악한 움직임 패턴을 강조하기 위한 방법으로 개인의 움직임 품질을 평가하는 데 일반적으로 </a:t>
            </a:r>
            <a:r>
              <a:rPr lang="ko-KR" altLang="en-US" sz="2000" dirty="0" smtClean="0"/>
              <a:t>사용</a:t>
            </a:r>
            <a:r>
              <a:rPr lang="en-US" altLang="ko-KR" sz="2000" dirty="0" smtClean="0"/>
              <a:t>(</a:t>
            </a:r>
            <a:r>
              <a:rPr lang="en-US" altLang="ko-KR" sz="2000" dirty="0" err="1"/>
              <a:t>McCunn</a:t>
            </a:r>
            <a:r>
              <a:rPr lang="en-US" altLang="ko-KR" sz="2000" dirty="0"/>
              <a:t> et al., 2016</a:t>
            </a:r>
            <a:r>
              <a:rPr lang="en-US" altLang="ko-KR" sz="2000" dirty="0" smtClean="0"/>
              <a:t>)</a:t>
            </a:r>
          </a:p>
          <a:p>
            <a:r>
              <a:rPr lang="ko-KR" altLang="en-US" sz="2000" dirty="0"/>
              <a:t>여기서 이동 능력이라고 하는 이동의 질은 작업 목표를 달성하는 이동 패턴을 채택하는 동시에 부상 위험을 최소화하는 개인의 능력으로 </a:t>
            </a:r>
            <a:r>
              <a:rPr lang="ko-KR" altLang="en-US" sz="2000" dirty="0" smtClean="0"/>
              <a:t>설명</a:t>
            </a:r>
            <a:r>
              <a:rPr lang="en-US" altLang="ko-KR" sz="2000" dirty="0" smtClean="0"/>
              <a:t>(</a:t>
            </a:r>
            <a:r>
              <a:rPr lang="en-US" altLang="ko-KR" sz="2000" dirty="0" err="1"/>
              <a:t>Kritz</a:t>
            </a:r>
            <a:r>
              <a:rPr lang="en-US" altLang="ko-KR" sz="2000" dirty="0"/>
              <a:t> et al., 2009; McGill et al., 2015</a:t>
            </a:r>
            <a:r>
              <a:rPr lang="en-US" altLang="ko-KR" sz="2000" dirty="0" smtClean="0"/>
              <a:t>)</a:t>
            </a:r>
          </a:p>
          <a:p>
            <a:r>
              <a:rPr lang="ko-KR" altLang="en-US" sz="2000" dirty="0" smtClean="0"/>
              <a:t>평가자의 </a:t>
            </a:r>
            <a:r>
              <a:rPr lang="ko-KR" altLang="en-US" sz="2000" dirty="0" smtClean="0"/>
              <a:t>평가와 이전의 지식에 의존함에 따라 </a:t>
            </a:r>
            <a:r>
              <a:rPr lang="ko-KR" altLang="en-US" sz="2000" dirty="0" err="1" smtClean="0"/>
              <a:t>운동선별의</a:t>
            </a:r>
            <a:r>
              <a:rPr lang="ko-KR" altLang="en-US" sz="2000" dirty="0" smtClean="0"/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주관성이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높아짐</a:t>
            </a:r>
            <a:endParaRPr lang="en-US" altLang="ko-KR" sz="2000" dirty="0" smtClean="0"/>
          </a:p>
          <a:p>
            <a:r>
              <a:rPr lang="ko-KR" altLang="en-US" sz="2000" dirty="0"/>
              <a:t>결과적으로</a:t>
            </a:r>
            <a:r>
              <a:rPr lang="en-US" altLang="ko-KR" sz="2000" dirty="0"/>
              <a:t>, </a:t>
            </a:r>
            <a:r>
              <a:rPr lang="ko-KR" altLang="en-US" sz="2000" dirty="0"/>
              <a:t>요소 간 신뢰성 문제가 이동 선별 접근법의 효용성을 계속 </a:t>
            </a:r>
            <a:r>
              <a:rPr lang="ko-KR" altLang="en-US" sz="2000" dirty="0" smtClean="0"/>
              <a:t>제한</a:t>
            </a:r>
            <a:r>
              <a:rPr lang="da-DK" altLang="ko-KR" sz="2000" dirty="0" smtClean="0"/>
              <a:t>(i.e., Shultz et al., 2013)</a:t>
            </a:r>
          </a:p>
          <a:p>
            <a:r>
              <a:rPr lang="ko-KR" altLang="en-US" sz="2000" dirty="0"/>
              <a:t>많은 사람들이 운동 역량이 부상 위험 및</a:t>
            </a:r>
            <a:r>
              <a:rPr lang="en-US" altLang="ko-KR" sz="2000" dirty="0"/>
              <a:t>/</a:t>
            </a:r>
            <a:r>
              <a:rPr lang="ko-KR" altLang="en-US" sz="2000" dirty="0"/>
              <a:t>또는 성과와 연관되어 있다고 </a:t>
            </a:r>
            <a:r>
              <a:rPr lang="ko-KR" altLang="en-US" sz="2000" dirty="0" smtClean="0"/>
              <a:t>생각하지만 </a:t>
            </a:r>
            <a:r>
              <a:rPr lang="ko-KR" altLang="en-US" sz="2000" dirty="0"/>
              <a:t>그러한 연결을 뒷받침하는 증거는 거의 남아 있지 </a:t>
            </a:r>
            <a:r>
              <a:rPr lang="ko-KR" altLang="en-US" sz="2000" dirty="0" smtClean="0"/>
              <a:t>않다</a:t>
            </a:r>
            <a:r>
              <a:rPr lang="en-US" altLang="ko-KR" sz="2000" dirty="0" smtClean="0"/>
              <a:t>(Gross and </a:t>
            </a:r>
            <a:r>
              <a:rPr lang="en-US" altLang="ko-KR" sz="2000" dirty="0" err="1" smtClean="0"/>
              <a:t>Battié</a:t>
            </a:r>
            <a:r>
              <a:rPr lang="en-US" altLang="ko-KR" sz="2000" dirty="0" smtClean="0"/>
              <a:t>, 2006; Mottram and </a:t>
            </a:r>
            <a:r>
              <a:rPr lang="en-US" altLang="ko-KR" sz="2000" dirty="0" err="1" smtClean="0"/>
              <a:t>Comerford</a:t>
            </a:r>
            <a:r>
              <a:rPr lang="en-US" altLang="ko-KR" sz="2000" dirty="0" smtClean="0"/>
              <a:t>, 2008; </a:t>
            </a:r>
            <a:r>
              <a:rPr lang="en-US" altLang="ko-KR" sz="2000" dirty="0" err="1" smtClean="0"/>
              <a:t>Schneiders</a:t>
            </a:r>
            <a:r>
              <a:rPr lang="en-US" altLang="ko-KR" sz="2000" dirty="0" smtClean="0"/>
              <a:t> et al., 2011; Okada et al., 2011; </a:t>
            </a:r>
            <a:r>
              <a:rPr lang="en-US" altLang="ko-KR" sz="2000" dirty="0" err="1" smtClean="0"/>
              <a:t>Parchmann</a:t>
            </a:r>
            <a:r>
              <a:rPr lang="en-US" altLang="ko-KR" sz="2000" dirty="0" smtClean="0"/>
              <a:t> and McBride, 2011)</a:t>
            </a:r>
          </a:p>
          <a:p>
            <a:r>
              <a:rPr lang="ko-KR" altLang="en-US" sz="2000" dirty="0"/>
              <a:t>이러한 하향식 접근방식의 대안으로 기계학습에서 새로운 도구를 사용하면 자연적으로 발생하는 운동 표현형을 식별하는 데 도움</a:t>
            </a:r>
          </a:p>
        </p:txBody>
      </p:sp>
    </p:spTree>
    <p:extLst>
      <p:ext uri="{BB962C8B-B14F-4D97-AF65-F5344CB8AC3E}">
        <p14:creationId xmlns:p14="http://schemas.microsoft.com/office/powerpoint/2010/main" val="63216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최적의 운동 능력을 가진 사람들 간에 구별하고 분류할 수 있는 </a:t>
            </a:r>
            <a:r>
              <a:rPr lang="ko-KR" altLang="en-US" sz="2000" dirty="0">
                <a:solidFill>
                  <a:srgbClr val="FF0000"/>
                </a:solidFill>
              </a:rPr>
              <a:t>표현형 운동 행동 패턴을 </a:t>
            </a:r>
            <a:r>
              <a:rPr lang="ko-KR" altLang="en-US" sz="2000" dirty="0"/>
              <a:t>식별하고 선별하는 것이 더 </a:t>
            </a:r>
            <a:r>
              <a:rPr lang="ko-KR" altLang="en-US" sz="2000" dirty="0" smtClean="0"/>
              <a:t>유익</a:t>
            </a:r>
            <a:endParaRPr lang="en-US" altLang="ko-KR" sz="2000" dirty="0" smtClean="0"/>
          </a:p>
          <a:p>
            <a:r>
              <a:rPr lang="en-US" altLang="ko-KR" sz="2000" dirty="0"/>
              <a:t> (</a:t>
            </a:r>
            <a:r>
              <a:rPr lang="en-US" altLang="ko-KR" sz="2000" dirty="0">
                <a:solidFill>
                  <a:srgbClr val="FF0000"/>
                </a:solidFill>
              </a:rPr>
              <a:t>FMS</a:t>
            </a:r>
            <a:r>
              <a:rPr lang="en-US" altLang="ko-KR" sz="2000" dirty="0"/>
              <a:t>) (Functional Movement Systems, Chatham, VA, </a:t>
            </a:r>
            <a:r>
              <a:rPr lang="ko-KR" altLang="en-US" sz="2000" dirty="0"/>
              <a:t>미국</a:t>
            </a:r>
            <a:r>
              <a:rPr lang="en-US" altLang="ko-KR" sz="2000" dirty="0"/>
              <a:t>)</a:t>
            </a:r>
            <a:r>
              <a:rPr lang="ko-KR" altLang="en-US" sz="2000" dirty="0"/>
              <a:t>은 </a:t>
            </a:r>
            <a:r>
              <a:rPr lang="ko-KR" altLang="en-US" sz="2000" dirty="0" smtClean="0"/>
              <a:t>선별을 </a:t>
            </a:r>
            <a:r>
              <a:rPr lang="ko-KR" altLang="en-US" sz="2000" dirty="0"/>
              <a:t>위한 인기 </a:t>
            </a:r>
            <a:r>
              <a:rPr lang="ko-KR" altLang="en-US" sz="2000" dirty="0" smtClean="0"/>
              <a:t>도구</a:t>
            </a:r>
            <a:endParaRPr lang="en-US" altLang="ko-KR" sz="2000" dirty="0" smtClean="0"/>
          </a:p>
          <a:p>
            <a:r>
              <a:rPr lang="ko-KR" altLang="en-US" sz="2000" dirty="0"/>
              <a:t>우리는 딥 </a:t>
            </a:r>
            <a:r>
              <a:rPr lang="ko-KR" altLang="en-US" sz="2000" dirty="0" err="1"/>
              <a:t>스쿼트</a:t>
            </a:r>
            <a:r>
              <a:rPr lang="en-US" altLang="ko-KR" sz="2000" dirty="0"/>
              <a:t>(DS)</a:t>
            </a:r>
            <a:r>
              <a:rPr lang="ko-KR" altLang="en-US" sz="2000" dirty="0"/>
              <a:t>와 우측 및 리프트 허들 스텝</a:t>
            </a:r>
            <a:r>
              <a:rPr lang="en-US" altLang="ko-KR" sz="2000" dirty="0"/>
              <a:t>(RHS; LHS) </a:t>
            </a:r>
            <a:r>
              <a:rPr lang="ko-KR" altLang="en-US" sz="2000" dirty="0"/>
              <a:t>움직임에 </a:t>
            </a:r>
            <a:r>
              <a:rPr lang="ko-KR" altLang="en-US" sz="2000" dirty="0" smtClean="0"/>
              <a:t>초점</a:t>
            </a:r>
            <a:endParaRPr lang="en-US" altLang="ko-KR" sz="2000" dirty="0" smtClean="0"/>
          </a:p>
          <a:p>
            <a:r>
              <a:rPr lang="ko-KR" altLang="en-US" sz="2000" dirty="0"/>
              <a:t> 허들 스텝 동작은 양쪽 기능 이동성과 엉덩이</a:t>
            </a:r>
            <a:r>
              <a:rPr lang="en-US" altLang="ko-KR" sz="2000" dirty="0"/>
              <a:t>, </a:t>
            </a:r>
            <a:r>
              <a:rPr lang="ko-KR" altLang="en-US" sz="2000" dirty="0"/>
              <a:t>무릎</a:t>
            </a:r>
            <a:r>
              <a:rPr lang="en-US" altLang="ko-KR" sz="2000" dirty="0"/>
              <a:t>, </a:t>
            </a:r>
            <a:r>
              <a:rPr lang="ko-KR" altLang="en-US" sz="2000" dirty="0"/>
              <a:t>발목의 동적 안정성을 테스트하기 때문에 </a:t>
            </a:r>
            <a:r>
              <a:rPr lang="ko-KR" altLang="en-US" sz="2000" dirty="0" err="1"/>
              <a:t>스쿼트에</a:t>
            </a:r>
            <a:r>
              <a:rPr lang="ko-KR" altLang="en-US" sz="2000" dirty="0"/>
              <a:t> 비해 독특한 대비를 </a:t>
            </a:r>
            <a:r>
              <a:rPr lang="ko-KR" altLang="en-US" sz="2000" dirty="0" smtClean="0"/>
              <a:t>제공</a:t>
            </a:r>
            <a:r>
              <a:rPr lang="en-US" altLang="ko-KR" sz="2000" dirty="0" smtClean="0"/>
              <a:t>(Cook et al., 2006a)</a:t>
            </a:r>
          </a:p>
          <a:p>
            <a:r>
              <a:rPr lang="ko-KR" altLang="en-US" sz="2000" dirty="0"/>
              <a:t>많은 사람들은 그러한 선별이 사전 예방적 상해 예방에 유용할 수 있다고 </a:t>
            </a:r>
            <a:r>
              <a:rPr lang="ko-KR" altLang="en-US" sz="2000" dirty="0" smtClean="0"/>
              <a:t>믿음</a:t>
            </a:r>
            <a:r>
              <a:rPr lang="en-US" altLang="ko-KR" sz="2000" dirty="0" smtClean="0"/>
              <a:t> (</a:t>
            </a:r>
            <a:r>
              <a:rPr lang="en-US" altLang="ko-KR" sz="2000" dirty="0" err="1" smtClean="0"/>
              <a:t>Kiesel</a:t>
            </a:r>
            <a:r>
              <a:rPr lang="en-US" altLang="ko-KR" sz="2000" dirty="0" smtClean="0"/>
              <a:t> et al., 2007)</a:t>
            </a:r>
          </a:p>
          <a:p>
            <a:r>
              <a:rPr lang="ko-KR" altLang="en-US" sz="2000" dirty="0">
                <a:solidFill>
                  <a:srgbClr val="FF0000"/>
                </a:solidFill>
              </a:rPr>
              <a:t>현재의 점수 접근 방식이 상해 예방에 유용하다는 증거는 뒷받침되지 </a:t>
            </a:r>
            <a:r>
              <a:rPr lang="ko-KR" altLang="en-US" sz="2000" dirty="0" smtClean="0">
                <a:solidFill>
                  <a:srgbClr val="FF0000"/>
                </a:solidFill>
              </a:rPr>
              <a:t>않는다</a:t>
            </a:r>
            <a:r>
              <a:rPr lang="en-US" altLang="ko-KR" sz="2000" dirty="0" smtClean="0">
                <a:solidFill>
                  <a:srgbClr val="FF0000"/>
                </a:solidFill>
              </a:rPr>
              <a:t> </a:t>
            </a:r>
            <a:r>
              <a:rPr lang="en-US" altLang="ko-KR" sz="2000" dirty="0" smtClean="0"/>
              <a:t>(Okada et al., 2011; </a:t>
            </a:r>
            <a:r>
              <a:rPr lang="en-US" altLang="ko-KR" sz="2000" dirty="0" err="1" smtClean="0"/>
              <a:t>Parchmann</a:t>
            </a:r>
            <a:r>
              <a:rPr lang="en-US" altLang="ko-KR" sz="2000" dirty="0" smtClean="0"/>
              <a:t> and McBride, 2011)</a:t>
            </a:r>
          </a:p>
          <a:p>
            <a:r>
              <a:rPr lang="ko-KR" altLang="en-US" sz="2000" dirty="0"/>
              <a:t>따라서 주관적인 선행 등급 기준과 관련된 한계를 극복하기 위해 데이터 기반 방법은 이동 선별 상태를 </a:t>
            </a:r>
            <a:r>
              <a:rPr lang="ko-KR" altLang="en-US" sz="2000" dirty="0" smtClean="0"/>
              <a:t>개선</a:t>
            </a:r>
            <a:r>
              <a:rPr lang="en-US" altLang="ko-KR" sz="2000" dirty="0" smtClean="0"/>
              <a:t> (</a:t>
            </a:r>
            <a:r>
              <a:rPr lang="en-US" altLang="ko-KR" sz="2000" dirty="0" err="1" smtClean="0"/>
              <a:t>McCunn</a:t>
            </a:r>
            <a:r>
              <a:rPr lang="en-US" altLang="ko-KR" sz="2000" dirty="0" smtClean="0"/>
              <a:t> et al., 2016)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5686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000" dirty="0"/>
              <a:t>패턴 인식과 </a:t>
            </a:r>
            <a:r>
              <a:rPr lang="ko-KR" altLang="en-US" sz="2000" dirty="0" err="1"/>
              <a:t>머신러닝</a:t>
            </a:r>
            <a:r>
              <a:rPr lang="ko-KR" altLang="en-US" sz="2000" dirty="0"/>
              <a:t> 기법의 적용은 생체역학</a:t>
            </a:r>
            <a:r>
              <a:rPr lang="en-US" altLang="ko-KR" sz="2000" dirty="0"/>
              <a:t>(</a:t>
            </a:r>
            <a:r>
              <a:rPr lang="en-US" altLang="ko-KR" sz="2000" dirty="0" err="1"/>
              <a:t>Halilaj</a:t>
            </a:r>
            <a:r>
              <a:rPr lang="en-US" altLang="ko-KR" sz="2000" dirty="0"/>
              <a:t> et al., 2018) </a:t>
            </a:r>
            <a:r>
              <a:rPr lang="ko-KR" altLang="en-US" sz="2000" dirty="0"/>
              <a:t>내에서 </a:t>
            </a:r>
            <a:r>
              <a:rPr lang="ko-KR" altLang="en-US" sz="2000" dirty="0" smtClean="0"/>
              <a:t>성장</a:t>
            </a:r>
            <a:endParaRPr lang="en-US" altLang="ko-KR" sz="2000" dirty="0" smtClean="0"/>
          </a:p>
          <a:p>
            <a:r>
              <a:rPr lang="ko-KR" altLang="en-US" sz="2000" dirty="0"/>
              <a:t> 데이터 주도 방식으로 움직임 표현형을 객관적으로 </a:t>
            </a:r>
            <a:r>
              <a:rPr lang="ko-KR" altLang="en-US" sz="2000" dirty="0" smtClean="0"/>
              <a:t>식별</a:t>
            </a:r>
            <a:endParaRPr lang="en-US" altLang="ko-KR" sz="2000" dirty="0" smtClean="0"/>
          </a:p>
          <a:p>
            <a:r>
              <a:rPr lang="ko-KR" altLang="en-US" sz="2000" dirty="0">
                <a:solidFill>
                  <a:srgbClr val="FF0000"/>
                </a:solidFill>
              </a:rPr>
              <a:t>패턴 인식 도구로서 주성분 분석</a:t>
            </a:r>
            <a:r>
              <a:rPr lang="en-US" altLang="ko-KR" sz="2000" dirty="0">
                <a:solidFill>
                  <a:srgbClr val="FF0000"/>
                </a:solidFill>
              </a:rPr>
              <a:t>(PCA)</a:t>
            </a:r>
            <a:r>
              <a:rPr lang="ko-KR" altLang="en-US" sz="2000" dirty="0"/>
              <a:t>은 데이터 감소를 통해 주요 이동 패턴을 </a:t>
            </a:r>
            <a:r>
              <a:rPr lang="ko-KR" altLang="en-US" sz="2000" dirty="0" smtClean="0"/>
              <a:t>식별</a:t>
            </a:r>
            <a:endParaRPr lang="en-US" altLang="ko-KR" sz="2000" dirty="0" smtClean="0"/>
          </a:p>
          <a:p>
            <a:r>
              <a:rPr lang="ko-KR" altLang="en-US" sz="2000" dirty="0" err="1"/>
              <a:t>키네마틱</a:t>
            </a:r>
            <a:r>
              <a:rPr lang="ko-KR" altLang="en-US" sz="2000" dirty="0"/>
              <a:t> 기반 데이터 세트</a:t>
            </a:r>
            <a:r>
              <a:rPr lang="en-US" altLang="ko-KR" sz="2000" dirty="0"/>
              <a:t>(</a:t>
            </a:r>
            <a:r>
              <a:rPr lang="en-US" altLang="ko-KR" sz="2000" dirty="0" err="1"/>
              <a:t>Troje</a:t>
            </a:r>
            <a:r>
              <a:rPr lang="en-US" altLang="ko-KR" sz="2000" dirty="0"/>
              <a:t>, 2002; Wrigley et al., 2005; Brandon et al., 2013; </a:t>
            </a:r>
            <a:r>
              <a:rPr lang="en-US" altLang="ko-KR" sz="2000" dirty="0" err="1"/>
              <a:t>Federolf</a:t>
            </a:r>
            <a:r>
              <a:rPr lang="en-US" altLang="ko-KR" sz="2000" dirty="0"/>
              <a:t> et al., 2014; Ross et al., 2018; Armstrong, 2019) </a:t>
            </a:r>
            <a:r>
              <a:rPr lang="ko-KR" altLang="en-US" sz="2000" dirty="0"/>
              <a:t>내의 분산을 </a:t>
            </a:r>
            <a:r>
              <a:rPr lang="ko-KR" altLang="en-US" sz="2000" dirty="0" smtClean="0"/>
              <a:t>설명</a:t>
            </a:r>
            <a:endParaRPr lang="en-US" altLang="ko-KR" sz="2000" dirty="0" smtClean="0"/>
          </a:p>
          <a:p>
            <a:r>
              <a:rPr lang="ko-KR" altLang="en-US" sz="2000" dirty="0"/>
              <a:t>해석하기 위해 군집 분석을 통한 </a:t>
            </a:r>
            <a:r>
              <a:rPr lang="ko-KR" altLang="en-US" sz="2000" dirty="0" smtClean="0"/>
              <a:t>분류</a:t>
            </a:r>
            <a:endParaRPr lang="en-US" altLang="ko-KR" sz="2000" dirty="0" smtClean="0"/>
          </a:p>
          <a:p>
            <a:r>
              <a:rPr lang="ko-KR" altLang="en-US" sz="2000" dirty="0"/>
              <a:t> 인간 이동 데이터의 생체역학 분석에서 클러스터링은 유사한 패턴</a:t>
            </a:r>
            <a:r>
              <a:rPr lang="en-US" altLang="ko-KR" sz="2000" dirty="0"/>
              <a:t>(</a:t>
            </a:r>
            <a:r>
              <a:rPr lang="en-US" altLang="ko-KR" sz="2000" dirty="0" err="1"/>
              <a:t>Sawacha</a:t>
            </a:r>
            <a:r>
              <a:rPr lang="en-US" altLang="ko-KR" sz="2000" dirty="0"/>
              <a:t> et al., 2010; </a:t>
            </a:r>
            <a:r>
              <a:rPr lang="en-US" altLang="ko-KR" sz="2000" dirty="0" err="1"/>
              <a:t>Bennetts</a:t>
            </a:r>
            <a:r>
              <a:rPr lang="en-US" altLang="ko-KR" sz="2000" dirty="0"/>
              <a:t> et al., 2013; Gilles and Wild, 2018)</a:t>
            </a:r>
            <a:r>
              <a:rPr lang="ko-KR" altLang="en-US" sz="2000" dirty="0"/>
              <a:t>과 걸음걸이 파형</a:t>
            </a:r>
            <a:r>
              <a:rPr lang="en-US" altLang="ko-KR" sz="2000" dirty="0"/>
              <a:t>(</a:t>
            </a:r>
            <a:r>
              <a:rPr lang="en-US" altLang="ko-KR" sz="2000" dirty="0" err="1"/>
              <a:t>Watelain</a:t>
            </a:r>
            <a:r>
              <a:rPr lang="en-US" altLang="ko-KR" sz="2000" dirty="0"/>
              <a:t> et al., 2000; Toro et al., 2007; Roche et al., 2014)</a:t>
            </a:r>
            <a:r>
              <a:rPr lang="ko-KR" altLang="en-US" sz="2000" dirty="0"/>
              <a:t>을 가진 참가자를 그룹화하는 데 </a:t>
            </a:r>
            <a:r>
              <a:rPr lang="ko-KR" altLang="en-US" sz="2000" dirty="0" smtClean="0"/>
              <a:t>유용</a:t>
            </a:r>
            <a:endParaRPr lang="en-US" altLang="ko-KR" sz="2000" dirty="0" smtClean="0"/>
          </a:p>
          <a:p>
            <a:r>
              <a:rPr lang="ko-KR" altLang="en-US" sz="2000" dirty="0"/>
              <a:t>본 논문의 </a:t>
            </a:r>
            <a:r>
              <a:rPr lang="ko-KR" altLang="en-US" sz="2000" dirty="0">
                <a:solidFill>
                  <a:srgbClr val="FF0000"/>
                </a:solidFill>
              </a:rPr>
              <a:t>목적은 </a:t>
            </a:r>
            <a:r>
              <a:rPr lang="en-US" altLang="ko-KR" sz="2000" dirty="0">
                <a:solidFill>
                  <a:srgbClr val="FF0000"/>
                </a:solidFill>
              </a:rPr>
              <a:t>PCA</a:t>
            </a:r>
            <a:r>
              <a:rPr lang="ko-KR" altLang="en-US" sz="2000" dirty="0">
                <a:solidFill>
                  <a:srgbClr val="FF0000"/>
                </a:solidFill>
              </a:rPr>
              <a:t>와 가우스 혼합 모델</a:t>
            </a:r>
            <a:r>
              <a:rPr lang="en-US" altLang="ko-KR" sz="2000" dirty="0">
                <a:solidFill>
                  <a:srgbClr val="FF0000"/>
                </a:solidFill>
              </a:rPr>
              <a:t>(GMM)</a:t>
            </a:r>
            <a:r>
              <a:rPr lang="ko-KR" altLang="en-US" sz="2000" dirty="0"/>
              <a:t>을 각각 패턴 인식 및 </a:t>
            </a:r>
            <a:r>
              <a:rPr lang="ko-KR" altLang="en-US" sz="2000" dirty="0" err="1"/>
              <a:t>머신러닝</a:t>
            </a:r>
            <a:r>
              <a:rPr lang="ko-KR" altLang="en-US" sz="2000" dirty="0"/>
              <a:t> 기법으로 적용하여 </a:t>
            </a:r>
            <a:r>
              <a:rPr lang="ko-KR" altLang="en-US" sz="2000" dirty="0" smtClean="0"/>
              <a:t>자연적으로 </a:t>
            </a:r>
            <a:r>
              <a:rPr lang="ko-KR" altLang="en-US" sz="2000" dirty="0"/>
              <a:t>발생하는 </a:t>
            </a:r>
            <a:r>
              <a:rPr lang="ko-KR" altLang="en-US" sz="2000" dirty="0">
                <a:solidFill>
                  <a:srgbClr val="FF0000"/>
                </a:solidFill>
              </a:rPr>
              <a:t>전신 운동 패턴 표현형을 객관적으로 </a:t>
            </a:r>
            <a:r>
              <a:rPr lang="ko-KR" altLang="en-US" sz="2000" dirty="0" smtClean="0">
                <a:solidFill>
                  <a:srgbClr val="FF0000"/>
                </a:solidFill>
              </a:rPr>
              <a:t>식별</a:t>
            </a:r>
            <a:endParaRPr lang="en-US" altLang="ko-KR" sz="2000" dirty="0" smtClean="0">
              <a:solidFill>
                <a:srgbClr val="FF0000"/>
              </a:solidFill>
            </a:endParaRPr>
          </a:p>
          <a:p>
            <a:r>
              <a:rPr lang="ko-KR" altLang="en-US" sz="2000" dirty="0" err="1"/>
              <a:t>감독되지</a:t>
            </a:r>
            <a:r>
              <a:rPr lang="ko-KR" altLang="en-US" sz="2000" dirty="0"/>
              <a:t> 않은 </a:t>
            </a:r>
            <a:r>
              <a:rPr lang="ko-KR" altLang="en-US" sz="2000" dirty="0" smtClean="0"/>
              <a:t>학습을 </a:t>
            </a:r>
            <a:r>
              <a:rPr lang="ko-KR" altLang="en-US" sz="2000" dirty="0"/>
              <a:t>사용하여 </a:t>
            </a:r>
            <a:r>
              <a:rPr lang="ko-KR" altLang="en-US" sz="2000" dirty="0" smtClean="0"/>
              <a:t>운동 </a:t>
            </a:r>
            <a:r>
              <a:rPr lang="ko-KR" altLang="en-US" sz="2000" dirty="0"/>
              <a:t>표현형 그룹 간에 실제로 다른지를 평가</a:t>
            </a:r>
          </a:p>
        </p:txBody>
      </p:sp>
    </p:spTree>
    <p:extLst>
      <p:ext uri="{BB962C8B-B14F-4D97-AF65-F5344CB8AC3E}">
        <p14:creationId xmlns:p14="http://schemas.microsoft.com/office/powerpoint/2010/main" val="339350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MATERIALS AND METHODS</a:t>
            </a:r>
            <a:br>
              <a:rPr lang="en-US" altLang="ko-KR" dirty="0" smtClean="0"/>
            </a:br>
            <a:r>
              <a:rPr lang="en-US" altLang="ko-KR" sz="3600" dirty="0" smtClean="0"/>
              <a:t>Subjects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30</a:t>
            </a:r>
            <a:r>
              <a:rPr lang="ko-KR" altLang="en-US" sz="2000" dirty="0">
                <a:solidFill>
                  <a:srgbClr val="FF0000"/>
                </a:solidFill>
              </a:rPr>
              <a:t>명의 건강한 </a:t>
            </a:r>
            <a:r>
              <a:rPr lang="ko-KR" altLang="en-US" sz="2000" dirty="0"/>
              <a:t>참가자가 이 연구에 </a:t>
            </a:r>
            <a:r>
              <a:rPr lang="ko-KR" altLang="en-US" sz="2000" dirty="0" smtClean="0"/>
              <a:t>자원</a:t>
            </a:r>
            <a:endParaRPr lang="en-US" altLang="ko-KR" sz="2000" dirty="0" smtClean="0"/>
          </a:p>
          <a:p>
            <a:r>
              <a:rPr lang="ko-KR" altLang="en-US" sz="2000" dirty="0"/>
              <a:t> 지난 </a:t>
            </a:r>
            <a:r>
              <a:rPr lang="en-US" altLang="ko-KR" sz="2000" dirty="0"/>
              <a:t>6</a:t>
            </a:r>
            <a:r>
              <a:rPr lang="ko-KR" altLang="en-US" sz="2000" dirty="0"/>
              <a:t>개월 동안 일상생활 활동을 방해하는 부상이 </a:t>
            </a:r>
            <a:r>
              <a:rPr lang="ko-KR" altLang="en-US" sz="2000" dirty="0" smtClean="0"/>
              <a:t>없었음</a:t>
            </a:r>
            <a:endParaRPr lang="en-US" altLang="ko-KR" sz="2000" dirty="0" smtClean="0"/>
          </a:p>
          <a:p>
            <a:r>
              <a:rPr lang="ko-KR" altLang="en-US" sz="2000" dirty="0"/>
              <a:t>참가자들은 연구를 위한 신체적인 준비 상태를 나타내는 </a:t>
            </a:r>
            <a:r>
              <a:rPr lang="en-US" altLang="ko-KR" sz="2000" dirty="0"/>
              <a:t>"Get Active Question"</a:t>
            </a:r>
            <a:r>
              <a:rPr lang="ko-KR" altLang="en-US" sz="2000" dirty="0"/>
              <a:t>을 </a:t>
            </a:r>
            <a:r>
              <a:rPr lang="ko-KR" altLang="en-US" sz="2000" dirty="0" smtClean="0"/>
              <a:t>작성</a:t>
            </a:r>
            <a:endParaRPr lang="en-US" altLang="ko-KR" sz="2000" dirty="0" smtClean="0"/>
          </a:p>
          <a:p>
            <a:r>
              <a:rPr lang="ko-KR" altLang="en-US" sz="2000" dirty="0"/>
              <a:t>이 연구는 워털루 대학의 연구 윤리 사무국에서 승인했으며</a:t>
            </a:r>
            <a:r>
              <a:rPr lang="en-US" altLang="ko-KR" sz="2000" dirty="0"/>
              <a:t>, </a:t>
            </a:r>
            <a:r>
              <a:rPr lang="ko-KR" altLang="en-US" sz="2000" dirty="0"/>
              <a:t>참가자들은 참여에 앞서 사전동의서를 </a:t>
            </a:r>
            <a:r>
              <a:rPr lang="ko-KR" altLang="en-US" sz="2000" dirty="0" smtClean="0"/>
              <a:t>제출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 smtClean="0"/>
              <a:t>Instrumentation</a:t>
            </a:r>
          </a:p>
          <a:p>
            <a:r>
              <a:rPr lang="ko-KR" altLang="en-US" sz="2000" dirty="0"/>
              <a:t>실험실에 오기 전에</a:t>
            </a:r>
            <a:r>
              <a:rPr lang="en-US" altLang="ko-KR" sz="2000" dirty="0"/>
              <a:t>, </a:t>
            </a:r>
            <a:r>
              <a:rPr lang="ko-KR" altLang="en-US" sz="2000" dirty="0"/>
              <a:t>참가자들은 </a:t>
            </a:r>
            <a:r>
              <a:rPr lang="ko-KR" altLang="en-US" sz="2000" dirty="0">
                <a:solidFill>
                  <a:srgbClr val="FF0000"/>
                </a:solidFill>
              </a:rPr>
              <a:t>몸에 꼭 맞는 옷을 입으라는 지시를 </a:t>
            </a:r>
            <a:r>
              <a:rPr lang="ko-KR" altLang="en-US" sz="2000" dirty="0" smtClean="0"/>
              <a:t>받음</a:t>
            </a:r>
            <a:endParaRPr lang="en-US" altLang="ko-KR" sz="2000" dirty="0" smtClean="0"/>
          </a:p>
          <a:p>
            <a:r>
              <a:rPr lang="ko-KR" altLang="en-US" sz="2000" dirty="0"/>
              <a:t>운동 캡처 </a:t>
            </a:r>
            <a:r>
              <a:rPr lang="ko-KR" altLang="en-US" sz="2000" dirty="0" err="1"/>
              <a:t>마커가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부착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그림</a:t>
            </a:r>
            <a:r>
              <a:rPr lang="en-US" altLang="ko-KR" sz="2000" dirty="0" smtClean="0"/>
              <a:t>1)</a:t>
            </a:r>
          </a:p>
          <a:p>
            <a:r>
              <a:rPr lang="ko-KR" altLang="en-US" sz="2000" dirty="0" err="1"/>
              <a:t>마커</a:t>
            </a:r>
            <a:r>
              <a:rPr lang="ko-KR" altLang="en-US" sz="2000" dirty="0"/>
              <a:t> 클러스터는 </a:t>
            </a:r>
            <a:r>
              <a:rPr lang="ko-KR" altLang="en-US" sz="2000" dirty="0" err="1"/>
              <a:t>연조직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아티팩트를</a:t>
            </a:r>
            <a:r>
              <a:rPr lang="ko-KR" altLang="en-US" sz="2000" dirty="0"/>
              <a:t> 줄이기 위해 해부학적 </a:t>
            </a:r>
            <a:r>
              <a:rPr lang="ko-KR" altLang="en-US" sz="2000" dirty="0" err="1"/>
              <a:t>마커</a:t>
            </a:r>
            <a:r>
              <a:rPr lang="ko-KR" altLang="en-US" sz="2000" dirty="0"/>
              <a:t> 대신 </a:t>
            </a:r>
            <a:r>
              <a:rPr lang="ko-KR" altLang="en-US" sz="2000" dirty="0">
                <a:solidFill>
                  <a:srgbClr val="FF0000"/>
                </a:solidFill>
              </a:rPr>
              <a:t>세그먼트 운동을 추적</a:t>
            </a:r>
            <a:r>
              <a:rPr lang="ko-KR" altLang="en-US" sz="2000" dirty="0"/>
              <a:t>하는 데 </a:t>
            </a:r>
            <a:r>
              <a:rPr lang="ko-KR" altLang="en-US" sz="2000" dirty="0" smtClean="0"/>
              <a:t>사용</a:t>
            </a:r>
            <a:r>
              <a:rPr lang="en-US" altLang="ko-KR" sz="2000" dirty="0" smtClean="0"/>
              <a:t>(</a:t>
            </a:r>
            <a:r>
              <a:rPr lang="en-US" altLang="ko-KR" sz="2000" dirty="0" err="1" smtClean="0"/>
              <a:t>Leardini</a:t>
            </a:r>
            <a:r>
              <a:rPr lang="en-US" altLang="ko-KR" sz="2000" dirty="0" smtClean="0"/>
              <a:t> et al., 2005)</a:t>
            </a:r>
          </a:p>
          <a:p>
            <a:r>
              <a:rPr lang="ko-KR" altLang="en-US" sz="2000" dirty="0"/>
              <a:t>세그먼트 특정 해부학적 </a:t>
            </a:r>
            <a:r>
              <a:rPr lang="ko-KR" altLang="en-US" sz="2000" dirty="0" err="1"/>
              <a:t>좌표계와</a:t>
            </a:r>
            <a:r>
              <a:rPr lang="ko-KR" altLang="en-US" sz="2000" dirty="0"/>
              <a:t> 수학적으로 </a:t>
            </a:r>
            <a:r>
              <a:rPr lang="ko-KR" altLang="en-US" sz="2000" dirty="0" smtClean="0"/>
              <a:t>연결</a:t>
            </a:r>
            <a:r>
              <a:rPr lang="en-US" altLang="ko-KR" sz="2000" dirty="0" smtClean="0"/>
              <a:t>(Robertson et al., 2013)</a:t>
            </a:r>
          </a:p>
          <a:p>
            <a:r>
              <a:rPr lang="en-US" altLang="ko-KR" sz="2000" dirty="0" smtClean="0">
                <a:solidFill>
                  <a:srgbClr val="FF0000"/>
                </a:solidFill>
              </a:rPr>
              <a:t>12 – camera </a:t>
            </a:r>
            <a:r>
              <a:rPr lang="en-US" altLang="ko-KR" sz="2000" dirty="0" smtClean="0"/>
              <a:t>(six, Vantage v5; six, Vero v2.2) </a:t>
            </a:r>
            <a:r>
              <a:rPr lang="en-US" altLang="ko-KR" sz="2000" dirty="0" err="1" smtClean="0"/>
              <a:t>Vicon</a:t>
            </a:r>
            <a:r>
              <a:rPr lang="en-US" altLang="ko-KR" sz="2000" dirty="0" smtClean="0"/>
              <a:t> Nexus 2.6 motion capture system (Nexus, Oxford, United Kingdom)</a:t>
            </a:r>
          </a:p>
          <a:p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146" y="1000125"/>
            <a:ext cx="193357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Protocol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964" y="1825625"/>
            <a:ext cx="6399835" cy="4351338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참가자들은 연구를 위해 총 </a:t>
            </a:r>
            <a:r>
              <a:rPr lang="en-US" altLang="ko-KR" sz="2400" dirty="0"/>
              <a:t>15</a:t>
            </a:r>
            <a:r>
              <a:rPr lang="ko-KR" altLang="en-US" sz="2400" dirty="0"/>
              <a:t>개의 동작을 </a:t>
            </a:r>
            <a:r>
              <a:rPr lang="ko-KR" altLang="en-US" sz="2400" dirty="0" smtClean="0"/>
              <a:t>수행</a:t>
            </a:r>
            <a:endParaRPr lang="en-US" altLang="ko-KR" sz="2400" dirty="0" smtClean="0"/>
          </a:p>
          <a:p>
            <a:r>
              <a:rPr lang="ko-KR" altLang="en-US" sz="2400" dirty="0">
                <a:solidFill>
                  <a:srgbClr val="FF0000"/>
                </a:solidFill>
              </a:rPr>
              <a:t>딥 </a:t>
            </a:r>
            <a:r>
              <a:rPr lang="ko-KR" altLang="en-US" sz="2400" dirty="0" err="1">
                <a:solidFill>
                  <a:srgbClr val="FF0000"/>
                </a:solidFill>
              </a:rPr>
              <a:t>스쿼트</a:t>
            </a:r>
            <a:r>
              <a:rPr lang="en-US" altLang="ko-KR" sz="2400" dirty="0">
                <a:solidFill>
                  <a:srgbClr val="FF0000"/>
                </a:solidFill>
              </a:rPr>
              <a:t>(DS</a:t>
            </a:r>
            <a:r>
              <a:rPr lang="en-US" altLang="ko-KR" sz="2400" dirty="0"/>
              <a:t>), </a:t>
            </a:r>
            <a:r>
              <a:rPr lang="ko-KR" altLang="en-US" sz="2400" dirty="0"/>
              <a:t>우측 허들 스텝</a:t>
            </a:r>
            <a:r>
              <a:rPr lang="en-US" altLang="ko-KR" sz="2400" dirty="0"/>
              <a:t>(RHS), </a:t>
            </a:r>
            <a:r>
              <a:rPr lang="ko-KR" altLang="en-US" sz="2400" dirty="0"/>
              <a:t>좌측 허들 스텝</a:t>
            </a:r>
            <a:r>
              <a:rPr lang="en-US" altLang="ko-KR" sz="2400" dirty="0"/>
              <a:t>(LHS</a:t>
            </a:r>
            <a:r>
              <a:rPr lang="en-US" altLang="ko-KR" sz="2400" dirty="0" smtClean="0"/>
              <a:t>) </a:t>
            </a:r>
            <a:r>
              <a:rPr lang="ko-KR" altLang="en-US" sz="2400" dirty="0" smtClean="0"/>
              <a:t>각</a:t>
            </a:r>
            <a:r>
              <a:rPr lang="en-US" altLang="ko-KR" sz="2400" dirty="0" smtClean="0"/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5</a:t>
            </a:r>
            <a:r>
              <a:rPr lang="ko-KR" altLang="en-US" sz="2400" dirty="0">
                <a:solidFill>
                  <a:srgbClr val="FF0000"/>
                </a:solidFill>
              </a:rPr>
              <a:t>개 </a:t>
            </a:r>
            <a:r>
              <a:rPr lang="ko-KR" altLang="en-US" sz="2400" dirty="0" smtClean="0">
                <a:solidFill>
                  <a:srgbClr val="FF0000"/>
                </a:solidFill>
              </a:rPr>
              <a:t>동작</a:t>
            </a:r>
            <a:endParaRPr lang="en-US" altLang="ko-KR" sz="2400" dirty="0" smtClean="0">
              <a:solidFill>
                <a:srgbClr val="FF0000"/>
              </a:solidFill>
            </a:endParaRPr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그림 </a:t>
            </a:r>
            <a:r>
              <a:rPr lang="en-US" altLang="ko-KR" sz="2400" dirty="0"/>
              <a:t>2)</a:t>
            </a:r>
            <a:r>
              <a:rPr lang="ko-KR" altLang="en-US" sz="2400" dirty="0"/>
              <a:t>에 설명된 </a:t>
            </a:r>
            <a:r>
              <a:rPr lang="ko-KR" altLang="en-US" sz="2400" dirty="0" err="1"/>
              <a:t>동작으로부터</a:t>
            </a:r>
            <a:r>
              <a:rPr lang="ko-KR" altLang="en-US" sz="2400" dirty="0"/>
              <a:t> 각 동작을 수행하는 방법에 대한 지침을 </a:t>
            </a:r>
            <a:r>
              <a:rPr lang="ko-KR" altLang="en-US" sz="2400" dirty="0" smtClean="0"/>
              <a:t>받음</a:t>
            </a:r>
            <a:endParaRPr lang="en-US" altLang="ko-KR" sz="2400" dirty="0" smtClean="0"/>
          </a:p>
          <a:p>
            <a:r>
              <a:rPr lang="ko-KR" altLang="en-US" sz="2400" dirty="0"/>
              <a:t> </a:t>
            </a:r>
            <a:r>
              <a:rPr lang="ko-KR" altLang="en-US" sz="2400" dirty="0" err="1"/>
              <a:t>스쿼트</a:t>
            </a:r>
            <a:r>
              <a:rPr lang="ko-KR" altLang="en-US" sz="2400" dirty="0"/>
              <a:t> 참가자들은 </a:t>
            </a:r>
            <a:r>
              <a:rPr lang="en-US" altLang="ko-KR" sz="2400" dirty="0"/>
              <a:t>"</a:t>
            </a:r>
            <a:r>
              <a:rPr lang="ko-KR" altLang="en-US" sz="2400" dirty="0"/>
              <a:t>발 너비를 거의 어깨 </a:t>
            </a:r>
            <a:r>
              <a:rPr lang="ko-KR" altLang="en-US" sz="2400" dirty="0" smtClean="0"/>
              <a:t>너비</a:t>
            </a:r>
            <a:r>
              <a:rPr lang="en-US" altLang="ko-KR" sz="2400" dirty="0" smtClean="0"/>
              <a:t>, </a:t>
            </a:r>
            <a:r>
              <a:rPr lang="ko-KR" altLang="en-US" sz="2400" dirty="0"/>
              <a:t>팔꿈치가 </a:t>
            </a:r>
            <a:r>
              <a:rPr lang="en-US" altLang="ko-KR" sz="2400" dirty="0"/>
              <a:t>90</a:t>
            </a:r>
            <a:r>
              <a:rPr lang="ko-KR" altLang="en-US" sz="2400" dirty="0"/>
              <a:t>도가 될 때까지 </a:t>
            </a:r>
            <a:r>
              <a:rPr lang="ko-KR" altLang="en-US" sz="2400" dirty="0" smtClean="0"/>
              <a:t>손을 조절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 팔꿈치를 </a:t>
            </a:r>
            <a:r>
              <a:rPr lang="ko-KR" altLang="en-US" sz="2400" dirty="0"/>
              <a:t>곧게 펴라</a:t>
            </a:r>
            <a:r>
              <a:rPr lang="en-US" altLang="ko-KR" sz="2400" dirty="0"/>
              <a:t>"</a:t>
            </a:r>
            <a:r>
              <a:rPr lang="ko-KR" altLang="en-US" sz="2400" dirty="0"/>
              <a:t>고 지시 </a:t>
            </a:r>
            <a:r>
              <a:rPr lang="ko-KR" altLang="en-US" sz="2400" dirty="0" smtClean="0"/>
              <a:t>받음</a:t>
            </a:r>
            <a:endParaRPr lang="en-US" altLang="ko-KR" sz="2400" dirty="0" smtClean="0"/>
          </a:p>
          <a:p>
            <a:r>
              <a:rPr lang="ko-KR" altLang="en-US" sz="2400" dirty="0"/>
              <a:t>모션 데이터는 참가자들이 각각 </a:t>
            </a:r>
            <a:r>
              <a:rPr lang="en-US" altLang="ko-KR" sz="2400" dirty="0"/>
              <a:t>DS, RHS, LHS </a:t>
            </a:r>
            <a:r>
              <a:rPr lang="ko-KR" altLang="en-US" sz="2400" dirty="0"/>
              <a:t>동작을 수행하는 동안 </a:t>
            </a:r>
            <a:r>
              <a:rPr lang="en-US" altLang="ko-KR" sz="2400" dirty="0" err="1"/>
              <a:t>Vicon</a:t>
            </a:r>
            <a:r>
              <a:rPr lang="en-US" altLang="ko-KR" sz="2400" dirty="0"/>
              <a:t> Nexus</a:t>
            </a:r>
            <a:r>
              <a:rPr lang="ko-KR" altLang="en-US" sz="2400" dirty="0"/>
              <a:t>를 사용하여 </a:t>
            </a:r>
            <a:r>
              <a:rPr lang="en-US" altLang="ko-KR" sz="2400" dirty="0">
                <a:solidFill>
                  <a:srgbClr val="FF0000"/>
                </a:solidFill>
              </a:rPr>
              <a:t>60Hz</a:t>
            </a:r>
            <a:r>
              <a:rPr lang="ko-KR" altLang="en-US" sz="2400" dirty="0"/>
              <a:t>로 수집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63" y="1825625"/>
            <a:ext cx="4469648" cy="394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0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Data Post-processing and Conditioning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후처리 과정에서 각 시험에는 </a:t>
            </a:r>
            <a:r>
              <a:rPr lang="ko-KR" altLang="en-US" sz="2000" dirty="0">
                <a:solidFill>
                  <a:srgbClr val="FF0000"/>
                </a:solidFill>
              </a:rPr>
              <a:t>먼저 라벨이 </a:t>
            </a:r>
            <a:r>
              <a:rPr lang="ko-KR" altLang="en-US" sz="2000" dirty="0" smtClean="0">
                <a:solidFill>
                  <a:srgbClr val="FF0000"/>
                </a:solidFill>
              </a:rPr>
              <a:t>붙었음</a:t>
            </a:r>
            <a:endParaRPr lang="en-US" altLang="ko-KR" sz="2000" dirty="0" smtClean="0">
              <a:solidFill>
                <a:srgbClr val="FF0000"/>
              </a:solidFill>
            </a:endParaRPr>
          </a:p>
          <a:p>
            <a:r>
              <a:rPr lang="ko-KR" altLang="en-US" sz="2000" dirty="0"/>
              <a:t>턴 채우기 또는 </a:t>
            </a:r>
            <a:r>
              <a:rPr lang="ko-KR" altLang="en-US" sz="2000" dirty="0" err="1"/>
              <a:t>강체</a:t>
            </a:r>
            <a:r>
              <a:rPr lang="ko-KR" altLang="en-US" sz="2000" dirty="0"/>
              <a:t> 보디 채우기 기능을 사용하여 갭을 </a:t>
            </a:r>
            <a:r>
              <a:rPr lang="ko-KR" altLang="en-US" sz="2000" dirty="0" smtClean="0"/>
              <a:t>채웠음</a:t>
            </a:r>
            <a:r>
              <a:rPr lang="en-US" altLang="ko-KR" sz="2000" dirty="0" smtClean="0"/>
              <a:t>(Armstrong et al., 2019)</a:t>
            </a:r>
          </a:p>
          <a:p>
            <a:r>
              <a:rPr lang="ko-KR" altLang="en-US" sz="2000" dirty="0"/>
              <a:t>공백이 채워지고 라벨이 표시된 </a:t>
            </a:r>
            <a:r>
              <a:rPr lang="ko-KR" altLang="en-US" sz="2000" dirty="0" err="1"/>
              <a:t>마커</a:t>
            </a:r>
            <a:r>
              <a:rPr lang="ko-KR" altLang="en-US" sz="2000" dirty="0"/>
              <a:t> 궤적 데이터는 </a:t>
            </a:r>
            <a:r>
              <a:rPr lang="ko-KR" altLang="en-US" sz="2000" dirty="0" err="1"/>
              <a:t>비주얼</a:t>
            </a:r>
            <a:r>
              <a:rPr lang="ko-KR" altLang="en-US" sz="2000" dirty="0"/>
              <a:t> </a:t>
            </a:r>
            <a:r>
              <a:rPr lang="en-US" altLang="ko-KR" sz="2000" dirty="0" smtClean="0"/>
              <a:t>3D(C-Motion Inc., Germantown, United States)</a:t>
            </a:r>
            <a:r>
              <a:rPr lang="ko-KR" altLang="en-US" sz="2000" dirty="0" smtClean="0"/>
              <a:t>로 </a:t>
            </a:r>
            <a:r>
              <a:rPr lang="ko-KR" altLang="en-US" sz="2000" dirty="0" err="1" smtClean="0"/>
              <a:t>내보짐</a:t>
            </a:r>
            <a:endParaRPr lang="en-US" altLang="ko-KR" sz="2000" dirty="0" smtClean="0"/>
          </a:p>
          <a:p>
            <a:r>
              <a:rPr lang="ko-KR" altLang="en-US" sz="2000" dirty="0" err="1"/>
              <a:t>비주얼</a:t>
            </a:r>
            <a:r>
              <a:rPr lang="ko-KR" altLang="en-US" sz="2000" dirty="0"/>
              <a:t> </a:t>
            </a:r>
            <a:r>
              <a:rPr lang="en-US" altLang="ko-KR" sz="2000" dirty="0"/>
              <a:t>3D</a:t>
            </a:r>
            <a:r>
              <a:rPr lang="ko-KR" altLang="en-US" sz="2000" dirty="0"/>
              <a:t>에서는 각 신호에서 고주파 노이즈를 </a:t>
            </a:r>
            <a:r>
              <a:rPr lang="ko-KR" altLang="en-US" sz="2000" dirty="0" smtClean="0"/>
              <a:t>제거</a:t>
            </a:r>
            <a:endParaRPr lang="en-US" altLang="ko-KR" sz="2000" dirty="0" smtClean="0"/>
          </a:p>
          <a:p>
            <a:r>
              <a:rPr lang="ko-KR" altLang="en-US" sz="2000" dirty="0" err="1"/>
              <a:t>필터링된</a:t>
            </a:r>
            <a:r>
              <a:rPr lang="ko-KR" altLang="en-US" sz="2000" dirty="0"/>
              <a:t> 궤적 데이터는 이후 </a:t>
            </a:r>
            <a:r>
              <a:rPr lang="en-US" altLang="ko-KR" sz="2000" dirty="0"/>
              <a:t>15</a:t>
            </a:r>
            <a:r>
              <a:rPr lang="ko-KR" altLang="en-US" sz="2000" dirty="0"/>
              <a:t>개 세그먼트 전신 운동학적 모델을 구동하기 위해 </a:t>
            </a:r>
            <a:r>
              <a:rPr lang="ko-KR" altLang="en-US" sz="2000" dirty="0" smtClean="0"/>
              <a:t>사용</a:t>
            </a:r>
            <a:endParaRPr lang="en-US" altLang="ko-KR" sz="2000" dirty="0" smtClean="0"/>
          </a:p>
          <a:p>
            <a:r>
              <a:rPr lang="ko-KR" altLang="en-US" sz="2000" dirty="0"/>
              <a:t>여기에는 </a:t>
            </a:r>
            <a:r>
              <a:rPr lang="en-US" altLang="ko-KR" sz="2000" dirty="0"/>
              <a:t>ISB </a:t>
            </a:r>
            <a:r>
              <a:rPr lang="ko-KR" altLang="en-US" sz="2000" dirty="0"/>
              <a:t>권장 세그먼트 </a:t>
            </a:r>
            <a:r>
              <a:rPr lang="ko-KR" altLang="en-US" sz="2000" dirty="0" smtClean="0"/>
              <a:t>정의</a:t>
            </a:r>
            <a:r>
              <a:rPr lang="da-DK" altLang="ko-KR" sz="2000" dirty="0" smtClean="0"/>
              <a:t>(Wu et al., 2002, 2005)</a:t>
            </a:r>
            <a:r>
              <a:rPr lang="ko-KR" altLang="en-US" sz="2000" dirty="0" err="1" smtClean="0"/>
              <a:t>를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사용하여 세그먼트가 </a:t>
            </a:r>
            <a:r>
              <a:rPr lang="ko-KR" altLang="en-US" sz="2000" dirty="0" smtClean="0"/>
              <a:t>정의</a:t>
            </a:r>
            <a:endParaRPr lang="en-US" altLang="ko-KR" sz="2000" dirty="0" smtClean="0"/>
          </a:p>
          <a:p>
            <a:r>
              <a:rPr lang="ko-KR" altLang="en-US" sz="2000" dirty="0"/>
              <a:t>이때 </a:t>
            </a:r>
            <a:r>
              <a:rPr lang="ko-KR" altLang="en-US" sz="2000" dirty="0">
                <a:solidFill>
                  <a:srgbClr val="FF0000"/>
                </a:solidFill>
              </a:rPr>
              <a:t>관절 중심 위치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 err="1"/>
              <a:t>앵클</a:t>
            </a:r>
            <a:r>
              <a:rPr lang="en-US" altLang="ko-KR" sz="2000" dirty="0"/>
              <a:t>, </a:t>
            </a:r>
            <a:r>
              <a:rPr lang="ko-KR" altLang="en-US" sz="2000" dirty="0"/>
              <a:t>무릎</a:t>
            </a:r>
            <a:r>
              <a:rPr lang="en-US" altLang="ko-KR" sz="2000" dirty="0"/>
              <a:t>, </a:t>
            </a:r>
            <a:r>
              <a:rPr lang="ko-KR" altLang="en-US" sz="2000" dirty="0"/>
              <a:t>엉덩이</a:t>
            </a:r>
            <a:r>
              <a:rPr lang="en-US" altLang="ko-KR" sz="2000" dirty="0"/>
              <a:t>, </a:t>
            </a:r>
            <a:r>
              <a:rPr lang="ko-KR" altLang="en-US" sz="2000" dirty="0"/>
              <a:t>어깨</a:t>
            </a:r>
            <a:r>
              <a:rPr lang="en-US" altLang="ko-KR" sz="2000" dirty="0"/>
              <a:t>, </a:t>
            </a:r>
            <a:r>
              <a:rPr lang="ko-KR" altLang="en-US" sz="2000" dirty="0"/>
              <a:t>팔꿈치</a:t>
            </a:r>
            <a:r>
              <a:rPr lang="en-US" altLang="ko-KR" sz="2000" dirty="0"/>
              <a:t>, </a:t>
            </a:r>
            <a:r>
              <a:rPr lang="ko-KR" altLang="en-US" sz="2000" dirty="0"/>
              <a:t>손목</a:t>
            </a:r>
            <a:r>
              <a:rPr lang="en-US" altLang="ko-KR" sz="2000" dirty="0"/>
              <a:t>)</a:t>
            </a:r>
            <a:r>
              <a:rPr lang="ko-KR" altLang="en-US" sz="2000" dirty="0"/>
              <a:t>와 </a:t>
            </a:r>
            <a:r>
              <a:rPr lang="ko-KR" altLang="en-US" sz="2000" dirty="0" smtClean="0">
                <a:solidFill>
                  <a:srgbClr val="FF0000"/>
                </a:solidFill>
              </a:rPr>
              <a:t>질량 중심</a:t>
            </a:r>
            <a:r>
              <a:rPr lang="en-US" altLang="ko-KR" sz="2000" dirty="0" smtClean="0">
                <a:solidFill>
                  <a:srgbClr val="FF0000"/>
                </a:solidFill>
              </a:rPr>
              <a:t>(</a:t>
            </a:r>
            <a:r>
              <a:rPr lang="en-US" altLang="ko-KR" sz="2000" dirty="0">
                <a:solidFill>
                  <a:srgbClr val="FF0000"/>
                </a:solidFill>
              </a:rPr>
              <a:t>COM, </a:t>
            </a:r>
            <a:r>
              <a:rPr lang="en-US" altLang="ko-KR" sz="2000" dirty="0" err="1" smtClean="0">
                <a:solidFill>
                  <a:srgbClr val="FF0000"/>
                </a:solidFill>
              </a:rPr>
              <a:t>centre</a:t>
            </a:r>
            <a:r>
              <a:rPr lang="en-US" altLang="ko-KR" sz="2000" dirty="0" smtClean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of mass) </a:t>
            </a:r>
            <a:r>
              <a:rPr lang="ko-KR" altLang="en-US" sz="2000" dirty="0">
                <a:solidFill>
                  <a:srgbClr val="FF0000"/>
                </a:solidFill>
              </a:rPr>
              <a:t>위치</a:t>
            </a:r>
            <a:r>
              <a:rPr lang="en-US" altLang="ko-KR" sz="2000" dirty="0"/>
              <a:t>(</a:t>
            </a:r>
            <a:r>
              <a:rPr lang="ko-KR" altLang="en-US" sz="2000" dirty="0" err="1"/>
              <a:t>펠비스</a:t>
            </a:r>
            <a:r>
              <a:rPr lang="en-US" altLang="ko-KR" sz="2000" dirty="0"/>
              <a:t>, </a:t>
            </a:r>
            <a:r>
              <a:rPr lang="ko-KR" altLang="en-US" sz="2000" dirty="0"/>
              <a:t>트렁크 및 머리</a:t>
            </a:r>
            <a:r>
              <a:rPr lang="en-US" altLang="ko-KR" sz="2000" dirty="0"/>
              <a:t>)</a:t>
            </a:r>
            <a:r>
              <a:rPr lang="ko-KR" altLang="en-US" sz="2000" dirty="0"/>
              <a:t>가 </a:t>
            </a:r>
            <a:r>
              <a:rPr lang="ko-KR" altLang="en-US" sz="2000" dirty="0" smtClean="0"/>
              <a:t>포함</a:t>
            </a:r>
            <a:endParaRPr lang="en-US" altLang="ko-KR" sz="2000" dirty="0" smtClean="0"/>
          </a:p>
          <a:p>
            <a:r>
              <a:rPr lang="ko-KR" altLang="en-US" sz="2000" dirty="0" err="1" smtClean="0"/>
              <a:t>계산이된</a:t>
            </a:r>
            <a:r>
              <a:rPr lang="ko-KR" altLang="en-US" sz="2000" dirty="0" smtClean="0"/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관절 중심 및 </a:t>
            </a:r>
            <a:r>
              <a:rPr lang="en-US" altLang="ko-KR" sz="2000" dirty="0" smtClean="0">
                <a:solidFill>
                  <a:srgbClr val="FF0000"/>
                </a:solidFill>
              </a:rPr>
              <a:t>(</a:t>
            </a:r>
            <a:r>
              <a:rPr lang="en-US" altLang="ko-KR" sz="2000" dirty="0" smtClean="0">
                <a:solidFill>
                  <a:srgbClr val="FF0000"/>
                </a:solidFill>
              </a:rPr>
              <a:t>COM) </a:t>
            </a:r>
            <a:r>
              <a:rPr lang="ko-KR" altLang="en-US" sz="2000" dirty="0">
                <a:solidFill>
                  <a:srgbClr val="FF0000"/>
                </a:solidFill>
              </a:rPr>
              <a:t>궤적 데이터를 선택된 신체 랜드마크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지관절</a:t>
            </a:r>
            <a:r>
              <a:rPr lang="ko-KR" altLang="en-US" sz="2000" dirty="0"/>
              <a:t> 프로세스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외측골</a:t>
            </a:r>
            <a:r>
              <a:rPr lang="en-US" altLang="ko-KR" sz="2000" dirty="0"/>
              <a:t>, 7</a:t>
            </a:r>
            <a:r>
              <a:rPr lang="ko-KR" altLang="en-US" sz="2000" dirty="0"/>
              <a:t>번째 </a:t>
            </a:r>
            <a:r>
              <a:rPr lang="ko-KR" altLang="en-US" sz="2000" dirty="0" err="1"/>
              <a:t>경추</a:t>
            </a:r>
            <a:r>
              <a:rPr lang="en-US" altLang="ko-KR" sz="2000" dirty="0"/>
              <a:t>)</a:t>
            </a:r>
            <a:r>
              <a:rPr lang="ko-KR" altLang="en-US" sz="2000" dirty="0"/>
              <a:t>에서 </a:t>
            </a:r>
            <a:r>
              <a:rPr lang="ko-KR" altLang="en-US" sz="2000" dirty="0" err="1">
                <a:solidFill>
                  <a:srgbClr val="FF0000"/>
                </a:solidFill>
              </a:rPr>
              <a:t>필터링된</a:t>
            </a:r>
            <a:r>
              <a:rPr lang="ko-KR" altLang="en-US" sz="2000" dirty="0">
                <a:solidFill>
                  <a:srgbClr val="FF0000"/>
                </a:solidFill>
              </a:rPr>
              <a:t> 위치 데이터와 결합하여 </a:t>
            </a:r>
            <a:r>
              <a:rPr lang="ko-KR" altLang="en-US" sz="2000" dirty="0"/>
              <a:t>각 운동에 대한 운동학적 설명을 제공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49822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Data Post-processing and Conditioning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추가 데이터 처리에 앞서 각 시험의 시작 및 종료 프레임이 </a:t>
            </a:r>
            <a:r>
              <a:rPr lang="ko-KR" altLang="en-US" sz="2000" dirty="0" smtClean="0"/>
              <a:t>결정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그림</a:t>
            </a:r>
            <a:r>
              <a:rPr lang="en-US" altLang="ko-KR" sz="2000" dirty="0" smtClean="0"/>
              <a:t>3)</a:t>
            </a:r>
          </a:p>
          <a:p>
            <a:r>
              <a:rPr lang="ko-KR" altLang="en-US" sz="2000" dirty="0"/>
              <a:t> </a:t>
            </a:r>
            <a:r>
              <a:rPr lang="en-US" altLang="ko-KR" sz="2000" dirty="0">
                <a:solidFill>
                  <a:srgbClr val="FF0000"/>
                </a:solidFill>
              </a:rPr>
              <a:t>DS "</a:t>
            </a:r>
            <a:r>
              <a:rPr lang="ko-KR" altLang="en-US" sz="2000" dirty="0">
                <a:solidFill>
                  <a:srgbClr val="FF0000"/>
                </a:solidFill>
              </a:rPr>
              <a:t>시작</a:t>
            </a:r>
            <a:r>
              <a:rPr lang="en-US" altLang="ko-KR" sz="2000" dirty="0">
                <a:solidFill>
                  <a:srgbClr val="FF0000"/>
                </a:solidFill>
              </a:rPr>
              <a:t>"</a:t>
            </a:r>
            <a:r>
              <a:rPr lang="ko-KR" altLang="en-US" sz="2000" dirty="0">
                <a:solidFill>
                  <a:srgbClr val="FF0000"/>
                </a:solidFill>
              </a:rPr>
              <a:t>과 </a:t>
            </a:r>
            <a:r>
              <a:rPr lang="en-US" altLang="ko-KR" sz="2000" dirty="0">
                <a:solidFill>
                  <a:srgbClr val="FF0000"/>
                </a:solidFill>
              </a:rPr>
              <a:t>"</a:t>
            </a:r>
            <a:r>
              <a:rPr lang="ko-KR" altLang="en-US" sz="2000" dirty="0">
                <a:solidFill>
                  <a:srgbClr val="FF0000"/>
                </a:solidFill>
              </a:rPr>
              <a:t>종료</a:t>
            </a:r>
            <a:r>
              <a:rPr lang="en-US" altLang="ko-KR" sz="2000" dirty="0">
                <a:solidFill>
                  <a:srgbClr val="FF0000"/>
                </a:solidFill>
              </a:rPr>
              <a:t>"</a:t>
            </a:r>
            <a:r>
              <a:rPr lang="ko-KR" altLang="en-US" sz="2000" dirty="0">
                <a:solidFill>
                  <a:srgbClr val="FF0000"/>
                </a:solidFill>
              </a:rPr>
              <a:t>는 의 로컬 최대값을 식별</a:t>
            </a:r>
            <a:r>
              <a:rPr lang="ko-KR" altLang="en-US" sz="2000" dirty="0"/>
              <a:t>하여 </a:t>
            </a:r>
            <a:r>
              <a:rPr lang="ko-KR" altLang="en-US" sz="2000" dirty="0" smtClean="0"/>
              <a:t>정의</a:t>
            </a:r>
            <a:endParaRPr lang="en-US" altLang="ko-KR" sz="2000" dirty="0" smtClean="0"/>
          </a:p>
          <a:p>
            <a:r>
              <a:rPr lang="ko-KR" altLang="en-US" sz="2000" dirty="0" err="1" smtClean="0"/>
              <a:t>허들스텝의</a:t>
            </a:r>
            <a:r>
              <a:rPr lang="ko-KR" altLang="en-US" sz="2000" dirty="0" smtClean="0"/>
              <a:t> 시작과 끝은 </a:t>
            </a:r>
            <a:r>
              <a:rPr lang="en-US" altLang="ko-KR" sz="2000" dirty="0" smtClean="0"/>
              <a:t>lead heel </a:t>
            </a:r>
            <a:r>
              <a:rPr lang="ko-KR" altLang="en-US" sz="2000" dirty="0" err="1" smtClean="0"/>
              <a:t>마커의</a:t>
            </a:r>
            <a:r>
              <a:rPr lang="ko-KR" altLang="en-US" sz="2000" dirty="0" smtClean="0"/>
              <a:t> 수직 로컬 미니멈으로 결정</a:t>
            </a:r>
            <a:endParaRPr lang="en-US" altLang="ko-KR" sz="2000" dirty="0" smtClean="0"/>
          </a:p>
          <a:p>
            <a:r>
              <a:rPr lang="ko-KR" altLang="en-US" sz="2000" dirty="0"/>
              <a:t>궤적 데이터를 사용하여 선별에 일반적으로 사용되는 이산 </a:t>
            </a:r>
            <a:r>
              <a:rPr lang="ko-KR" altLang="en-US" sz="2000" dirty="0" err="1"/>
              <a:t>키네마틱</a:t>
            </a:r>
            <a:r>
              <a:rPr lang="ko-KR" altLang="en-US" sz="2000" dirty="0"/>
              <a:t> 변수를 </a:t>
            </a:r>
            <a:r>
              <a:rPr lang="ko-KR" altLang="en-US" sz="2000" dirty="0" smtClean="0"/>
              <a:t>계산</a:t>
            </a:r>
            <a:endParaRPr lang="en-US" altLang="ko-KR" sz="2000" dirty="0" smtClean="0"/>
          </a:p>
          <a:p>
            <a:r>
              <a:rPr lang="ko-KR" altLang="en-US" sz="2000" dirty="0"/>
              <a:t> 표 </a:t>
            </a:r>
            <a:r>
              <a:rPr lang="en-US" altLang="ko-KR" sz="2000" dirty="0"/>
              <a:t>2, 3</a:t>
            </a:r>
            <a:r>
              <a:rPr lang="ko-KR" altLang="en-US" sz="2000" dirty="0"/>
              <a:t>은 계산된 추가 이산 </a:t>
            </a:r>
            <a:r>
              <a:rPr lang="ko-KR" altLang="en-US" sz="2000" dirty="0" err="1"/>
              <a:t>키네마틱</a:t>
            </a:r>
            <a:r>
              <a:rPr lang="ko-KR" altLang="en-US" sz="2000" dirty="0"/>
              <a:t> 데이터를 나열하고 이 분석을 지원하기 위해 계산된 방법을 </a:t>
            </a:r>
            <a:r>
              <a:rPr lang="ko-KR" altLang="en-US" sz="2000" dirty="0" smtClean="0"/>
              <a:t>요약</a:t>
            </a:r>
            <a:endParaRPr lang="en-US" altLang="ko-KR" sz="2000" dirty="0" smtClean="0"/>
          </a:p>
          <a:p>
            <a:r>
              <a:rPr lang="ko-KR" altLang="en-US" sz="2000" dirty="0">
                <a:solidFill>
                  <a:srgbClr val="FF0000"/>
                </a:solidFill>
              </a:rPr>
              <a:t>공동 센터</a:t>
            </a:r>
            <a:r>
              <a:rPr lang="en-US" altLang="ko-KR" sz="2000" dirty="0">
                <a:solidFill>
                  <a:srgbClr val="FF0000"/>
                </a:solidFill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랜드마크</a:t>
            </a:r>
            <a:r>
              <a:rPr lang="en-US" altLang="ko-KR" sz="2000" dirty="0">
                <a:solidFill>
                  <a:srgbClr val="FF0000"/>
                </a:solidFill>
              </a:rPr>
              <a:t>, COM </a:t>
            </a:r>
            <a:r>
              <a:rPr lang="ko-KR" altLang="en-US" sz="2000" dirty="0">
                <a:solidFill>
                  <a:srgbClr val="FF0000"/>
                </a:solidFill>
              </a:rPr>
              <a:t>위치를 나타내는 궤적 데이터를 </a:t>
            </a:r>
            <a:r>
              <a:rPr lang="en-US" altLang="ko-KR" sz="2000" dirty="0" err="1" smtClean="0">
                <a:solidFill>
                  <a:srgbClr val="FF0000"/>
                </a:solidFill>
              </a:rPr>
              <a:t>Matlab</a:t>
            </a:r>
            <a:r>
              <a:rPr lang="ko-KR" altLang="en-US" sz="2000" dirty="0" smtClean="0">
                <a:solidFill>
                  <a:srgbClr val="FF0000"/>
                </a:solidFill>
              </a:rPr>
              <a:t>으로 처리</a:t>
            </a:r>
            <a:endParaRPr lang="en-US" altLang="ko-KR" sz="2000" dirty="0" smtClean="0">
              <a:solidFill>
                <a:srgbClr val="FF0000"/>
              </a:solidFill>
            </a:endParaRPr>
          </a:p>
          <a:p>
            <a:r>
              <a:rPr lang="ko-KR" altLang="en-US" sz="2000" dirty="0"/>
              <a:t> 매트랩에서는 참가자의 궤적 데이터를 입석 높이로 나누어 참가자의 키 간 분산을 </a:t>
            </a:r>
            <a:r>
              <a:rPr lang="ko-KR" altLang="en-US" sz="2000" dirty="0" smtClean="0"/>
              <a:t>정상화</a:t>
            </a:r>
            <a:r>
              <a:rPr lang="en-US" altLang="ko-KR" sz="2000" dirty="0" smtClean="0"/>
              <a:t>(Ross et al., 2018)</a:t>
            </a:r>
          </a:p>
          <a:p>
            <a:r>
              <a:rPr lang="en-US" altLang="ko-KR" sz="2000" dirty="0"/>
              <a:t>(DS, LHS) </a:t>
            </a:r>
            <a:r>
              <a:rPr lang="ko-KR" altLang="en-US" sz="2000" dirty="0"/>
              <a:t>발목 </a:t>
            </a:r>
            <a:r>
              <a:rPr lang="ko-KR" altLang="en-US" sz="2000" dirty="0" err="1"/>
              <a:t>좌표계의</a:t>
            </a:r>
            <a:r>
              <a:rPr lang="ko-KR" altLang="en-US" sz="2000" dirty="0"/>
              <a:t> 중앙에 위치하도록</a:t>
            </a:r>
          </a:p>
        </p:txBody>
      </p:sp>
    </p:spTree>
    <p:extLst>
      <p:ext uri="{BB962C8B-B14F-4D97-AF65-F5344CB8AC3E}">
        <p14:creationId xmlns:p14="http://schemas.microsoft.com/office/powerpoint/2010/main" val="3536824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6410325" cy="39243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Data Post-processing and Conditioning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18834" y="1825625"/>
            <a:ext cx="5334965" cy="435133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DS </a:t>
            </a:r>
            <a:r>
              <a:rPr lang="ko-KR" altLang="en-US" sz="2000" dirty="0"/>
              <a:t>참가자는 일반적으로 최대 </a:t>
            </a:r>
            <a:r>
              <a:rPr lang="ko-KR" altLang="en-US" sz="2000" dirty="0" err="1"/>
              <a:t>스쿼트</a:t>
            </a:r>
            <a:r>
              <a:rPr lang="ko-KR" altLang="en-US" sz="2000" dirty="0"/>
              <a:t> 깊이까지 내려와서 똑바로 서 있는 상태로 돌아오는 데 </a:t>
            </a:r>
            <a:r>
              <a:rPr lang="ko-KR" altLang="en-US" sz="2000" dirty="0">
                <a:solidFill>
                  <a:srgbClr val="FF0000"/>
                </a:solidFill>
              </a:rPr>
              <a:t>다른 시간이 </a:t>
            </a:r>
            <a:r>
              <a:rPr lang="ko-KR" altLang="en-US" sz="2000" dirty="0" smtClean="0"/>
              <a:t>걸렸음</a:t>
            </a:r>
            <a:endParaRPr lang="en-US" altLang="ko-KR" sz="2000" dirty="0" smtClean="0"/>
          </a:p>
          <a:p>
            <a:r>
              <a:rPr lang="ko-KR" altLang="en-US" sz="2000" dirty="0"/>
              <a:t>움직임의 </a:t>
            </a:r>
            <a:r>
              <a:rPr lang="en-US" altLang="ko-KR" sz="2000" dirty="0"/>
              <a:t>"</a:t>
            </a:r>
            <a:r>
              <a:rPr lang="ko-KR" altLang="en-US" sz="2000" dirty="0"/>
              <a:t>이동</a:t>
            </a:r>
            <a:r>
              <a:rPr lang="en-US" altLang="ko-KR" sz="2000" dirty="0"/>
              <a:t>" </a:t>
            </a:r>
            <a:r>
              <a:rPr lang="ko-KR" altLang="en-US" sz="2000" dirty="0"/>
              <a:t>부분</a:t>
            </a:r>
            <a:r>
              <a:rPr lang="en-US" altLang="ko-KR" sz="2000" dirty="0"/>
              <a:t>(</a:t>
            </a: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/>
              <a:t>서 있는 상태에서 최대 </a:t>
            </a:r>
            <a:r>
              <a:rPr lang="ko-KR" altLang="en-US" sz="2000" dirty="0" err="1"/>
              <a:t>스쿼트</a:t>
            </a:r>
            <a:r>
              <a:rPr lang="ko-KR" altLang="en-US" sz="2000" dirty="0"/>
              <a:t> 깊이까지 또는 장애물 위로 발이 확장됨</a:t>
            </a:r>
            <a:r>
              <a:rPr lang="en-US" altLang="ko-KR" sz="2000" dirty="0"/>
              <a:t>)</a:t>
            </a:r>
            <a:r>
              <a:rPr lang="ko-KR" altLang="en-US" sz="2000" dirty="0"/>
              <a:t>을 </a:t>
            </a:r>
            <a:r>
              <a:rPr lang="ko-KR" altLang="en-US" sz="2000" dirty="0">
                <a:solidFill>
                  <a:srgbClr val="FF0000"/>
                </a:solidFill>
              </a:rPr>
              <a:t>세분화</a:t>
            </a:r>
            <a:r>
              <a:rPr lang="ko-KR" altLang="en-US" sz="2000" dirty="0"/>
              <a:t>하고 </a:t>
            </a:r>
            <a:r>
              <a:rPr lang="en-US" altLang="ko-KR" sz="2000" dirty="0">
                <a:solidFill>
                  <a:srgbClr val="FF0000"/>
                </a:solidFill>
              </a:rPr>
              <a:t>DS</a:t>
            </a:r>
            <a:r>
              <a:rPr lang="ko-KR" altLang="en-US" sz="2000" dirty="0">
                <a:solidFill>
                  <a:srgbClr val="FF0000"/>
                </a:solidFill>
              </a:rPr>
              <a:t>의 경우 </a:t>
            </a:r>
            <a:r>
              <a:rPr lang="en-US" altLang="ko-KR" sz="2000" dirty="0">
                <a:solidFill>
                  <a:srgbClr val="FF0000"/>
                </a:solidFill>
              </a:rPr>
              <a:t>54 </a:t>
            </a:r>
            <a:r>
              <a:rPr lang="ko-KR" altLang="en-US" sz="2000" dirty="0">
                <a:solidFill>
                  <a:srgbClr val="FF0000"/>
                </a:solidFill>
              </a:rPr>
              <a:t>프레임</a:t>
            </a:r>
            <a:r>
              <a:rPr lang="en-US" altLang="ko-KR" sz="2000" dirty="0"/>
              <a:t>, RHS</a:t>
            </a:r>
            <a:r>
              <a:rPr lang="ko-KR" altLang="en-US" sz="2000" dirty="0"/>
              <a:t>의 경우 </a:t>
            </a:r>
            <a:r>
              <a:rPr lang="en-US" altLang="ko-KR" sz="2000" dirty="0"/>
              <a:t>53 </a:t>
            </a:r>
            <a:r>
              <a:rPr lang="ko-KR" altLang="en-US" sz="2000" dirty="0"/>
              <a:t>프레임</a:t>
            </a:r>
            <a:r>
              <a:rPr lang="en-US" altLang="ko-KR" sz="2000" dirty="0"/>
              <a:t>, LHS</a:t>
            </a:r>
            <a:r>
              <a:rPr lang="ko-KR" altLang="en-US" sz="2000" dirty="0"/>
              <a:t>의 경우 </a:t>
            </a:r>
            <a:r>
              <a:rPr lang="en-US" altLang="ko-KR" sz="2000" dirty="0"/>
              <a:t>52 </a:t>
            </a:r>
            <a:r>
              <a:rPr lang="ko-KR" altLang="en-US" sz="2000" dirty="0">
                <a:solidFill>
                  <a:srgbClr val="FF0000"/>
                </a:solidFill>
              </a:rPr>
              <a:t>프레임으로 </a:t>
            </a:r>
            <a:r>
              <a:rPr lang="ko-KR" altLang="en-US" sz="2000" dirty="0" smtClean="0">
                <a:solidFill>
                  <a:srgbClr val="FF0000"/>
                </a:solidFill>
              </a:rPr>
              <a:t>정규화</a:t>
            </a:r>
            <a:endParaRPr lang="en-US" altLang="ko-KR" sz="2000" dirty="0" smtClean="0">
              <a:solidFill>
                <a:srgbClr val="FF0000"/>
              </a:solidFill>
            </a:endParaRPr>
          </a:p>
          <a:p>
            <a:r>
              <a:rPr lang="ko-KR" altLang="en-US" sz="2000" dirty="0"/>
              <a:t> </a:t>
            </a:r>
            <a:r>
              <a:rPr lang="en-US" altLang="ko-KR" sz="2000" dirty="0" err="1" smtClean="0"/>
              <a:t>Matlab</a:t>
            </a:r>
            <a:r>
              <a:rPr lang="ko-KR" altLang="en-US" sz="2000" dirty="0" smtClean="0"/>
              <a:t>에서 </a:t>
            </a:r>
            <a:r>
              <a:rPr lang="en-US" altLang="ko-KR" sz="2000" dirty="0"/>
              <a:t>PCA </a:t>
            </a:r>
            <a:r>
              <a:rPr lang="ko-KR" altLang="en-US" sz="2000" dirty="0"/>
              <a:t>분석을 위해 표준화된 예상 관절 센터</a:t>
            </a:r>
            <a:r>
              <a:rPr lang="en-US" altLang="ko-KR" sz="2000" dirty="0"/>
              <a:t>, </a:t>
            </a:r>
            <a:r>
              <a:rPr lang="ko-KR" altLang="en-US" sz="2000" dirty="0"/>
              <a:t>차체 랜드마크 및 계산된 </a:t>
            </a:r>
            <a:r>
              <a:rPr lang="en-US" altLang="ko-KR" sz="2000" dirty="0"/>
              <a:t>COM </a:t>
            </a:r>
            <a:r>
              <a:rPr lang="ko-KR" altLang="en-US" sz="2000" dirty="0"/>
              <a:t>위치를 </a:t>
            </a:r>
            <a:r>
              <a:rPr lang="ko-KR" altLang="en-US" sz="2000" dirty="0" smtClean="0"/>
              <a:t>준비</a:t>
            </a:r>
            <a:r>
              <a:rPr lang="en-US" altLang="ko-KR" sz="2000" dirty="0"/>
              <a:t>(</a:t>
            </a:r>
            <a:r>
              <a:rPr lang="ko-KR" altLang="en-US" sz="2000" dirty="0"/>
              <a:t>그림 </a:t>
            </a:r>
            <a:r>
              <a:rPr lang="en-US" altLang="ko-KR" sz="2000" dirty="0"/>
              <a:t>3).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8896" y="5810491"/>
            <a:ext cx="7234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그림 </a:t>
            </a:r>
            <a:r>
              <a:rPr lang="en-US" altLang="ko-KR" sz="1400" dirty="0"/>
              <a:t>3 | (A) 0%</a:t>
            </a:r>
            <a:r>
              <a:rPr lang="ko-KR" altLang="en-US" sz="1400" dirty="0"/>
              <a:t>에서 </a:t>
            </a:r>
            <a:r>
              <a:rPr lang="en-US" altLang="ko-KR" sz="1400" dirty="0"/>
              <a:t>100%</a:t>
            </a:r>
            <a:r>
              <a:rPr lang="ko-KR" altLang="en-US" sz="1400" dirty="0"/>
              <a:t>까지의 </a:t>
            </a:r>
            <a:r>
              <a:rPr lang="en-US" altLang="ko-KR" sz="1400" dirty="0"/>
              <a:t>DS </a:t>
            </a:r>
            <a:r>
              <a:rPr lang="ko-KR" altLang="en-US" sz="1400" dirty="0"/>
              <a:t>이동 단계를 나타낸다</a:t>
            </a:r>
            <a:r>
              <a:rPr lang="en-US" altLang="ko-KR" sz="1400" dirty="0"/>
              <a:t>. "</a:t>
            </a:r>
            <a:r>
              <a:rPr lang="ko-KR" altLang="en-US" sz="1400" dirty="0"/>
              <a:t>이동</a:t>
            </a:r>
            <a:r>
              <a:rPr lang="en-US" altLang="ko-KR" sz="1400" dirty="0"/>
              <a:t>" </a:t>
            </a:r>
            <a:r>
              <a:rPr lang="ko-KR" altLang="en-US" sz="1400" dirty="0"/>
              <a:t>단계는 빨간색과 검은색 막대에 의해 포함되며</a:t>
            </a:r>
            <a:r>
              <a:rPr lang="en-US" altLang="ko-KR" sz="1400" dirty="0"/>
              <a:t>, </a:t>
            </a:r>
            <a:r>
              <a:rPr lang="ko-KR" altLang="en-US" sz="1400" dirty="0"/>
              <a:t>검은색과 파란색 막대 사이에 </a:t>
            </a:r>
            <a:r>
              <a:rPr lang="en-US" altLang="ko-KR" sz="1400" dirty="0"/>
              <a:t>"</a:t>
            </a:r>
            <a:r>
              <a:rPr lang="ko-KR" altLang="en-US" sz="1400" dirty="0"/>
              <a:t>이동</a:t>
            </a:r>
            <a:r>
              <a:rPr lang="en-US" altLang="ko-KR" sz="1400" dirty="0"/>
              <a:t>" </a:t>
            </a:r>
            <a:r>
              <a:rPr lang="ko-KR" altLang="en-US" sz="1400" dirty="0"/>
              <a:t>단계가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아래 그래프는 이동의 </a:t>
            </a:r>
            <a:r>
              <a:rPr lang="en-US" altLang="ko-KR" sz="1400" dirty="0"/>
              <a:t>50%</a:t>
            </a:r>
            <a:r>
              <a:rPr lang="ko-KR" altLang="en-US" sz="1400" dirty="0"/>
              <a:t>를 결정하기 위한 외부 노치 </a:t>
            </a:r>
            <a:r>
              <a:rPr lang="ko-KR" altLang="en-US" sz="1400" dirty="0" err="1"/>
              <a:t>마커의</a:t>
            </a:r>
            <a:r>
              <a:rPr lang="ko-KR" altLang="en-US" sz="1400" dirty="0"/>
              <a:t> 추적을 나타낸다</a:t>
            </a:r>
            <a:r>
              <a:rPr lang="en-US" altLang="ko-KR" sz="1400" dirty="0"/>
              <a:t>.</a:t>
            </a:r>
            <a:r>
              <a:rPr lang="ko-KR" altLang="en-US" sz="1400" dirty="0"/>
              <a:t/>
            </a:r>
            <a:br>
              <a:rPr lang="ko-KR" altLang="en-US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최대 </a:t>
            </a:r>
            <a:r>
              <a:rPr lang="ko-KR" altLang="en-US" sz="1400" dirty="0" err="1"/>
              <a:t>스쿼트</a:t>
            </a:r>
            <a:r>
              <a:rPr lang="ko-KR" altLang="en-US" sz="1400" dirty="0"/>
              <a:t> 깊이</a:t>
            </a:r>
            <a:r>
              <a:rPr lang="en-US" altLang="ko-KR" sz="1400" dirty="0"/>
              <a:t>) </a:t>
            </a:r>
            <a:r>
              <a:rPr lang="ko-KR" altLang="en-US" sz="1400" dirty="0"/>
              <a:t>및 이동의 </a:t>
            </a:r>
            <a:r>
              <a:rPr lang="en-US" altLang="ko-KR" sz="1400" dirty="0"/>
              <a:t>"</a:t>
            </a:r>
            <a:r>
              <a:rPr lang="ko-KR" altLang="en-US" sz="1400" dirty="0"/>
              <a:t>시작</a:t>
            </a:r>
            <a:r>
              <a:rPr lang="en-US" altLang="ko-KR" sz="1400" dirty="0"/>
              <a:t>" </a:t>
            </a:r>
            <a:r>
              <a:rPr lang="ko-KR" altLang="en-US" sz="1400" dirty="0"/>
              <a:t>및 </a:t>
            </a:r>
            <a:r>
              <a:rPr lang="en-US" altLang="ko-KR" sz="1400" dirty="0"/>
              <a:t>"</a:t>
            </a:r>
            <a:r>
              <a:rPr lang="ko-KR" altLang="en-US" sz="1400" dirty="0"/>
              <a:t>끝</a:t>
            </a:r>
            <a:r>
              <a:rPr lang="en-US" altLang="ko-KR" sz="1400" dirty="0"/>
              <a:t>" </a:t>
            </a:r>
            <a:r>
              <a:rPr lang="ko-KR" altLang="en-US" sz="1400" dirty="0"/>
              <a:t>지점을 정의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16867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Data Analysis</a:t>
            </a:r>
            <a:br>
              <a:rPr lang="en-US" altLang="ko-KR" dirty="0" smtClean="0"/>
            </a:br>
            <a:r>
              <a:rPr lang="en-US" altLang="ko-KR" sz="3200" dirty="0" smtClean="0"/>
              <a:t>Feature Selection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75767" y="1825625"/>
            <a:ext cx="6192455" cy="4351338"/>
          </a:xfrm>
        </p:spPr>
        <p:txBody>
          <a:bodyPr>
            <a:normAutofit lnSpcReduction="10000"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PCA</a:t>
            </a:r>
            <a:r>
              <a:rPr lang="ko-KR" altLang="en-US" sz="2400" dirty="0">
                <a:solidFill>
                  <a:srgbClr val="FF0000"/>
                </a:solidFill>
              </a:rPr>
              <a:t>는 </a:t>
            </a:r>
            <a:r>
              <a:rPr lang="ko-KR" altLang="en-US" sz="2400" dirty="0" smtClean="0">
                <a:solidFill>
                  <a:srgbClr val="FF0000"/>
                </a:solidFill>
              </a:rPr>
              <a:t>사후 </a:t>
            </a:r>
            <a:r>
              <a:rPr lang="ko-KR" altLang="en-US" sz="2400" dirty="0">
                <a:solidFill>
                  <a:srgbClr val="FF0000"/>
                </a:solidFill>
              </a:rPr>
              <a:t>처리된 궤적 데이터에 </a:t>
            </a:r>
            <a:r>
              <a:rPr lang="ko-KR" altLang="en-US" sz="2400" dirty="0" smtClean="0">
                <a:solidFill>
                  <a:srgbClr val="FF0000"/>
                </a:solidFill>
              </a:rPr>
              <a:t>적용</a:t>
            </a:r>
            <a:endParaRPr lang="en-US" altLang="ko-KR" sz="2400" dirty="0" smtClean="0">
              <a:solidFill>
                <a:srgbClr val="FF0000"/>
              </a:solidFill>
            </a:endParaRPr>
          </a:p>
          <a:p>
            <a:r>
              <a:rPr lang="ko-KR" altLang="en-US" sz="2400" dirty="0" err="1"/>
              <a:t>시계열</a:t>
            </a:r>
            <a:r>
              <a:rPr lang="ko-KR" altLang="en-US" sz="2400" dirty="0"/>
              <a:t> 궤적 데이터를 </a:t>
            </a:r>
            <a:r>
              <a:rPr lang="en-US" altLang="ko-KR" sz="2400" dirty="0"/>
              <a:t>[n, m] </a:t>
            </a:r>
            <a:r>
              <a:rPr lang="ko-KR" altLang="en-US" sz="2400" dirty="0"/>
              <a:t>행렬로 정리했는데</a:t>
            </a:r>
            <a:r>
              <a:rPr lang="en-US" altLang="ko-KR" sz="2400" dirty="0"/>
              <a:t>, </a:t>
            </a:r>
            <a:r>
              <a:rPr lang="ko-KR" altLang="en-US" sz="2400" dirty="0"/>
              <a:t>여기서 </a:t>
            </a:r>
            <a:r>
              <a:rPr lang="en-US" altLang="ko-KR" sz="2400" dirty="0"/>
              <a:t>n</a:t>
            </a:r>
            <a:r>
              <a:rPr lang="ko-KR" altLang="en-US" sz="2400" dirty="0"/>
              <a:t>은 시행 횟수</a:t>
            </a:r>
            <a:r>
              <a:rPr lang="en-US" altLang="ko-KR" sz="2400" dirty="0"/>
              <a:t>(n = </a:t>
            </a:r>
            <a:r>
              <a:rPr lang="en-US" altLang="ko-KR" sz="2400" dirty="0" smtClean="0"/>
              <a:t>150</a:t>
            </a:r>
            <a:r>
              <a:rPr lang="en-US" altLang="ko-KR" sz="2400" dirty="0"/>
              <a:t> </a:t>
            </a:r>
            <a:r>
              <a:rPr lang="en-US" altLang="ko-KR" sz="2400" dirty="0" smtClean="0"/>
              <a:t>&lt;-[</a:t>
            </a:r>
            <a:r>
              <a:rPr lang="ko-KR" altLang="en-US" sz="2400" dirty="0" smtClean="0"/>
              <a:t>참가자는 </a:t>
            </a:r>
            <a:r>
              <a:rPr lang="en-US" altLang="ko-KR" sz="2400" dirty="0">
                <a:solidFill>
                  <a:srgbClr val="FF0000"/>
                </a:solidFill>
              </a:rPr>
              <a:t>30</a:t>
            </a:r>
            <a:r>
              <a:rPr lang="ko-KR" altLang="en-US" sz="2400" dirty="0" smtClean="0">
                <a:solidFill>
                  <a:srgbClr val="FF0000"/>
                </a:solidFill>
              </a:rPr>
              <a:t>명 </a:t>
            </a:r>
            <a:r>
              <a:rPr lang="en-US" altLang="ko-KR" sz="2400" dirty="0">
                <a:solidFill>
                  <a:srgbClr val="FF0000"/>
                </a:solidFill>
              </a:rPr>
              <a:t>× 5</a:t>
            </a:r>
            <a:r>
              <a:rPr lang="ko-KR" altLang="en-US" sz="2400" dirty="0">
                <a:solidFill>
                  <a:srgbClr val="FF0000"/>
                </a:solidFill>
              </a:rPr>
              <a:t>회에 </a:t>
            </a:r>
            <a:r>
              <a:rPr lang="ko-KR" altLang="en-US" sz="2400" dirty="0" smtClean="0"/>
              <a:t>해당함</a:t>
            </a:r>
            <a:r>
              <a:rPr lang="en-US" altLang="ko-KR" sz="2400" dirty="0" smtClean="0"/>
              <a:t>])</a:t>
            </a:r>
            <a:r>
              <a:rPr lang="ko-KR" altLang="en-US" sz="2400" dirty="0"/>
              <a:t>를 나타내며</a:t>
            </a:r>
            <a:r>
              <a:rPr lang="en-US" altLang="ko-KR" sz="2400" dirty="0"/>
              <a:t>, </a:t>
            </a:r>
            <a:r>
              <a:rPr lang="ko-KR" altLang="en-US" sz="2400" dirty="0"/>
              <a:t>여기서 </a:t>
            </a:r>
            <a:r>
              <a:rPr lang="en-US" altLang="ko-KR" sz="2400" dirty="0"/>
              <a:t>m</a:t>
            </a:r>
            <a:r>
              <a:rPr lang="ko-KR" altLang="en-US" sz="2400" dirty="0" smtClean="0"/>
              <a:t>은 </a:t>
            </a:r>
            <a:r>
              <a:rPr lang="ko-KR" altLang="en-US" sz="2400" dirty="0" err="1"/>
              <a:t>시계열</a:t>
            </a:r>
            <a:r>
              <a:rPr lang="ko-KR" altLang="en-US" sz="2400" dirty="0"/>
              <a:t> 궤적 데이터</a:t>
            </a:r>
            <a:r>
              <a:rPr lang="en-US" altLang="ko-KR" sz="2400" dirty="0"/>
              <a:t>(m = 5454, 1</a:t>
            </a:r>
            <a:r>
              <a:rPr lang="ko-KR" altLang="en-US" sz="2400" dirty="0"/>
              <a:t>에 해당함</a:t>
            </a:r>
            <a:r>
              <a:rPr lang="en-US" altLang="ko-KR" sz="2400" dirty="0"/>
              <a:t>)</a:t>
            </a:r>
            <a:r>
              <a:rPr lang="ko-KR" altLang="en-US" sz="2400" dirty="0"/>
              <a:t>를 설명하는 행 벡터를 </a:t>
            </a:r>
            <a:r>
              <a:rPr lang="ko-KR" altLang="en-US" sz="2400" dirty="0" smtClean="0"/>
              <a:t>나타냄</a:t>
            </a:r>
            <a:endParaRPr lang="en-US" altLang="ko-KR" sz="2400" dirty="0" smtClean="0"/>
          </a:p>
          <a:p>
            <a:r>
              <a:rPr lang="en-US" altLang="ko-KR" sz="2400" dirty="0"/>
              <a:t>PCA</a:t>
            </a:r>
            <a:r>
              <a:rPr lang="ko-KR" altLang="en-US" sz="2400" dirty="0"/>
              <a:t>를 데이터 감소 및 형상 선택 방법으로 적용하여 각 데이터 집합 내에서 선형으로 상관없는 변동성 선원을 포착하는 주성분</a:t>
            </a:r>
            <a:r>
              <a:rPr lang="en-US" altLang="ko-KR" sz="2400" dirty="0"/>
              <a:t>(PC)</a:t>
            </a:r>
            <a:r>
              <a:rPr lang="ko-KR" altLang="en-US" sz="2400" dirty="0"/>
              <a:t>을 </a:t>
            </a:r>
            <a:r>
              <a:rPr lang="ko-KR" altLang="en-US" sz="2400" dirty="0" smtClean="0"/>
              <a:t>산출</a:t>
            </a:r>
            <a:endParaRPr lang="en-US" altLang="ko-KR" sz="2400" dirty="0" smtClean="0"/>
          </a:p>
          <a:p>
            <a:r>
              <a:rPr lang="ko-KR" altLang="en-US" sz="2400" dirty="0"/>
              <a:t>분산의 </a:t>
            </a:r>
            <a:r>
              <a:rPr lang="en-US" altLang="ko-KR" sz="2400" dirty="0"/>
              <a:t>5% </a:t>
            </a:r>
            <a:r>
              <a:rPr lang="ko-KR" altLang="en-US" sz="2400" dirty="0"/>
              <a:t>이하를 개별적으로 설명한 </a:t>
            </a:r>
            <a:r>
              <a:rPr lang="en-US" altLang="ko-KR" sz="2400" dirty="0"/>
              <a:t>PC(Witte et al., 2010)</a:t>
            </a:r>
            <a:r>
              <a:rPr lang="ko-KR" altLang="en-US" sz="2400" dirty="0"/>
              <a:t>는 분류를 위해 </a:t>
            </a:r>
            <a:r>
              <a:rPr lang="ko-KR" altLang="en-US" sz="2400" dirty="0" smtClean="0"/>
              <a:t>유지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8" y="2278343"/>
            <a:ext cx="5653449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96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145207"/>
            <a:ext cx="10515600" cy="908090"/>
          </a:xfrm>
        </p:spPr>
        <p:txBody>
          <a:bodyPr/>
          <a:lstStyle/>
          <a:p>
            <a:r>
              <a:rPr lang="en-US" altLang="ko-KR" dirty="0" smtClean="0"/>
              <a:t>Classification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316"/>
            <a:ext cx="10515600" cy="4351338"/>
          </a:xfrm>
        </p:spPr>
        <p:txBody>
          <a:bodyPr>
            <a:no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[p, q] </a:t>
            </a:r>
            <a:r>
              <a:rPr lang="ko-KR" altLang="en-US" sz="2000" dirty="0">
                <a:solidFill>
                  <a:srgbClr val="FF0000"/>
                </a:solidFill>
              </a:rPr>
              <a:t>행렬이 </a:t>
            </a:r>
            <a:r>
              <a:rPr lang="en-US" altLang="ko-KR" sz="2000" dirty="0" smtClean="0">
                <a:solidFill>
                  <a:srgbClr val="FF0000"/>
                </a:solidFill>
              </a:rPr>
              <a:t>GMM</a:t>
            </a:r>
            <a:r>
              <a:rPr lang="ko-KR" altLang="en-US" sz="2000" dirty="0" smtClean="0">
                <a:solidFill>
                  <a:srgbClr val="FF0000"/>
                </a:solidFill>
              </a:rPr>
              <a:t>에 입력</a:t>
            </a:r>
            <a:endParaRPr lang="en-US" altLang="ko-KR" sz="2000" dirty="0" smtClean="0">
              <a:solidFill>
                <a:srgbClr val="FF0000"/>
              </a:solidFill>
            </a:endParaRPr>
          </a:p>
          <a:p>
            <a:r>
              <a:rPr lang="ko-KR" altLang="en-US" sz="2000" dirty="0"/>
              <a:t>개인용 </a:t>
            </a:r>
            <a:r>
              <a:rPr lang="en-US" altLang="ko-KR" sz="2000" dirty="0"/>
              <a:t>PC </a:t>
            </a:r>
            <a:r>
              <a:rPr lang="ko-KR" altLang="en-US" sz="2000" dirty="0" smtClean="0"/>
              <a:t>점수</a:t>
            </a:r>
            <a:endParaRPr lang="en-US" altLang="ko-KR" sz="2000" dirty="0" smtClean="0"/>
          </a:p>
          <a:p>
            <a:r>
              <a:rPr lang="en-US" altLang="ko-KR" sz="2000" dirty="0">
                <a:solidFill>
                  <a:srgbClr val="FF0000"/>
                </a:solidFill>
              </a:rPr>
              <a:t>GMM</a:t>
            </a:r>
            <a:r>
              <a:rPr lang="ko-KR" altLang="en-US" sz="2000" dirty="0"/>
              <a:t>은 모델 기반 방법으로서</a:t>
            </a:r>
            <a:r>
              <a:rPr lang="en-US" altLang="ko-KR" sz="2000" dirty="0"/>
              <a:t>, </a:t>
            </a:r>
            <a:r>
              <a:rPr lang="ko-KR" altLang="en-US" sz="2000" dirty="0"/>
              <a:t>알고리즘이 관측치들 사이에서 </a:t>
            </a:r>
            <a:r>
              <a:rPr lang="ko-KR" altLang="en-US" sz="2000" dirty="0" smtClean="0"/>
              <a:t>클러스터를 </a:t>
            </a:r>
            <a:r>
              <a:rPr lang="ko-KR" altLang="en-US" sz="2000" dirty="0"/>
              <a:t>찾기 위해 데이터와 모델 사이의 적합성을 최적화하는 동시에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군집화된</a:t>
            </a:r>
            <a:r>
              <a:rPr lang="ko-KR" altLang="en-US" sz="2000" dirty="0"/>
              <a:t> 할당에 </a:t>
            </a:r>
            <a:r>
              <a:rPr lang="ko-KR" altLang="en-US" sz="2000" dirty="0">
                <a:solidFill>
                  <a:srgbClr val="FF0000"/>
                </a:solidFill>
              </a:rPr>
              <a:t>확률의</a:t>
            </a:r>
            <a:r>
              <a:rPr lang="ko-KR" altLang="en-US" sz="2000" dirty="0"/>
              <a:t> 측도를 할당하는 것을 </a:t>
            </a:r>
            <a:r>
              <a:rPr lang="ko-KR" altLang="en-US" sz="2000" dirty="0" smtClean="0"/>
              <a:t>목적</a:t>
            </a:r>
            <a:endParaRPr lang="en-US" altLang="ko-KR" sz="2000" dirty="0" smtClean="0"/>
          </a:p>
          <a:p>
            <a:r>
              <a:rPr lang="en-US" altLang="ko-KR" sz="2000" dirty="0"/>
              <a:t>GMM</a:t>
            </a:r>
            <a:r>
              <a:rPr lang="ko-KR" altLang="en-US" sz="2000" dirty="0"/>
              <a:t>은 </a:t>
            </a:r>
            <a:r>
              <a:rPr lang="en-US" altLang="ko-KR" sz="2000" dirty="0"/>
              <a:t>"</a:t>
            </a:r>
            <a:r>
              <a:rPr lang="ko-KR" altLang="en-US" sz="2000" dirty="0"/>
              <a:t>통계 및 기계학습</a:t>
            </a:r>
            <a:r>
              <a:rPr lang="en-US" altLang="ko-KR" sz="2000" dirty="0"/>
              <a:t>" </a:t>
            </a:r>
            <a:r>
              <a:rPr lang="ko-KR" altLang="en-US" sz="2000" dirty="0"/>
              <a:t>도구 상자를 사용하여 </a:t>
            </a:r>
            <a:r>
              <a:rPr lang="en-US" altLang="ko-KR" sz="2000" dirty="0" err="1"/>
              <a:t>Matlab</a:t>
            </a:r>
            <a:r>
              <a:rPr lang="ko-KR" altLang="en-US" sz="2000" dirty="0"/>
              <a:t>의 데이터에 </a:t>
            </a:r>
            <a:r>
              <a:rPr lang="ko-KR" altLang="en-US" sz="2000" dirty="0" smtClean="0"/>
              <a:t>적용</a:t>
            </a:r>
            <a:endParaRPr lang="en-US" altLang="ko-KR" sz="2000" dirty="0" smtClean="0"/>
          </a:p>
          <a:p>
            <a:r>
              <a:rPr lang="ko-KR" altLang="en-US" sz="2000" dirty="0"/>
              <a:t>최적의 </a:t>
            </a:r>
            <a:r>
              <a:rPr lang="en-US" altLang="ko-KR" sz="2000" dirty="0"/>
              <a:t>k(</a:t>
            </a:r>
            <a:r>
              <a:rPr lang="ko-KR" altLang="en-US" sz="2000" dirty="0"/>
              <a:t>클러스터 수</a:t>
            </a:r>
            <a:r>
              <a:rPr lang="en-US" altLang="ko-KR" sz="2000" dirty="0"/>
              <a:t>)</a:t>
            </a:r>
            <a:r>
              <a:rPr lang="ko-KR" altLang="en-US" sz="2000" dirty="0"/>
              <a:t>를 결정하기 위해 </a:t>
            </a:r>
            <a:r>
              <a:rPr lang="ko-KR" altLang="en-US" sz="2000" dirty="0" err="1"/>
              <a:t>베이시안</a:t>
            </a:r>
            <a:r>
              <a:rPr lang="ko-KR" altLang="en-US" sz="2000" dirty="0"/>
              <a:t> 정보 기준</a:t>
            </a:r>
            <a:r>
              <a:rPr lang="en-US" altLang="ko-KR" sz="2000" dirty="0"/>
              <a:t>(BIC)</a:t>
            </a:r>
            <a:r>
              <a:rPr lang="ko-KR" altLang="en-US" sz="2000" dirty="0"/>
              <a:t>을 </a:t>
            </a:r>
            <a:r>
              <a:rPr lang="ko-KR" altLang="en-US" sz="2000" dirty="0" smtClean="0"/>
              <a:t>사용</a:t>
            </a:r>
            <a:endParaRPr lang="en-US" altLang="ko-KR" sz="2000" dirty="0" smtClean="0"/>
          </a:p>
          <a:p>
            <a:r>
              <a:rPr lang="en-US" altLang="ko-KR" sz="2000" dirty="0" smtClean="0"/>
              <a:t>GMM</a:t>
            </a:r>
            <a:r>
              <a:rPr lang="ko-KR" altLang="en-US" sz="2000" dirty="0" smtClean="0"/>
              <a:t>이 </a:t>
            </a:r>
            <a:r>
              <a:rPr lang="ko-KR" altLang="en-US" sz="2000" dirty="0"/>
              <a:t>데이터 집합에 적합하고 최소 </a:t>
            </a:r>
            <a:r>
              <a:rPr lang="en-US" altLang="ko-KR" sz="2000" dirty="0"/>
              <a:t>BIC</a:t>
            </a:r>
            <a:r>
              <a:rPr lang="ko-KR" altLang="en-US" sz="2000" dirty="0"/>
              <a:t>가 </a:t>
            </a:r>
            <a:r>
              <a:rPr lang="ko-KR" altLang="en-US" sz="2000" dirty="0">
                <a:solidFill>
                  <a:srgbClr val="FF0000"/>
                </a:solidFill>
              </a:rPr>
              <a:t>최적의 </a:t>
            </a:r>
            <a:r>
              <a:rPr lang="en-US" altLang="ko-KR" sz="2000" dirty="0">
                <a:solidFill>
                  <a:srgbClr val="FF0000"/>
                </a:solidFill>
              </a:rPr>
              <a:t>k</a:t>
            </a:r>
            <a:r>
              <a:rPr lang="ko-KR" altLang="en-US" sz="2000" dirty="0">
                <a:solidFill>
                  <a:srgbClr val="FF0000"/>
                </a:solidFill>
              </a:rPr>
              <a:t>를 </a:t>
            </a:r>
            <a:r>
              <a:rPr lang="ko-KR" altLang="en-US" sz="2000" dirty="0" smtClean="0">
                <a:solidFill>
                  <a:srgbClr val="FF0000"/>
                </a:solidFill>
              </a:rPr>
              <a:t>식별</a:t>
            </a:r>
            <a:endParaRPr lang="en-US" altLang="ko-KR" sz="2000" dirty="0" smtClean="0">
              <a:solidFill>
                <a:srgbClr val="FF0000"/>
              </a:solidFill>
            </a:endParaRPr>
          </a:p>
          <a:p>
            <a:r>
              <a:rPr lang="ko-KR" altLang="en-US" sz="2000" dirty="0"/>
              <a:t>각각의 움직임에 대해 각각 </a:t>
            </a:r>
            <a:r>
              <a:rPr lang="en-US" altLang="ko-KR" sz="2000" dirty="0"/>
              <a:t>DS, RHS </a:t>
            </a:r>
            <a:r>
              <a:rPr lang="ko-KR" altLang="en-US" sz="2000" dirty="0"/>
              <a:t>및 </a:t>
            </a:r>
            <a:r>
              <a:rPr lang="en-US" altLang="ko-KR" sz="2000" dirty="0"/>
              <a:t>LHS</a:t>
            </a:r>
            <a:r>
              <a:rPr lang="ko-KR" altLang="en-US" sz="2000" dirty="0"/>
              <a:t>를 최적 </a:t>
            </a:r>
            <a:r>
              <a:rPr lang="en-US" altLang="ko-KR" sz="2000" dirty="0"/>
              <a:t>k</a:t>
            </a:r>
            <a:r>
              <a:rPr lang="ko-KR" altLang="en-US" sz="2000" dirty="0"/>
              <a:t>로 </a:t>
            </a:r>
            <a:r>
              <a:rPr lang="ko-KR" altLang="en-US" sz="2000" dirty="0" smtClean="0"/>
              <a:t>결정</a:t>
            </a:r>
            <a:endParaRPr lang="en-US" altLang="ko-KR" sz="2000" dirty="0" smtClean="0"/>
          </a:p>
          <a:p>
            <a:r>
              <a:rPr lang="ko-KR" altLang="en-US" sz="2000" dirty="0"/>
              <a:t> 이동에 대한 </a:t>
            </a:r>
            <a:r>
              <a:rPr lang="en-US" altLang="ko-KR" sz="2000" dirty="0"/>
              <a:t>GMM</a:t>
            </a:r>
            <a:r>
              <a:rPr lang="ko-KR" altLang="en-US" sz="2000" dirty="0"/>
              <a:t>을 각 데이터 세트에 각각 적용하여 </a:t>
            </a:r>
            <a:r>
              <a:rPr lang="en-US" altLang="ko-KR" sz="2000" dirty="0"/>
              <a:t>100</a:t>
            </a:r>
            <a:r>
              <a:rPr lang="ko-KR" altLang="en-US" sz="2000" dirty="0"/>
              <a:t>회 반복 실행함으로써 데이터 수렴 가능성을 </a:t>
            </a:r>
            <a:r>
              <a:rPr lang="ko-KR" altLang="en-US" sz="2000" dirty="0" smtClean="0"/>
              <a:t>높임</a:t>
            </a:r>
            <a:endParaRPr lang="en-US" altLang="ko-KR" sz="2000" dirty="0" smtClean="0"/>
          </a:p>
          <a:p>
            <a:r>
              <a:rPr lang="ko-KR" altLang="en-US" sz="2000" dirty="0"/>
              <a:t>각 이동 데이터 집합에 </a:t>
            </a:r>
            <a:r>
              <a:rPr lang="en-US" altLang="ko-KR" sz="2000" dirty="0"/>
              <a:t>GMM</a:t>
            </a:r>
            <a:r>
              <a:rPr lang="ko-KR" altLang="en-US" sz="2000" dirty="0"/>
              <a:t>을 적용한 후</a:t>
            </a:r>
            <a:r>
              <a:rPr lang="en-US" altLang="ko-KR" sz="2000" dirty="0"/>
              <a:t>, </a:t>
            </a:r>
            <a:r>
              <a:rPr lang="ko-KR" altLang="en-US" sz="2000" dirty="0"/>
              <a:t>각 개별 시험의 </a:t>
            </a:r>
            <a:r>
              <a:rPr lang="ko-KR" altLang="en-US" sz="2000" dirty="0" err="1"/>
              <a:t>클러스터링</a:t>
            </a:r>
            <a:r>
              <a:rPr lang="ko-KR" altLang="en-US" sz="2000" dirty="0"/>
              <a:t> 할당과 함께 각 </a:t>
            </a:r>
            <a:r>
              <a:rPr lang="ko-KR" altLang="en-US" sz="2000" dirty="0">
                <a:solidFill>
                  <a:srgbClr val="FF0000"/>
                </a:solidFill>
              </a:rPr>
              <a:t>클러스터의 중심 점수가 </a:t>
            </a:r>
            <a:r>
              <a:rPr lang="ko-KR" altLang="en-US" sz="2000" dirty="0" smtClean="0">
                <a:solidFill>
                  <a:srgbClr val="FF0000"/>
                </a:solidFill>
              </a:rPr>
              <a:t>결정</a:t>
            </a:r>
            <a:endParaRPr lang="en-US" altLang="ko-KR" sz="2000" dirty="0" smtClean="0">
              <a:solidFill>
                <a:srgbClr val="FF0000"/>
              </a:solidFill>
            </a:endParaRPr>
          </a:p>
          <a:p>
            <a:r>
              <a:rPr lang="en-US" altLang="ko-KR" sz="2000" dirty="0" smtClean="0"/>
              <a:t> </a:t>
            </a:r>
            <a:r>
              <a:rPr lang="ko-KR" altLang="en-US" sz="2000" dirty="0"/>
              <a:t>각 시험에는 단 하나의 표현형에만 할당되도록 하드 클러스터링이 </a:t>
            </a:r>
            <a:r>
              <a:rPr lang="ko-KR" altLang="en-US" sz="2000" dirty="0" smtClean="0"/>
              <a:t>수행</a:t>
            </a:r>
            <a:endParaRPr lang="en-US" altLang="ko-KR" sz="2000" dirty="0" smtClean="0"/>
          </a:p>
          <a:p>
            <a:r>
              <a:rPr lang="ko-KR" altLang="en-US" sz="2000" dirty="0" smtClean="0"/>
              <a:t>그러므로 </a:t>
            </a:r>
            <a:r>
              <a:rPr lang="ko-KR" altLang="en-US" sz="2000" dirty="0">
                <a:solidFill>
                  <a:srgbClr val="FF0000"/>
                </a:solidFill>
              </a:rPr>
              <a:t>군집 중심은 평균 운동 표현형</a:t>
            </a:r>
            <a:r>
              <a:rPr lang="ko-KR" altLang="en-US" sz="2000" dirty="0"/>
              <a:t>을 </a:t>
            </a:r>
            <a:r>
              <a:rPr lang="ko-KR" altLang="en-US" sz="2000" dirty="0" smtClean="0"/>
              <a:t>나타냄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09097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8544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Reconstruction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88544"/>
            <a:ext cx="10515600" cy="4351338"/>
          </a:xfrm>
        </p:spPr>
        <p:txBody>
          <a:bodyPr>
            <a:noAutofit/>
          </a:bodyPr>
          <a:lstStyle/>
          <a:p>
            <a:r>
              <a:rPr lang="ko-KR" altLang="en-US" sz="2000" dirty="0"/>
              <a:t>단일 구성요소 재구성은 클러스터 간 이동 </a:t>
            </a:r>
            <a:r>
              <a:rPr lang="ko-KR" altLang="en-US" sz="2000" dirty="0">
                <a:solidFill>
                  <a:srgbClr val="FF0000"/>
                </a:solidFill>
              </a:rPr>
              <a:t>패턴의 차이를 </a:t>
            </a:r>
            <a:r>
              <a:rPr lang="ko-KR" altLang="en-US" sz="2000" dirty="0" smtClean="0">
                <a:solidFill>
                  <a:srgbClr val="FF0000"/>
                </a:solidFill>
              </a:rPr>
              <a:t>시각화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/>
              <a:t>(Brandon et al., 2013</a:t>
            </a:r>
            <a:r>
              <a:rPr lang="en-US" altLang="ko-KR" sz="2000" dirty="0" smtClean="0"/>
              <a:t>)</a:t>
            </a:r>
          </a:p>
          <a:p>
            <a:r>
              <a:rPr lang="ko-KR" altLang="en-US" sz="2000" dirty="0">
                <a:solidFill>
                  <a:srgbClr val="FF0000"/>
                </a:solidFill>
              </a:rPr>
              <a:t>이 재구성은 보존된 각 </a:t>
            </a:r>
            <a:r>
              <a:rPr lang="en-US" altLang="ko-KR" sz="2000" dirty="0">
                <a:solidFill>
                  <a:srgbClr val="FF0000"/>
                </a:solidFill>
              </a:rPr>
              <a:t>PC</a:t>
            </a:r>
            <a:r>
              <a:rPr lang="ko-KR" altLang="en-US" sz="2000" dirty="0">
                <a:solidFill>
                  <a:srgbClr val="FF0000"/>
                </a:solidFill>
              </a:rPr>
              <a:t>에 대해 로딩 벡터에 각 클러스터를 나타내는 </a:t>
            </a:r>
            <a:r>
              <a:rPr lang="ko-KR" altLang="en-US" sz="2000" dirty="0" err="1">
                <a:solidFill>
                  <a:srgbClr val="FF0000"/>
                </a:solidFill>
              </a:rPr>
              <a:t>중심점수를</a:t>
            </a:r>
            <a:r>
              <a:rPr lang="ko-KR" altLang="en-US" sz="2000" dirty="0">
                <a:solidFill>
                  <a:srgbClr val="FF0000"/>
                </a:solidFill>
              </a:rPr>
              <a:t> 곱한 후 평균 로딩 벡터</a:t>
            </a:r>
            <a:r>
              <a:rPr lang="en-US" altLang="ko-KR" sz="2000" dirty="0">
                <a:solidFill>
                  <a:srgbClr val="FF0000"/>
                </a:solidFill>
              </a:rPr>
              <a:t>(PCA </a:t>
            </a:r>
            <a:r>
              <a:rPr lang="ko-KR" altLang="en-US" sz="2000" dirty="0">
                <a:solidFill>
                  <a:srgbClr val="FF0000"/>
                </a:solidFill>
              </a:rPr>
              <a:t>모델의 고유 벡터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  <a:r>
              <a:rPr lang="ko-KR" altLang="en-US" sz="2000" dirty="0">
                <a:solidFill>
                  <a:srgbClr val="FF0000"/>
                </a:solidFill>
              </a:rPr>
              <a:t>에 추가함으로써 </a:t>
            </a:r>
            <a:r>
              <a:rPr lang="ko-KR" altLang="en-US" sz="2000" dirty="0" smtClean="0">
                <a:solidFill>
                  <a:srgbClr val="FF0000"/>
                </a:solidFill>
              </a:rPr>
              <a:t>수행</a:t>
            </a:r>
            <a:endParaRPr lang="en-US" altLang="ko-KR" sz="2000" dirty="0" smtClean="0">
              <a:solidFill>
                <a:srgbClr val="FF0000"/>
              </a:solidFill>
            </a:endParaRPr>
          </a:p>
          <a:p>
            <a:r>
              <a:rPr lang="ko-KR" altLang="en-US" sz="2000" dirty="0"/>
              <a:t>재구성된 패턴은 각 운동 표현형과 연관된 기초 운동학에서 차이를 강조하는 시각적 표현을 제공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3200" dirty="0" smtClean="0"/>
              <a:t>Statistics</a:t>
            </a:r>
            <a:endParaRPr lang="en-US" altLang="ko-KR" sz="2000" dirty="0" smtClean="0"/>
          </a:p>
          <a:p>
            <a:r>
              <a:rPr lang="ko-KR" altLang="en-US" sz="2000" dirty="0" err="1"/>
              <a:t>키네마틱</a:t>
            </a:r>
            <a:r>
              <a:rPr lang="ko-KR" altLang="en-US" sz="2000" dirty="0"/>
              <a:t> 변수가 종속적인 </a:t>
            </a:r>
            <a:r>
              <a:rPr lang="ko-KR" altLang="en-US" sz="2000" dirty="0" smtClean="0"/>
              <a:t>역할</a:t>
            </a:r>
            <a:endParaRPr lang="en-US" altLang="ko-KR" sz="2000" dirty="0" smtClean="0"/>
          </a:p>
          <a:p>
            <a:r>
              <a:rPr lang="ko-KR" altLang="en-US" sz="2000" dirty="0"/>
              <a:t> 클러스터 할당은 독립 </a:t>
            </a:r>
            <a:r>
              <a:rPr lang="ko-KR" altLang="en-US" sz="2000" dirty="0" smtClean="0"/>
              <a:t>변수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역할</a:t>
            </a:r>
            <a:endParaRPr lang="en-US" altLang="ko-KR" sz="2000" dirty="0" smtClean="0"/>
          </a:p>
          <a:p>
            <a:r>
              <a:rPr lang="ko-KR" altLang="en-US" sz="2000" dirty="0"/>
              <a:t>유의성을 결정하는 데 </a:t>
            </a:r>
            <a:r>
              <a:rPr lang="en-US" altLang="ko-KR" sz="2000" dirty="0"/>
              <a:t>0.05</a:t>
            </a:r>
            <a:r>
              <a:rPr lang="ko-KR" altLang="en-US" sz="2000" dirty="0"/>
              <a:t>의 알파 </a:t>
            </a:r>
            <a:r>
              <a:rPr lang="ko-KR" altLang="en-US" sz="2000" dirty="0" smtClean="0"/>
              <a:t>값</a:t>
            </a:r>
            <a:endParaRPr lang="en-US" altLang="ko-KR" sz="2000" dirty="0" smtClean="0"/>
          </a:p>
          <a:p>
            <a:r>
              <a:rPr lang="ko-KR" altLang="en-US" sz="2000" dirty="0"/>
              <a:t>클러스터 할당에 대한 주요 영향이 나타난 경우</a:t>
            </a:r>
            <a:r>
              <a:rPr lang="en-US" altLang="ko-KR" sz="2000" dirty="0"/>
              <a:t>, </a:t>
            </a:r>
            <a:r>
              <a:rPr lang="ko-KR" altLang="en-US" sz="2000" dirty="0"/>
              <a:t>클러스터 간 종속적 조치의 유의한 차이를 결정하기 위해 </a:t>
            </a:r>
            <a:r>
              <a:rPr lang="en-US" altLang="ko-KR" sz="2000" dirty="0" err="1"/>
              <a:t>Bonferonni</a:t>
            </a:r>
            <a:r>
              <a:rPr lang="en-US" altLang="ko-KR" sz="2000" dirty="0"/>
              <a:t> </a:t>
            </a:r>
            <a:r>
              <a:rPr lang="ko-KR" altLang="en-US" sz="2000" dirty="0"/>
              <a:t>수정 쌍 비교를 사용한 사후 임시 테스트를 사용</a:t>
            </a:r>
            <a:endParaRPr lang="en-US" altLang="ko-KR" sz="2000" dirty="0" smtClean="0"/>
          </a:p>
          <a:p>
            <a:r>
              <a:rPr lang="ko-KR" altLang="en-US" sz="2000" dirty="0"/>
              <a:t>각 종속 변수에 대해 </a:t>
            </a:r>
            <a:r>
              <a:rPr lang="ko-KR" altLang="en-US" sz="2000" dirty="0">
                <a:solidFill>
                  <a:srgbClr val="FF0000"/>
                </a:solidFill>
              </a:rPr>
              <a:t>부분 </a:t>
            </a:r>
            <a:r>
              <a:rPr lang="en-US" altLang="ko-KR" sz="2000" dirty="0">
                <a:solidFill>
                  <a:srgbClr val="FF0000"/>
                </a:solidFill>
              </a:rPr>
              <a:t>eta </a:t>
            </a:r>
            <a:r>
              <a:rPr lang="ko-KR" altLang="en-US" sz="2000" dirty="0">
                <a:solidFill>
                  <a:srgbClr val="FF0000"/>
                </a:solidFill>
              </a:rPr>
              <a:t>제곱 값</a:t>
            </a:r>
            <a:r>
              <a:rPr lang="en-US" altLang="ko-KR" sz="2000" dirty="0">
                <a:solidFill>
                  <a:srgbClr val="FF0000"/>
                </a:solidFill>
              </a:rPr>
              <a:t>(η 2 </a:t>
            </a:r>
            <a:r>
              <a:rPr lang="en-US" altLang="ko-KR" sz="2000" dirty="0"/>
              <a:t>)</a:t>
            </a:r>
            <a:r>
              <a:rPr lang="ko-KR" altLang="en-US" sz="2000" dirty="0"/>
              <a:t>을 계산했는데</a:t>
            </a:r>
            <a:r>
              <a:rPr lang="en-US" altLang="ko-KR" sz="2000" dirty="0"/>
              <a:t>, </a:t>
            </a:r>
            <a:r>
              <a:rPr lang="ko-KR" altLang="en-US" sz="2000" dirty="0"/>
              <a:t>여기서 </a:t>
            </a:r>
            <a:r>
              <a:rPr lang="en-US" altLang="ko-KR" sz="2000" dirty="0"/>
              <a:t>0.01</a:t>
            </a:r>
            <a:r>
              <a:rPr lang="ko-KR" altLang="en-US" sz="2000" dirty="0"/>
              <a:t>은 작은 효과</a:t>
            </a:r>
            <a:r>
              <a:rPr lang="en-US" altLang="ko-KR" sz="2000" dirty="0"/>
              <a:t>, 0.06</a:t>
            </a:r>
            <a:r>
              <a:rPr lang="ko-KR" altLang="en-US" sz="2000" dirty="0"/>
              <a:t>은 중간 효과</a:t>
            </a:r>
            <a:r>
              <a:rPr lang="en-US" altLang="ko-KR" sz="2000" dirty="0"/>
              <a:t>, 0.14</a:t>
            </a:r>
            <a:r>
              <a:rPr lang="ko-KR" altLang="en-US" sz="2000" dirty="0"/>
              <a:t>는 큰 효과로 </a:t>
            </a:r>
            <a:r>
              <a:rPr lang="ko-KR" altLang="en-US" sz="2000" dirty="0" smtClean="0"/>
              <a:t>간주</a:t>
            </a:r>
            <a:r>
              <a:rPr lang="en-US" altLang="ko-KR" sz="2000" dirty="0" smtClean="0"/>
              <a:t>(</a:t>
            </a:r>
            <a:r>
              <a:rPr lang="de-DE" altLang="ko-KR" sz="2000" dirty="0" smtClean="0">
                <a:solidFill>
                  <a:srgbClr val="FF0000"/>
                </a:solidFill>
              </a:rPr>
              <a:t>Cohen</a:t>
            </a:r>
            <a:r>
              <a:rPr lang="de-DE" altLang="ko-KR" sz="2000" dirty="0" smtClean="0"/>
              <a:t>, 1988, p. 285–287, 383</a:t>
            </a:r>
            <a:r>
              <a:rPr lang="en-US" altLang="ko-KR" sz="2000" dirty="0" smtClean="0"/>
              <a:t>)( </a:t>
            </a:r>
            <a:r>
              <a:rPr lang="en-US" altLang="ko-KR" sz="2000" dirty="0" smtClean="0">
                <a:solidFill>
                  <a:srgbClr val="FF0000"/>
                </a:solidFill>
              </a:rPr>
              <a:t>effect size)</a:t>
            </a:r>
            <a:endParaRPr lang="en-US" altLang="ko-KR" sz="2000" dirty="0" smtClean="0">
              <a:solidFill>
                <a:srgbClr val="FF0000"/>
              </a:solidFill>
            </a:endParaRPr>
          </a:p>
          <a:p>
            <a:r>
              <a:rPr lang="en-US" altLang="ko-KR" sz="2000" dirty="0"/>
              <a:t>SPSS(SPSS </a:t>
            </a:r>
            <a:r>
              <a:rPr lang="ko-KR" altLang="en-US" sz="2000" dirty="0"/>
              <a:t>버전 </a:t>
            </a:r>
            <a:r>
              <a:rPr lang="en-US" altLang="ko-KR" sz="2000" dirty="0"/>
              <a:t>24.0, IBM Corporation, Armonk, </a:t>
            </a:r>
            <a:r>
              <a:rPr lang="ko-KR" altLang="en-US" sz="2000" dirty="0"/>
              <a:t>미국 뉴욕 주</a:t>
            </a:r>
            <a:r>
              <a:rPr lang="en-US" altLang="ko-KR" sz="2000" dirty="0"/>
              <a:t>)</a:t>
            </a:r>
            <a:r>
              <a:rPr lang="ko-KR" altLang="en-US" sz="2000" dirty="0"/>
              <a:t>를 사용하여 통계 분석을 완료</a:t>
            </a:r>
            <a:endParaRPr lang="en-US" altLang="ko-KR" sz="2000" dirty="0" smtClean="0"/>
          </a:p>
        </p:txBody>
      </p:sp>
    </p:spTree>
    <p:extLst>
      <p:ext uri="{BB962C8B-B14F-4D97-AF65-F5344CB8AC3E}">
        <p14:creationId xmlns:p14="http://schemas.microsoft.com/office/powerpoint/2010/main" val="1788590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RESULTS</a:t>
            </a:r>
            <a:br>
              <a:rPr lang="en-US" altLang="ko-KR" dirty="0" smtClean="0"/>
            </a:br>
            <a:r>
              <a:rPr lang="en-US" altLang="ko-KR" sz="3600" dirty="0" smtClean="0"/>
              <a:t>Feature Selection and Classification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79090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400" dirty="0"/>
              <a:t>GMM</a:t>
            </a:r>
            <a:r>
              <a:rPr lang="ko-KR" altLang="en-US" sz="2400" dirty="0"/>
              <a:t>은 보존된 </a:t>
            </a:r>
            <a:r>
              <a:rPr lang="en-US" altLang="ko-KR" sz="2400" dirty="0"/>
              <a:t>PC</a:t>
            </a:r>
            <a:r>
              <a:rPr lang="ko-KR" altLang="en-US" sz="2400" dirty="0"/>
              <a:t>를 사용하여 </a:t>
            </a:r>
            <a:r>
              <a:rPr lang="en-US" altLang="ko-KR" sz="2400" dirty="0"/>
              <a:t>k = 3</a:t>
            </a:r>
            <a:r>
              <a:rPr lang="ko-KR" altLang="en-US" sz="2400" dirty="0"/>
              <a:t>을 </a:t>
            </a:r>
            <a:r>
              <a:rPr lang="en-US" altLang="ko-KR" sz="2400" dirty="0"/>
              <a:t>DS</a:t>
            </a:r>
            <a:r>
              <a:rPr lang="ko-KR" altLang="en-US" sz="2400" dirty="0"/>
              <a:t>와 </a:t>
            </a:r>
            <a:r>
              <a:rPr lang="en-US" altLang="ko-KR" sz="2400" dirty="0"/>
              <a:t>RHS</a:t>
            </a:r>
            <a:r>
              <a:rPr lang="ko-KR" altLang="en-US" sz="2400" dirty="0"/>
              <a:t>의 최적 번호로</a:t>
            </a:r>
            <a:r>
              <a:rPr lang="en-US" altLang="ko-KR" sz="2400" dirty="0"/>
              <a:t>, k = 4</a:t>
            </a:r>
            <a:r>
              <a:rPr lang="ko-KR" altLang="en-US" sz="2400" dirty="0"/>
              <a:t>를 </a:t>
            </a:r>
            <a:r>
              <a:rPr lang="en-US" altLang="ko-KR" sz="2400" dirty="0"/>
              <a:t>LHS </a:t>
            </a:r>
            <a:r>
              <a:rPr lang="ko-KR" altLang="en-US" sz="2400" dirty="0"/>
              <a:t>이동의 최적 번호로 식별했다</a:t>
            </a:r>
            <a:r>
              <a:rPr lang="en-US" altLang="ko-KR" sz="2400" dirty="0"/>
              <a:t>(</a:t>
            </a:r>
            <a:r>
              <a:rPr lang="ko-KR" altLang="en-US" sz="2400" dirty="0"/>
              <a:t>그림 </a:t>
            </a:r>
            <a:r>
              <a:rPr lang="en-US" altLang="ko-KR" sz="2400" dirty="0"/>
              <a:t>4</a:t>
            </a:r>
            <a:r>
              <a:rPr lang="en-US" altLang="ko-KR" sz="2400" dirty="0" smtClean="0"/>
              <a:t>)</a:t>
            </a:r>
          </a:p>
          <a:p>
            <a:r>
              <a:rPr lang="ko-KR" altLang="en-US" sz="2400" dirty="0"/>
              <a:t> </a:t>
            </a:r>
            <a:r>
              <a:rPr lang="en-US" altLang="ko-KR" sz="2400" dirty="0"/>
              <a:t>DS</a:t>
            </a:r>
            <a:r>
              <a:rPr lang="ko-KR" altLang="en-US" sz="2400" dirty="0"/>
              <a:t>의 경우 </a:t>
            </a:r>
            <a:r>
              <a:rPr lang="ko-KR" altLang="en-US" sz="2400" dirty="0">
                <a:solidFill>
                  <a:srgbClr val="FF0000"/>
                </a:solidFill>
              </a:rPr>
              <a:t>표현형 </a:t>
            </a:r>
            <a:r>
              <a:rPr lang="en-US" altLang="ko-KR" sz="2400" dirty="0">
                <a:solidFill>
                  <a:srgbClr val="FF0000"/>
                </a:solidFill>
              </a:rPr>
              <a:t>1, 2, 3</a:t>
            </a:r>
            <a:r>
              <a:rPr lang="ko-KR" altLang="en-US" sz="2400" dirty="0">
                <a:solidFill>
                  <a:srgbClr val="FF0000"/>
                </a:solidFill>
              </a:rPr>
              <a:t>에 각각 </a:t>
            </a:r>
            <a:r>
              <a:rPr lang="en-US" altLang="ko-KR" sz="2400" dirty="0">
                <a:solidFill>
                  <a:srgbClr val="FF0000"/>
                </a:solidFill>
              </a:rPr>
              <a:t>62</a:t>
            </a:r>
            <a:r>
              <a:rPr lang="ko-KR" altLang="en-US" sz="2400" dirty="0">
                <a:solidFill>
                  <a:srgbClr val="FF0000"/>
                </a:solidFill>
              </a:rPr>
              <a:t>회</a:t>
            </a:r>
            <a:r>
              <a:rPr lang="en-US" altLang="ko-KR" sz="2400" dirty="0">
                <a:solidFill>
                  <a:srgbClr val="FF0000"/>
                </a:solidFill>
              </a:rPr>
              <a:t>, 24</a:t>
            </a:r>
            <a:r>
              <a:rPr lang="ko-KR" altLang="en-US" sz="2400" dirty="0">
                <a:solidFill>
                  <a:srgbClr val="FF0000"/>
                </a:solidFill>
              </a:rPr>
              <a:t>회</a:t>
            </a:r>
            <a:r>
              <a:rPr lang="en-US" altLang="ko-KR" sz="2400" dirty="0">
                <a:solidFill>
                  <a:srgbClr val="FF0000"/>
                </a:solidFill>
              </a:rPr>
              <a:t>, 64</a:t>
            </a:r>
            <a:r>
              <a:rPr lang="ko-KR" altLang="en-US" sz="2400" dirty="0">
                <a:solidFill>
                  <a:srgbClr val="FF0000"/>
                </a:solidFill>
              </a:rPr>
              <a:t>회를 </a:t>
            </a:r>
            <a:r>
              <a:rPr lang="ko-KR" altLang="en-US" sz="2400" dirty="0" smtClean="0">
                <a:solidFill>
                  <a:srgbClr val="FF0000"/>
                </a:solidFill>
              </a:rPr>
              <a:t>배정</a:t>
            </a:r>
            <a:endParaRPr lang="en-US" altLang="ko-KR" sz="2400" dirty="0" smtClean="0">
              <a:solidFill>
                <a:srgbClr val="FF0000"/>
              </a:solidFill>
            </a:endParaRPr>
          </a:p>
          <a:p>
            <a:r>
              <a:rPr lang="ko-KR" altLang="en-US" sz="2400" dirty="0" smtClean="0"/>
              <a:t>참여자 </a:t>
            </a:r>
            <a:r>
              <a:rPr lang="ko-KR" altLang="en-US" sz="2400" dirty="0"/>
              <a:t>중 </a:t>
            </a:r>
            <a:r>
              <a:rPr lang="en-US" altLang="ko-KR" sz="2400" dirty="0"/>
              <a:t>23</a:t>
            </a:r>
            <a:r>
              <a:rPr lang="ko-KR" altLang="en-US" sz="2400" dirty="0" smtClean="0"/>
              <a:t>명이 </a:t>
            </a:r>
            <a:r>
              <a:rPr lang="en-US" altLang="ko-KR" sz="2400" dirty="0"/>
              <a:t>5</a:t>
            </a:r>
            <a:r>
              <a:rPr lang="ko-KR" altLang="en-US" sz="2400" dirty="0"/>
              <a:t>회 모두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동일한 표현형 안에 </a:t>
            </a:r>
            <a:r>
              <a:rPr lang="ko-KR" altLang="en-US" sz="2400" dirty="0" smtClean="0"/>
              <a:t>분류</a:t>
            </a:r>
            <a:endParaRPr lang="en-US" altLang="ko-KR" sz="2400" dirty="0" smtClean="0"/>
          </a:p>
          <a:p>
            <a:r>
              <a:rPr lang="en-US" altLang="ko-KR" sz="2400" dirty="0" smtClean="0"/>
              <a:t>7</a:t>
            </a:r>
            <a:r>
              <a:rPr lang="ko-KR" altLang="en-US" sz="2400" dirty="0"/>
              <a:t>명이 </a:t>
            </a:r>
            <a:r>
              <a:rPr lang="en-US" altLang="ko-KR" sz="2400" dirty="0"/>
              <a:t>2</a:t>
            </a:r>
            <a:r>
              <a:rPr lang="ko-KR" altLang="en-US" sz="2400" dirty="0"/>
              <a:t>개의 다른 표현형 사이에 분산된 실험을 </a:t>
            </a:r>
            <a:r>
              <a:rPr lang="ko-KR" altLang="en-US" sz="2400" dirty="0" smtClean="0"/>
              <a:t>했다</a:t>
            </a:r>
            <a:endParaRPr lang="en-US" altLang="ko-KR" sz="2400" dirty="0" smtClean="0"/>
          </a:p>
          <a:p>
            <a:r>
              <a:rPr lang="ko-KR" altLang="en-US" sz="2400" dirty="0" smtClean="0"/>
              <a:t>중략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3200" dirty="0"/>
              <a:t>Single Component </a:t>
            </a:r>
            <a:r>
              <a:rPr lang="en-US" altLang="ko-KR" sz="3200" dirty="0" smtClean="0"/>
              <a:t>Reconstruction</a:t>
            </a:r>
          </a:p>
          <a:p>
            <a:r>
              <a:rPr lang="ko-KR" altLang="en-US" sz="2400" dirty="0"/>
              <a:t>단일 구성요소 재구성의 결과는 그림 </a:t>
            </a:r>
            <a:r>
              <a:rPr lang="en-US" altLang="ko-KR" sz="2400" dirty="0"/>
              <a:t>5-7</a:t>
            </a:r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단일 구성요소 재구성의</a:t>
            </a:r>
            <a:r>
              <a:rPr lang="en-US" altLang="ko-KR" sz="2400" dirty="0"/>
              <a:t>) </a:t>
            </a:r>
            <a:r>
              <a:rPr lang="ko-KR" altLang="en-US" sz="2400" dirty="0"/>
              <a:t>목적은 움직임 표현형</a:t>
            </a:r>
            <a:r>
              <a:rPr lang="en-US" altLang="ko-KR" sz="2400" dirty="0"/>
              <a:t>(</a:t>
            </a:r>
            <a:r>
              <a:rPr lang="ko-KR" altLang="en-US" sz="2400" dirty="0"/>
              <a:t>클러스터 중심체</a:t>
            </a:r>
            <a:r>
              <a:rPr lang="en-US" altLang="ko-KR" sz="2400" dirty="0"/>
              <a:t>)</a:t>
            </a:r>
            <a:r>
              <a:rPr lang="ko-KR" altLang="en-US" sz="2400" dirty="0"/>
              <a:t>에서 나타나는 차이를 시각적으로 </a:t>
            </a:r>
            <a:r>
              <a:rPr lang="ko-KR" altLang="en-US" sz="2400" dirty="0" smtClean="0"/>
              <a:t>표현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6769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Kinematic </a:t>
            </a:r>
            <a:r>
              <a:rPr lang="en-US" altLang="ko-KR" dirty="0"/>
              <a:t>Differences Between Clusters</a:t>
            </a:r>
            <a:br>
              <a:rPr lang="en-US" altLang="ko-KR" dirty="0"/>
            </a:br>
            <a:r>
              <a:rPr lang="en-US" altLang="ko-KR" sz="3200" dirty="0"/>
              <a:t>Deep Squat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55848" y="1825625"/>
            <a:ext cx="5797952" cy="4351338"/>
          </a:xfrm>
        </p:spPr>
        <p:txBody>
          <a:bodyPr>
            <a:normAutofit lnSpcReduction="10000"/>
          </a:bodyPr>
          <a:lstStyle/>
          <a:p>
            <a:r>
              <a:rPr lang="en-US" altLang="ko-KR" sz="2400" dirty="0"/>
              <a:t>DS</a:t>
            </a:r>
            <a:r>
              <a:rPr lang="ko-KR" altLang="en-US" sz="2400" dirty="0"/>
              <a:t>를 주관적으로 평가하는 데 사용되는 </a:t>
            </a:r>
            <a:r>
              <a:rPr lang="en-US" altLang="ko-KR" sz="2400" dirty="0"/>
              <a:t>5</a:t>
            </a:r>
            <a:r>
              <a:rPr lang="ko-KR" altLang="en-US" sz="2400" dirty="0"/>
              <a:t>가지 </a:t>
            </a:r>
            <a:r>
              <a:rPr lang="ko-KR" altLang="en-US" sz="2400" dirty="0" err="1"/>
              <a:t>키네마틱</a:t>
            </a:r>
            <a:r>
              <a:rPr lang="ko-KR" altLang="en-US" sz="2400" dirty="0"/>
              <a:t> 조치 중 </a:t>
            </a:r>
            <a:r>
              <a:rPr lang="en-US" altLang="ko-KR" sz="2400" dirty="0"/>
              <a:t>4</a:t>
            </a:r>
            <a:r>
              <a:rPr lang="ko-KR" altLang="en-US" sz="2400" dirty="0"/>
              <a:t>가지에 대해 클러스터 배정의 </a:t>
            </a:r>
            <a:r>
              <a:rPr lang="ko-KR" altLang="en-US" sz="2400" dirty="0" err="1" smtClean="0"/>
              <a:t>주효과</a:t>
            </a:r>
            <a:r>
              <a:rPr lang="en-US" altLang="ko-KR" sz="2400" dirty="0" smtClean="0"/>
              <a:t>(&lt;0.05)</a:t>
            </a:r>
            <a:r>
              <a:rPr lang="ko-KR" altLang="en-US" sz="2400" dirty="0" smtClean="0"/>
              <a:t>가 감지</a:t>
            </a:r>
            <a:r>
              <a:rPr lang="ko-KR" altLang="en-US" sz="2400" dirty="0"/>
              <a:t> </a:t>
            </a:r>
            <a:r>
              <a:rPr lang="en-US" altLang="ko-KR" sz="2400" dirty="0"/>
              <a:t>(</a:t>
            </a:r>
            <a:r>
              <a:rPr lang="ko-KR" altLang="en-US" sz="2400" dirty="0"/>
              <a:t>표 </a:t>
            </a:r>
            <a:r>
              <a:rPr lang="en-US" altLang="ko-KR" sz="2400" dirty="0" smtClean="0"/>
              <a:t>4</a:t>
            </a:r>
            <a:r>
              <a:rPr lang="en-US" altLang="ko-KR" sz="2400" dirty="0"/>
              <a:t>,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그림 </a:t>
            </a:r>
            <a:r>
              <a:rPr lang="en-US" altLang="ko-KR" sz="2400" dirty="0"/>
              <a:t>8</a:t>
            </a:r>
            <a:r>
              <a:rPr lang="en-US" altLang="ko-KR" sz="2400" dirty="0" smtClean="0"/>
              <a:t>)</a:t>
            </a:r>
          </a:p>
          <a:p>
            <a:r>
              <a:rPr lang="ko-KR" altLang="en-US" sz="2400" dirty="0"/>
              <a:t>몸통의 전방 기울기를 나타내는 척도인 트렁크 세그먼트 각도는 </a:t>
            </a:r>
            <a:r>
              <a:rPr lang="ko-KR" altLang="en-US" sz="2400" dirty="0" err="1"/>
              <a:t>군집마다</a:t>
            </a:r>
            <a:r>
              <a:rPr lang="ko-KR" altLang="en-US" sz="2400" dirty="0"/>
              <a:t> 다르지 </a:t>
            </a:r>
            <a:r>
              <a:rPr lang="ko-KR" altLang="en-US" sz="2400" dirty="0" smtClean="0"/>
              <a:t>않았다</a:t>
            </a:r>
            <a:endParaRPr lang="en-US" altLang="ko-KR" sz="2400" dirty="0" smtClean="0"/>
          </a:p>
          <a:p>
            <a:r>
              <a:rPr lang="ko-KR" altLang="en-US" sz="2400" dirty="0"/>
              <a:t> 임시로 쌍을 비교한 결과 대퇴골 각</a:t>
            </a:r>
            <a:r>
              <a:rPr lang="en-US" altLang="ko-KR" sz="2400" dirty="0"/>
              <a:t>(</a:t>
            </a:r>
            <a:r>
              <a:rPr lang="ko-KR" altLang="en-US" sz="2400" dirty="0"/>
              <a:t>그림 </a:t>
            </a:r>
            <a:r>
              <a:rPr lang="en-US" altLang="ko-KR" sz="2400" dirty="0"/>
              <a:t>8A)</a:t>
            </a:r>
            <a:r>
              <a:rPr lang="ko-KR" altLang="en-US" sz="2400" dirty="0"/>
              <a:t>은 표현형 </a:t>
            </a:r>
            <a:r>
              <a:rPr lang="en-US" altLang="ko-KR" sz="2400" dirty="0"/>
              <a:t>1</a:t>
            </a:r>
            <a:r>
              <a:rPr lang="ko-KR" altLang="en-US" sz="2400" dirty="0"/>
              <a:t>과 </a:t>
            </a:r>
            <a:r>
              <a:rPr lang="en-US" altLang="ko-KR" sz="2400" dirty="0"/>
              <a:t>2</a:t>
            </a:r>
            <a:r>
              <a:rPr lang="ko-KR" altLang="en-US" sz="2400" dirty="0"/>
              <a:t>와 표현형 </a:t>
            </a:r>
            <a:r>
              <a:rPr lang="en-US" altLang="ko-KR" sz="2400" dirty="0"/>
              <a:t>1</a:t>
            </a:r>
            <a:r>
              <a:rPr lang="ko-KR" altLang="en-US" sz="2400" dirty="0"/>
              <a:t>과 </a:t>
            </a:r>
            <a:r>
              <a:rPr lang="en-US" altLang="ko-KR" sz="2400" dirty="0"/>
              <a:t>3</a:t>
            </a:r>
            <a:r>
              <a:rPr lang="ko-KR" altLang="en-US" sz="2400" dirty="0"/>
              <a:t>이 다르지만 표현형 </a:t>
            </a:r>
            <a:r>
              <a:rPr lang="en-US" altLang="ko-KR" sz="2400" dirty="0"/>
              <a:t>2</a:t>
            </a:r>
            <a:r>
              <a:rPr lang="ko-KR" altLang="en-US" sz="2400" dirty="0"/>
              <a:t>와 </a:t>
            </a:r>
            <a:r>
              <a:rPr lang="en-US" altLang="ko-KR" sz="2400" dirty="0"/>
              <a:t>3</a:t>
            </a:r>
            <a:r>
              <a:rPr lang="ko-KR" altLang="en-US" sz="2400" dirty="0"/>
              <a:t>은 다르지 </a:t>
            </a:r>
            <a:r>
              <a:rPr lang="ko-KR" altLang="en-US" sz="2400" dirty="0" smtClean="0"/>
              <a:t>않았다</a:t>
            </a:r>
            <a:endParaRPr lang="en-US" altLang="ko-KR" sz="2400" dirty="0" smtClean="0"/>
          </a:p>
          <a:p>
            <a:r>
              <a:rPr lang="ko-KR" altLang="en-US" sz="2400" dirty="0" smtClean="0"/>
              <a:t>중략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70" y="1690688"/>
            <a:ext cx="5359078" cy="507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8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CONCLUSION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000" dirty="0"/>
              <a:t>전체적으로 패턴 인식 및 </a:t>
            </a:r>
            <a:r>
              <a:rPr lang="ko-KR" altLang="en-US" sz="2000" dirty="0" err="1"/>
              <a:t>머신러닝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기법으로 </a:t>
            </a:r>
            <a:r>
              <a:rPr lang="en-US" altLang="ko-KR" sz="2000" dirty="0"/>
              <a:t>DS, RHS </a:t>
            </a:r>
            <a:r>
              <a:rPr lang="ko-KR" altLang="en-US" sz="2000" dirty="0"/>
              <a:t>및 </a:t>
            </a:r>
            <a:r>
              <a:rPr lang="en-US" altLang="ko-KR" sz="2000" dirty="0"/>
              <a:t>LHS</a:t>
            </a:r>
            <a:r>
              <a:rPr lang="ko-KR" altLang="en-US" sz="2000" dirty="0"/>
              <a:t>를 수행하는 개인 그룹 내에서 표현형을 객관적으로 </a:t>
            </a:r>
            <a:r>
              <a:rPr lang="ko-KR" altLang="en-US" sz="2000" dirty="0" smtClean="0"/>
              <a:t>식별</a:t>
            </a:r>
            <a:endParaRPr lang="en-US" altLang="ko-KR" sz="2000" dirty="0" smtClean="0"/>
          </a:p>
          <a:p>
            <a:r>
              <a:rPr lang="ko-KR" altLang="en-US" sz="2000" dirty="0"/>
              <a:t>다른 표현형 집단들 사이의 움직임을 점수화하는 데 일반적으로 사용되는 운동학적 측정치를 </a:t>
            </a:r>
            <a:r>
              <a:rPr lang="ko-KR" altLang="en-US" sz="2000" dirty="0" err="1" smtClean="0"/>
              <a:t>비교할때</a:t>
            </a:r>
            <a:endParaRPr lang="en-US" altLang="ko-KR" sz="2000" dirty="0" smtClean="0"/>
          </a:p>
          <a:p>
            <a:r>
              <a:rPr lang="en-US" altLang="ko-KR" sz="2000" dirty="0" smtClean="0"/>
              <a:t>[</a:t>
            </a:r>
            <a:r>
              <a:rPr lang="ko-KR" altLang="en-US" sz="2000" dirty="0">
                <a:solidFill>
                  <a:srgbClr val="FF0000"/>
                </a:solidFill>
              </a:rPr>
              <a:t>고려할 조치의 수를 줄임 </a:t>
            </a:r>
            <a:r>
              <a:rPr lang="en-US" altLang="ko-KR" sz="2000" dirty="0" smtClean="0"/>
              <a:t>] </a:t>
            </a:r>
            <a:r>
              <a:rPr lang="ko-KR" altLang="en-US" sz="2000" dirty="0" smtClean="0"/>
              <a:t>계층적 </a:t>
            </a:r>
            <a:r>
              <a:rPr lang="ko-KR" altLang="en-US" sz="2000" dirty="0"/>
              <a:t>접근 방식</a:t>
            </a:r>
            <a:r>
              <a:rPr lang="en-US" altLang="ko-KR" sz="2000" dirty="0"/>
              <a:t>(</a:t>
            </a: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/>
              <a:t>측정값 </a:t>
            </a:r>
            <a:r>
              <a:rPr lang="en-US" altLang="ko-KR" sz="2000" dirty="0"/>
              <a:t>A</a:t>
            </a:r>
            <a:r>
              <a:rPr lang="ko-KR" altLang="en-US" sz="2000" dirty="0"/>
              <a:t>에 기반한 화면</a:t>
            </a:r>
            <a:r>
              <a:rPr lang="en-US" altLang="ko-KR" sz="2000" dirty="0"/>
              <a:t>, </a:t>
            </a:r>
            <a:r>
              <a:rPr lang="ko-KR" altLang="en-US" sz="2000" dirty="0"/>
              <a:t>필요에 따라 하위 종단 조치에 기반한 화면 긴급 그룹</a:t>
            </a:r>
            <a:r>
              <a:rPr lang="en-US" altLang="ko-KR" sz="2000" dirty="0" smtClean="0"/>
              <a:t>)</a:t>
            </a:r>
          </a:p>
          <a:p>
            <a:r>
              <a:rPr lang="ko-KR" altLang="en-US" sz="2000" dirty="0"/>
              <a:t>전신 운동 패턴을 이용한 객관적인 데이터 </a:t>
            </a:r>
            <a:r>
              <a:rPr lang="ko-KR" altLang="en-US" sz="2000" dirty="0" smtClean="0"/>
              <a:t>분석은 </a:t>
            </a:r>
            <a:r>
              <a:rPr lang="en-US" altLang="ko-KR" sz="2000" dirty="0"/>
              <a:t>DS</a:t>
            </a:r>
            <a:r>
              <a:rPr lang="ko-KR" altLang="en-US" sz="2000" dirty="0"/>
              <a:t>의 </a:t>
            </a:r>
            <a:r>
              <a:rPr lang="ko-KR" altLang="en-US" sz="2000" dirty="0" smtClean="0"/>
              <a:t>특징에 </a:t>
            </a:r>
            <a:r>
              <a:rPr lang="ko-KR" altLang="en-US" sz="2000" dirty="0"/>
              <a:t>대한 통찰력을 </a:t>
            </a:r>
            <a:r>
              <a:rPr lang="ko-KR" altLang="en-US" sz="2000" dirty="0" smtClean="0"/>
              <a:t>제공</a:t>
            </a:r>
            <a:endParaRPr lang="en-US" altLang="ko-KR" sz="2000" dirty="0" smtClean="0"/>
          </a:p>
          <a:p>
            <a:r>
              <a:rPr lang="ko-KR" altLang="en-US" sz="2000" dirty="0"/>
              <a:t> 이 연구의 결과는 부상 예측을 진전시키기 위해 어떤 이동 전략이 다른 부상 위험 요인을 유도할 수 있는지 확인하는 </a:t>
            </a:r>
            <a:r>
              <a:rPr lang="ko-KR" altLang="en-US" sz="2000" dirty="0" smtClean="0"/>
              <a:t>것 </a:t>
            </a:r>
            <a:r>
              <a:rPr lang="ko-KR" altLang="en-US" sz="2000" dirty="0"/>
              <a:t>것과 같은 여러 미래 연구 방향을 여는 중요한 발견을 현장에 </a:t>
            </a:r>
            <a:r>
              <a:rPr lang="ko-KR" altLang="en-US" sz="2000" dirty="0" smtClean="0"/>
              <a:t>제공</a:t>
            </a:r>
            <a:endParaRPr lang="en-US" altLang="ko-KR" sz="2000" dirty="0" smtClean="0"/>
          </a:p>
          <a:p>
            <a:r>
              <a:rPr lang="ko-KR" altLang="en-US" sz="2000" dirty="0"/>
              <a:t> 객관적인 데이터 기반 분석을 진행하면 부상 위험 식별 및 완화를 목적으로 이동 </a:t>
            </a:r>
            <a:r>
              <a:rPr lang="ko-KR" altLang="en-US" sz="2000" dirty="0" err="1"/>
              <a:t>스크리닝을</a:t>
            </a:r>
            <a:r>
              <a:rPr lang="ko-KR" altLang="en-US" sz="2000" dirty="0"/>
              <a:t> 적용할 수 있는 능력이 더욱 </a:t>
            </a:r>
            <a:r>
              <a:rPr lang="ko-KR" altLang="en-US" sz="2000" dirty="0" smtClean="0"/>
              <a:t>향상될 수 있음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051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1122</Words>
  <Application>Microsoft Office PowerPoint</Application>
  <PresentationFormat>와이드스크린</PresentationFormat>
  <Paragraphs>121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Intro.</vt:lpstr>
      <vt:lpstr>INTRODUCTION</vt:lpstr>
      <vt:lpstr>INTRODUCTION</vt:lpstr>
      <vt:lpstr>INTRODUCTION</vt:lpstr>
      <vt:lpstr>MATERIALS AND METHODS Subjects</vt:lpstr>
      <vt:lpstr>Protocol</vt:lpstr>
      <vt:lpstr>Data Post-processing and Conditioning</vt:lpstr>
      <vt:lpstr>Data Post-processing and Conditioning</vt:lpstr>
      <vt:lpstr>Data Post-processing and Conditioning</vt:lpstr>
      <vt:lpstr>Data Analysis Feature Selection</vt:lpstr>
      <vt:lpstr>Classification</vt:lpstr>
      <vt:lpstr>Reconstruction</vt:lpstr>
      <vt:lpstr>RESULTS Feature Selection and Classification</vt:lpstr>
      <vt:lpstr>Kinematic Differences Between Clusters Deep Squat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 jh</dc:creator>
  <cp:lastModifiedBy>k jh</cp:lastModifiedBy>
  <cp:revision>44</cp:revision>
  <dcterms:created xsi:type="dcterms:W3CDTF">2020-06-29T08:06:43Z</dcterms:created>
  <dcterms:modified xsi:type="dcterms:W3CDTF">2020-06-30T04:53:21Z</dcterms:modified>
</cp:coreProperties>
</file>