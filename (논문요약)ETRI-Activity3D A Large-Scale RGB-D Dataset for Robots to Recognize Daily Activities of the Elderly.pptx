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42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05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12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97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95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7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41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34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14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72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9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7CB64-5E4A-49DE-B4C3-03F90EB8BB65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F49B8-EC9B-4283-873A-14598C32E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08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846" y="5625328"/>
            <a:ext cx="3627119" cy="12342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5" y="461962"/>
            <a:ext cx="10515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로봇 뷰에서 노인들의 일상 활동을 중심으로 </a:t>
            </a:r>
            <a:r>
              <a:rPr lang="en-US" altLang="ko-KR" dirty="0"/>
              <a:t>ETRI-Activity3D</a:t>
            </a:r>
            <a:r>
              <a:rPr lang="ko-KR" altLang="en-US" dirty="0"/>
              <a:t>라는 새로운 데이터세트를 </a:t>
            </a:r>
            <a:r>
              <a:rPr lang="ko-KR" altLang="en-US" dirty="0" smtClean="0"/>
              <a:t>도입</a:t>
            </a:r>
            <a:endParaRPr lang="en-US" altLang="ko-KR" dirty="0" smtClean="0"/>
          </a:p>
          <a:p>
            <a:r>
              <a:rPr lang="ko-KR" altLang="en-US" dirty="0"/>
              <a:t> 주요 </a:t>
            </a:r>
            <a:r>
              <a:rPr lang="ko-KR" altLang="en-US" dirty="0" smtClean="0"/>
              <a:t>특성 </a:t>
            </a:r>
            <a:r>
              <a:rPr lang="en-US" altLang="ko-KR" dirty="0" smtClean="0"/>
              <a:t>: </a:t>
            </a:r>
            <a:r>
              <a:rPr lang="en-US" altLang="ko-KR" dirty="0"/>
              <a:t>1) </a:t>
            </a:r>
            <a:r>
              <a:rPr lang="ko-KR" altLang="en-US" dirty="0"/>
              <a:t>노인들의 일상을 면밀히 관찰하여 선별한 실제 행동 </a:t>
            </a:r>
            <a:r>
              <a:rPr lang="ko-KR" altLang="en-US" dirty="0" smtClean="0"/>
              <a:t>범주 </a:t>
            </a:r>
            <a:r>
              <a:rPr lang="en-US" altLang="ko-KR" dirty="0"/>
              <a:t>2) </a:t>
            </a:r>
            <a:r>
              <a:rPr lang="ko-KR" altLang="en-US" dirty="0"/>
              <a:t>로봇의 작업 환경과 서비스 상황을 반영한 현실적인 데이터 </a:t>
            </a:r>
            <a:r>
              <a:rPr lang="ko-KR" altLang="en-US" dirty="0" smtClean="0"/>
              <a:t>수집 </a:t>
            </a:r>
            <a:r>
              <a:rPr lang="en-US" altLang="ko-KR" dirty="0"/>
              <a:t>3) </a:t>
            </a:r>
            <a:r>
              <a:rPr lang="ko-KR" altLang="en-US" dirty="0"/>
              <a:t>현재 </a:t>
            </a:r>
            <a:r>
              <a:rPr lang="en-US" altLang="ko-KR" dirty="0"/>
              <a:t>3D </a:t>
            </a:r>
            <a:r>
              <a:rPr lang="ko-KR" altLang="en-US" dirty="0"/>
              <a:t>활동 분석 벤치마크 </a:t>
            </a:r>
            <a:r>
              <a:rPr lang="ko-KR" altLang="en-US" dirty="0" err="1"/>
              <a:t>데이터셋의</a:t>
            </a:r>
            <a:r>
              <a:rPr lang="ko-KR" altLang="en-US" dirty="0"/>
              <a:t> 모방을 극복하는 대규모 </a:t>
            </a:r>
            <a:r>
              <a:rPr lang="ko-KR" altLang="en-US" dirty="0" err="1" smtClean="0"/>
              <a:t>데이터셋</a:t>
            </a:r>
            <a:endParaRPr lang="en-US" altLang="ko-KR" dirty="0" smtClean="0"/>
          </a:p>
          <a:p>
            <a:r>
              <a:rPr lang="en-US" altLang="ko-KR" dirty="0"/>
              <a:t>RGB </a:t>
            </a:r>
            <a:r>
              <a:rPr lang="ko-KR" altLang="en-US" dirty="0"/>
              <a:t>비디오</a:t>
            </a:r>
            <a:r>
              <a:rPr lang="en-US" altLang="ko-KR" dirty="0"/>
              <a:t>, </a:t>
            </a:r>
            <a:r>
              <a:rPr lang="ko-KR" altLang="en-US" dirty="0"/>
              <a:t>깊이 지도</a:t>
            </a:r>
            <a:r>
              <a:rPr lang="en-US" altLang="ko-KR" dirty="0"/>
              <a:t>, </a:t>
            </a:r>
            <a:r>
              <a:rPr lang="ko-KR" altLang="en-US" dirty="0" err="1"/>
              <a:t>스켈레톤</a:t>
            </a:r>
            <a:r>
              <a:rPr lang="ko-KR" altLang="en-US" dirty="0"/>
              <a:t> 시퀀스 등 </a:t>
            </a:r>
            <a:r>
              <a:rPr lang="en-US" altLang="ko-KR" dirty="0"/>
              <a:t>112,620</a:t>
            </a:r>
            <a:r>
              <a:rPr lang="ko-KR" altLang="en-US" dirty="0"/>
              <a:t>개의 </a:t>
            </a:r>
            <a:r>
              <a:rPr lang="ko-KR" altLang="en-US" dirty="0" smtClean="0"/>
              <a:t>샘플</a:t>
            </a:r>
            <a:endParaRPr lang="en-US" altLang="ko-KR" dirty="0" smtClean="0"/>
          </a:p>
          <a:p>
            <a:r>
              <a:rPr lang="en-US" altLang="ko-KR" dirty="0"/>
              <a:t>100</a:t>
            </a:r>
            <a:r>
              <a:rPr lang="ko-KR" altLang="en-US" dirty="0"/>
              <a:t>명의 대상자에게 </a:t>
            </a:r>
            <a:r>
              <a:rPr lang="en-US" altLang="ko-KR" dirty="0"/>
              <a:t>55</a:t>
            </a:r>
            <a:r>
              <a:rPr lang="ko-KR" altLang="en-US" dirty="0"/>
              <a:t>개의 </a:t>
            </a:r>
            <a:r>
              <a:rPr lang="ko-KR" altLang="en-US" dirty="0" err="1"/>
              <a:t>일상활동을</a:t>
            </a:r>
            <a:r>
              <a:rPr lang="ko-KR" altLang="en-US" dirty="0"/>
              <a:t>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r>
              <a:rPr lang="en-US" altLang="ko-KR" dirty="0" smtClean="0"/>
              <a:t>four-stream adaptive CNN (FSA-CNN)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439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/>
              <a:t>본 연구에서는 로봇의 관점에서 일상 활동의 인식을 </a:t>
            </a:r>
            <a:r>
              <a:rPr lang="ko-KR" altLang="en-US" sz="2400" dirty="0" smtClean="0"/>
              <a:t>채택</a:t>
            </a:r>
            <a:endParaRPr lang="en-US" altLang="ko-KR" sz="2400" dirty="0" smtClean="0"/>
          </a:p>
          <a:p>
            <a:r>
              <a:rPr lang="en-US" altLang="ko-KR" sz="2400" dirty="0"/>
              <a:t>64</a:t>
            </a:r>
            <a:r>
              <a:rPr lang="ko-KR" altLang="en-US" sz="2400" dirty="0"/>
              <a:t>세에서 </a:t>
            </a:r>
            <a:r>
              <a:rPr lang="en-US" altLang="ko-KR" sz="2400" dirty="0"/>
              <a:t>88</a:t>
            </a:r>
            <a:r>
              <a:rPr lang="ko-KR" altLang="en-US" sz="2400" dirty="0"/>
              <a:t>세 사이의 </a:t>
            </a:r>
            <a:r>
              <a:rPr lang="ko-KR" altLang="en-US" sz="2400" dirty="0" smtClean="0"/>
              <a:t>노인들 </a:t>
            </a:r>
            <a:r>
              <a:rPr lang="en-US" altLang="ko-KR" sz="2400" dirty="0" smtClean="0"/>
              <a:t>50</a:t>
            </a:r>
            <a:r>
              <a:rPr lang="ko-KR" altLang="en-US" sz="2400" dirty="0" smtClean="0"/>
              <a:t>명</a:t>
            </a:r>
            <a:endParaRPr lang="en-US" altLang="ko-KR" sz="2400" dirty="0" smtClean="0"/>
          </a:p>
          <a:p>
            <a:r>
              <a:rPr lang="en-US" altLang="ko-KR" sz="2400" dirty="0"/>
              <a:t>20</a:t>
            </a:r>
            <a:r>
              <a:rPr lang="ko-KR" altLang="en-US" sz="2400" dirty="0"/>
              <a:t>대 청년 </a:t>
            </a:r>
            <a:r>
              <a:rPr lang="en-US" altLang="ko-KR" sz="2400" dirty="0"/>
              <a:t>50</a:t>
            </a:r>
            <a:r>
              <a:rPr lang="ko-KR" altLang="en-US" sz="2400" dirty="0" smtClean="0"/>
              <a:t>명</a:t>
            </a:r>
            <a:endParaRPr lang="en-US" altLang="ko-KR" sz="2400" dirty="0" smtClean="0"/>
          </a:p>
          <a:p>
            <a:r>
              <a:rPr lang="ko-KR" altLang="en-US" sz="2400" dirty="0"/>
              <a:t>노인들의 행동과 젊은이들의 행동 사이에 다양한 비교 </a:t>
            </a:r>
            <a:r>
              <a:rPr lang="ko-KR" altLang="en-US" sz="2400" dirty="0" smtClean="0"/>
              <a:t>실험 가능</a:t>
            </a:r>
            <a:endParaRPr lang="en-US" altLang="ko-KR" sz="2400" dirty="0" smtClean="0"/>
          </a:p>
          <a:p>
            <a:r>
              <a:rPr lang="ko-KR" altLang="en-US" sz="2400" dirty="0" err="1"/>
              <a:t>자료취득은</a:t>
            </a:r>
            <a:r>
              <a:rPr lang="ko-KR" altLang="en-US" sz="2400" dirty="0"/>
              <a:t> 고령자의 생활여건과 상당히 유사한 조건을 가진 </a:t>
            </a:r>
            <a:r>
              <a:rPr lang="ko-KR" altLang="en-US" sz="2400" dirty="0" smtClean="0"/>
              <a:t>아파트에서</a:t>
            </a:r>
            <a:endParaRPr lang="en-US" altLang="ko-KR" sz="2400" dirty="0" smtClean="0"/>
          </a:p>
          <a:p>
            <a:r>
              <a:rPr lang="ko-KR" altLang="en-US" sz="2400" dirty="0"/>
              <a:t>각 피험자는 주어진 행동을 자기 방식대로 </a:t>
            </a:r>
            <a:r>
              <a:rPr lang="ko-KR" altLang="en-US" sz="2400" dirty="0" smtClean="0"/>
              <a:t>수행</a:t>
            </a:r>
            <a:r>
              <a:rPr lang="en-US" altLang="ko-KR" sz="2400" dirty="0" smtClean="0"/>
              <a:t>(</a:t>
            </a:r>
            <a:r>
              <a:rPr lang="ko-KR" altLang="en-US" sz="2400" dirty="0"/>
              <a:t>다양한 </a:t>
            </a:r>
            <a:r>
              <a:rPr lang="ko-KR" altLang="en-US" sz="2400" dirty="0" smtClean="0"/>
              <a:t>환경조건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FSA-CNN</a:t>
            </a:r>
            <a:r>
              <a:rPr lang="ko-KR" altLang="en-US" sz="2400" dirty="0"/>
              <a:t>에는 세 가지 주요 </a:t>
            </a:r>
            <a:r>
              <a:rPr lang="ko-KR" altLang="en-US" sz="2400" dirty="0" smtClean="0"/>
              <a:t>속성</a:t>
            </a:r>
            <a:endParaRPr lang="en-US" altLang="ko-KR" sz="2400" dirty="0" smtClean="0"/>
          </a:p>
          <a:p>
            <a:pPr marL="457200" indent="-457200">
              <a:buAutoNum type="arabicParenR"/>
            </a:pPr>
            <a:r>
              <a:rPr lang="ko-KR" altLang="en-US" sz="2400" dirty="0" smtClean="0"/>
              <a:t>시간적 </a:t>
            </a:r>
            <a:r>
              <a:rPr lang="ko-KR" altLang="en-US" sz="2400" dirty="0"/>
              <a:t>변동에 대한 </a:t>
            </a:r>
            <a:r>
              <a:rPr lang="ko-KR" altLang="en-US" sz="2400" dirty="0" err="1"/>
              <a:t>강건성을</a:t>
            </a:r>
            <a:r>
              <a:rPr lang="ko-KR" altLang="en-US" sz="2400" dirty="0"/>
              <a:t> 제공하는 글로벌 </a:t>
            </a:r>
            <a:r>
              <a:rPr lang="ko-KR" altLang="en-US" sz="2400" dirty="0" err="1" smtClean="0"/>
              <a:t>풀링</a:t>
            </a:r>
            <a:endParaRPr lang="en-US" altLang="ko-KR" sz="2400" dirty="0" smtClean="0"/>
          </a:p>
          <a:p>
            <a:pPr marL="457200" indent="-457200">
              <a:buAutoNum type="arabicParenR"/>
            </a:pPr>
            <a:r>
              <a:rPr lang="ko-KR" altLang="en-US" sz="2400" dirty="0" smtClean="0"/>
              <a:t>입력 </a:t>
            </a:r>
            <a:r>
              <a:rPr lang="ko-KR" altLang="en-US" sz="2400" dirty="0"/>
              <a:t>특정 적응에 도움이 되는 활성화 </a:t>
            </a:r>
            <a:r>
              <a:rPr lang="ko-KR" altLang="en-US" sz="2400" dirty="0" smtClean="0"/>
              <a:t>네트워크</a:t>
            </a:r>
            <a:endParaRPr lang="en-US" altLang="ko-KR" sz="2400" dirty="0" smtClean="0"/>
          </a:p>
          <a:p>
            <a:pPr marL="457200" indent="-457200">
              <a:buAutoNum type="arabicParenR"/>
            </a:pPr>
            <a:r>
              <a:rPr lang="en-US" altLang="ko-KR" sz="2400" dirty="0" smtClean="0"/>
              <a:t>4-stream </a:t>
            </a:r>
            <a:r>
              <a:rPr lang="ko-KR" altLang="en-US" sz="2400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57961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II.RELATED WORK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74674" y="1960562"/>
            <a:ext cx="5188131" cy="4351338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altLang="ko-KR" sz="2400" dirty="0" smtClean="0"/>
              <a:t>3D daily activity recognition datasets</a:t>
            </a:r>
          </a:p>
          <a:p>
            <a:r>
              <a:rPr lang="en-US" altLang="ko-KR" sz="2400" dirty="0"/>
              <a:t>NTU-RGB+D 120 [10</a:t>
            </a:r>
            <a:r>
              <a:rPr lang="en-US" altLang="ko-KR" sz="2400" dirty="0" smtClean="0"/>
              <a:t>] </a:t>
            </a:r>
            <a:r>
              <a:rPr lang="ko-KR" altLang="en-US" sz="2400" dirty="0" smtClean="0"/>
              <a:t>는 </a:t>
            </a:r>
            <a:r>
              <a:rPr lang="en-US" altLang="ko-KR" sz="2400" dirty="0"/>
              <a:t>3D </a:t>
            </a:r>
            <a:r>
              <a:rPr lang="ko-KR" altLang="en-US" sz="2400" dirty="0"/>
              <a:t>작업 인식을 위한 현재 가장 큰 벤치마크 데이터 </a:t>
            </a:r>
            <a:r>
              <a:rPr lang="ko-KR" altLang="en-US" sz="2400" dirty="0" smtClean="0"/>
              <a:t>집합 </a:t>
            </a:r>
            <a:r>
              <a:rPr lang="ko-KR" altLang="en-US" sz="2400" dirty="0"/>
              <a:t>여기에는 </a:t>
            </a:r>
            <a:r>
              <a:rPr lang="en-US" altLang="ko-KR" sz="2400" dirty="0"/>
              <a:t>120</a:t>
            </a:r>
            <a:r>
              <a:rPr lang="ko-KR" altLang="en-US" sz="2400" dirty="0"/>
              <a:t>개 액션 클래스에서 수집한 </a:t>
            </a:r>
            <a:r>
              <a:rPr lang="en-US" altLang="ko-KR" sz="2400" dirty="0"/>
              <a:t>11</a:t>
            </a:r>
            <a:r>
              <a:rPr lang="ko-KR" altLang="en-US" sz="2400" dirty="0"/>
              <a:t>만</a:t>
            </a:r>
            <a:r>
              <a:rPr lang="en-US" altLang="ko-KR" sz="2400" dirty="0"/>
              <a:t>4480</a:t>
            </a:r>
            <a:r>
              <a:rPr lang="ko-KR" altLang="en-US" sz="2400" dirty="0"/>
              <a:t>개의 비디오 </a:t>
            </a:r>
            <a:r>
              <a:rPr lang="ko-KR" altLang="en-US" sz="2400" dirty="0" smtClean="0"/>
              <a:t>샘플</a:t>
            </a:r>
            <a:endParaRPr lang="en-US" altLang="ko-KR" sz="2400" dirty="0" smtClean="0"/>
          </a:p>
          <a:p>
            <a:r>
              <a:rPr lang="ko-KR" altLang="en-US" sz="2400" dirty="0" smtClean="0"/>
              <a:t>그러나 실험실 환경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일상활동 반영되지 않아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0562"/>
            <a:ext cx="62426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6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B. Vision-based action recognition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그 밖의 여러 연구</a:t>
            </a:r>
            <a:r>
              <a:rPr lang="en-US" altLang="ko-KR" sz="2000" dirty="0"/>
              <a:t>[14–21]</a:t>
            </a:r>
            <a:r>
              <a:rPr lang="ko-KR" altLang="en-US" sz="2000" dirty="0"/>
              <a:t>에서는 골격 데이터를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ko-KR" altLang="en-US" sz="2000" dirty="0" smtClean="0"/>
              <a:t>골격데이터와 </a:t>
            </a:r>
            <a:r>
              <a:rPr lang="ko-KR" altLang="en-US" sz="2000" dirty="0"/>
              <a:t>그 차이는 두 개의 지도로 </a:t>
            </a:r>
            <a:r>
              <a:rPr lang="ko-KR" altLang="en-US" sz="2000" dirty="0" smtClean="0"/>
              <a:t>변환</a:t>
            </a:r>
            <a:endParaRPr lang="en-US" altLang="ko-KR" sz="2000" dirty="0" smtClean="0"/>
          </a:p>
          <a:p>
            <a:r>
              <a:rPr lang="ko-KR" altLang="en-US" sz="2000" dirty="0"/>
              <a:t>이 개념은 골격 기반 액션 인식에 </a:t>
            </a:r>
            <a:r>
              <a:rPr lang="ko-KR" altLang="en-US" sz="2000" dirty="0" smtClean="0"/>
              <a:t>적합</a:t>
            </a:r>
            <a:endParaRPr lang="en-US" altLang="ko-KR" sz="2000" dirty="0" smtClean="0"/>
          </a:p>
          <a:p>
            <a:r>
              <a:rPr lang="ko-KR" altLang="en-US" sz="2000" dirty="0"/>
              <a:t>우리의 접근방식은 </a:t>
            </a:r>
            <a:r>
              <a:rPr lang="en-US" altLang="ko-KR" sz="2000" dirty="0"/>
              <a:t>2-stream </a:t>
            </a:r>
            <a:r>
              <a:rPr lang="ko-KR" altLang="en-US" sz="2000" dirty="0"/>
              <a:t>방법에 기초한다 </a:t>
            </a:r>
            <a:r>
              <a:rPr lang="en-US" altLang="ko-KR" sz="2000" dirty="0"/>
              <a:t>[25, 26</a:t>
            </a:r>
            <a:r>
              <a:rPr lang="en-US" altLang="ko-KR" sz="2000" dirty="0" smtClean="0"/>
              <a:t>]</a:t>
            </a:r>
          </a:p>
          <a:p>
            <a:r>
              <a:rPr lang="en-US" altLang="ko-KR" sz="2000" dirty="0"/>
              <a:t>2</a:t>
            </a:r>
            <a:r>
              <a:rPr lang="ko-KR" altLang="en-US" sz="2000" dirty="0"/>
              <a:t>스트림 방식을 </a:t>
            </a:r>
            <a:r>
              <a:rPr lang="en-US" altLang="ko-KR" sz="2000" dirty="0"/>
              <a:t>4</a:t>
            </a:r>
            <a:r>
              <a:rPr lang="ko-KR" altLang="en-US" sz="2000" dirty="0"/>
              <a:t>스트림까지 확장해 장기적인 시간적</a:t>
            </a:r>
            <a:r>
              <a:rPr lang="en-US" altLang="ko-KR" sz="2000" dirty="0"/>
              <a:t>·</a:t>
            </a:r>
            <a:r>
              <a:rPr lang="ko-KR" altLang="en-US" sz="2000" dirty="0"/>
              <a:t>공간적 정보를 바탕으로 견실한 특징을 </a:t>
            </a:r>
            <a:r>
              <a:rPr lang="ko-KR" altLang="en-US" sz="2000" dirty="0" smtClean="0"/>
              <a:t>추출</a:t>
            </a:r>
            <a:endParaRPr lang="en-US" altLang="ko-KR" sz="2000" dirty="0" smtClean="0"/>
          </a:p>
          <a:p>
            <a:r>
              <a:rPr lang="ko-KR" altLang="en-US" sz="2000" dirty="0"/>
              <a:t>우리는 활성화 계층 대신에 활성화 네트워크를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ko-KR" altLang="en-US" sz="2000" dirty="0"/>
              <a:t>우리의 작업에는 두 가지 장점</a:t>
            </a:r>
            <a:endParaRPr lang="en-US" altLang="ko-KR" sz="2000" dirty="0" smtClean="0"/>
          </a:p>
          <a:p>
            <a:pPr marL="514350" indent="-514350">
              <a:buAutoNum type="arabicParenR"/>
            </a:pPr>
            <a:r>
              <a:rPr lang="ko-KR" altLang="en-US" sz="2000" dirty="0" smtClean="0"/>
              <a:t>골격 </a:t>
            </a:r>
            <a:r>
              <a:rPr lang="ko-KR" altLang="en-US" sz="2000" dirty="0"/>
              <a:t>데이터의 임시 변동에 대한 </a:t>
            </a:r>
            <a:r>
              <a:rPr lang="ko-KR" altLang="en-US" sz="2000" dirty="0" err="1"/>
              <a:t>강건성과</a:t>
            </a:r>
            <a:r>
              <a:rPr lang="ko-KR" altLang="en-US" sz="2000" dirty="0"/>
              <a:t> 환경 조건에 대한 </a:t>
            </a:r>
            <a:r>
              <a:rPr lang="ko-KR" altLang="en-US" sz="2000" dirty="0" smtClean="0"/>
              <a:t>적응성</a:t>
            </a:r>
            <a:endParaRPr lang="en-US" altLang="ko-KR" sz="2000" dirty="0" smtClean="0"/>
          </a:p>
          <a:p>
            <a:pPr marL="514350" indent="-514350">
              <a:buAutoNum type="arabicParenR"/>
            </a:pPr>
            <a:r>
              <a:rPr lang="en-US" altLang="ko-KR" sz="2000" dirty="0"/>
              <a:t>RGB </a:t>
            </a:r>
            <a:r>
              <a:rPr lang="ko-KR" altLang="en-US" sz="2000" dirty="0"/>
              <a:t>비디오에서 추정된 </a:t>
            </a:r>
            <a:r>
              <a:rPr lang="en-US" altLang="ko-KR" sz="2000" dirty="0"/>
              <a:t>2D </a:t>
            </a:r>
            <a:r>
              <a:rPr lang="ko-KR" altLang="en-US" sz="2000" dirty="0" err="1"/>
              <a:t>스켈레톤</a:t>
            </a:r>
            <a:r>
              <a:rPr lang="ko-KR" altLang="en-US" sz="2000" dirty="0"/>
              <a:t> 데이터를 제안된 </a:t>
            </a:r>
            <a:r>
              <a:rPr lang="en-US" altLang="ko-KR" sz="2000" dirty="0"/>
              <a:t>FSA-CNN</a:t>
            </a:r>
            <a:r>
              <a:rPr lang="ko-KR" altLang="en-US" sz="2000" dirty="0"/>
              <a:t>에 적용하여 </a:t>
            </a:r>
            <a:r>
              <a:rPr lang="en-US" altLang="ko-KR" sz="2000" dirty="0"/>
              <a:t>3D </a:t>
            </a:r>
            <a:r>
              <a:rPr lang="ko-KR" altLang="en-US" sz="2000" dirty="0"/>
              <a:t>및 </a:t>
            </a:r>
            <a:r>
              <a:rPr lang="en-US" altLang="ko-KR" sz="2000" dirty="0"/>
              <a:t>2D </a:t>
            </a:r>
            <a:r>
              <a:rPr lang="ko-KR" altLang="en-US" sz="2000" dirty="0" err="1"/>
              <a:t>스켈레톤에서</a:t>
            </a:r>
            <a:r>
              <a:rPr lang="ko-KR" altLang="en-US" sz="2000" dirty="0"/>
              <a:t> 추출한 형상을 결합하고 이를 </a:t>
            </a:r>
            <a:r>
              <a:rPr lang="ko-KR" altLang="en-US" sz="2000" dirty="0" smtClean="0"/>
              <a:t>통해 성능을 </a:t>
            </a:r>
            <a:r>
              <a:rPr lang="ko-KR" altLang="en-US" sz="2000" dirty="0"/>
              <a:t>향상</a:t>
            </a:r>
            <a:endParaRPr lang="en-US" altLang="ko-KR" sz="2000" dirty="0" smtClean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7481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THE ETRI-ACTIVITY3D DATASET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3060"/>
            <a:ext cx="6600204" cy="3778840"/>
          </a:xfrm>
          <a:prstGeom prst="rect">
            <a:avLst/>
          </a:prstGeom>
        </p:spPr>
      </p:pic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600204" y="2246811"/>
            <a:ext cx="4926874" cy="4351338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Kinect </a:t>
            </a:r>
            <a:r>
              <a:rPr lang="en-US" altLang="ko-KR" sz="2400" dirty="0"/>
              <a:t>v2</a:t>
            </a:r>
            <a:r>
              <a:rPr lang="ko-KR" altLang="en-US" sz="2400" dirty="0"/>
              <a:t>를 사용하여 </a:t>
            </a:r>
            <a:r>
              <a:rPr lang="ko-KR" altLang="en-US" sz="2400" dirty="0" smtClean="0"/>
              <a:t>수집</a:t>
            </a:r>
            <a:endParaRPr lang="en-US" altLang="ko-KR" sz="2400" dirty="0" smtClean="0"/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3</a:t>
            </a:r>
            <a:r>
              <a:rPr lang="ko-KR" altLang="en-US" sz="2400" dirty="0"/>
              <a:t>개의 동기화된 데이터 </a:t>
            </a:r>
            <a:r>
              <a:rPr lang="ko-KR" altLang="en-US" sz="2400" dirty="0" err="1"/>
              <a:t>모달리티</a:t>
            </a:r>
            <a:r>
              <a:rPr lang="en-US" altLang="ko-KR" sz="2400" dirty="0"/>
              <a:t>, </a:t>
            </a:r>
            <a:r>
              <a:rPr lang="ko-KR" altLang="en-US" sz="2400" dirty="0"/>
              <a:t>즉 </a:t>
            </a:r>
            <a:r>
              <a:rPr lang="en-US" altLang="ko-KR" sz="2400" dirty="0"/>
              <a:t>RGB </a:t>
            </a:r>
            <a:r>
              <a:rPr lang="ko-KR" altLang="en-US" sz="2400" dirty="0"/>
              <a:t>비디오</a:t>
            </a:r>
            <a:r>
              <a:rPr lang="en-US" altLang="ko-KR" sz="2400" dirty="0"/>
              <a:t>, </a:t>
            </a:r>
            <a:r>
              <a:rPr lang="ko-KR" altLang="en-US" sz="2400" dirty="0"/>
              <a:t>깊이 지도</a:t>
            </a:r>
            <a:r>
              <a:rPr lang="en-US" altLang="ko-KR" sz="2400" dirty="0"/>
              <a:t>, </a:t>
            </a:r>
            <a:r>
              <a:rPr lang="ko-KR" altLang="en-US" sz="2400" dirty="0"/>
              <a:t>그리고 </a:t>
            </a:r>
            <a:r>
              <a:rPr lang="ko-KR" altLang="en-US" sz="2400" dirty="0" err="1"/>
              <a:t>스켈레톤</a:t>
            </a:r>
            <a:r>
              <a:rPr lang="ko-KR" altLang="en-US" sz="2400" dirty="0"/>
              <a:t> 시퀀스로 </a:t>
            </a:r>
            <a:r>
              <a:rPr lang="ko-KR" altLang="en-US" sz="2400" dirty="0" smtClean="0"/>
              <a:t>구성</a:t>
            </a:r>
            <a:endParaRPr lang="en-US" altLang="ko-KR" sz="2400" dirty="0" smtClean="0"/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RGB </a:t>
            </a:r>
            <a:r>
              <a:rPr lang="ko-KR" altLang="en-US" sz="2400" dirty="0"/>
              <a:t>비디오의 해상도는 </a:t>
            </a:r>
            <a:r>
              <a:rPr lang="en-US" altLang="ko-KR" sz="2400" dirty="0"/>
              <a:t>1920 × </a:t>
            </a:r>
            <a:r>
              <a:rPr lang="en-US" altLang="ko-KR" sz="2400" dirty="0" smtClean="0"/>
              <a:t>1080, </a:t>
            </a:r>
            <a:r>
              <a:rPr lang="ko-KR" altLang="en-US" sz="2400" dirty="0"/>
              <a:t>깊이 </a:t>
            </a:r>
            <a:r>
              <a:rPr lang="ko-KR" altLang="en-US" sz="2400" dirty="0" err="1"/>
              <a:t>맵은</a:t>
            </a:r>
            <a:r>
              <a:rPr lang="ko-KR" altLang="en-US" sz="2400" dirty="0"/>
              <a:t> </a:t>
            </a:r>
            <a:r>
              <a:rPr lang="en-US" altLang="ko-KR" sz="2400" dirty="0"/>
              <a:t>512 × </a:t>
            </a:r>
            <a:r>
              <a:rPr lang="en-US" altLang="ko-KR" sz="2400" dirty="0" smtClean="0"/>
              <a:t>424</a:t>
            </a:r>
          </a:p>
          <a:p>
            <a:r>
              <a:rPr lang="ko-KR" altLang="en-US" sz="2400" dirty="0"/>
              <a:t>골격 순서는 추적된 인체의 </a:t>
            </a:r>
            <a:r>
              <a:rPr lang="en-US" altLang="ko-KR" sz="2400" dirty="0"/>
              <a:t>25</a:t>
            </a:r>
            <a:r>
              <a:rPr lang="ko-KR" altLang="en-US" sz="2400" dirty="0"/>
              <a:t>개 신체 관절의 </a:t>
            </a:r>
            <a:r>
              <a:rPr lang="en-US" altLang="ko-KR" sz="2400" dirty="0"/>
              <a:t>3D </a:t>
            </a:r>
            <a:r>
              <a:rPr lang="ko-KR" altLang="en-US" sz="2400" dirty="0"/>
              <a:t>위치를 </a:t>
            </a:r>
            <a:r>
              <a:rPr lang="ko-KR" altLang="en-US" sz="2400" dirty="0" smtClean="0"/>
              <a:t>포함</a:t>
            </a:r>
            <a:endParaRPr lang="en-US" altLang="ko-KR" sz="2400" dirty="0" smtClean="0"/>
          </a:p>
          <a:p>
            <a:r>
              <a:rPr lang="ko-KR" altLang="en-US" sz="2400" dirty="0"/>
              <a:t>액션 카테고리는 </a:t>
            </a:r>
            <a:r>
              <a:rPr lang="en-US" altLang="ko-KR" sz="2400" dirty="0"/>
              <a:t>55</a:t>
            </a:r>
            <a:r>
              <a:rPr lang="ko-KR" altLang="en-US" sz="24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80446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73686"/>
            <a:ext cx="8932817" cy="679904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III. THE ETRI-ACTIVITY3D DATASET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953590"/>
            <a:ext cx="10515600" cy="4351338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대상자는 </a:t>
            </a:r>
            <a:r>
              <a:rPr lang="en-US" altLang="ko-KR" sz="2000" dirty="0"/>
              <a:t>100</a:t>
            </a:r>
            <a:r>
              <a:rPr lang="ko-KR" altLang="en-US" sz="2000" dirty="0"/>
              <a:t>명으로 이 중 </a:t>
            </a:r>
            <a:r>
              <a:rPr lang="en-US" altLang="ko-KR" sz="2000" dirty="0"/>
              <a:t>50</a:t>
            </a:r>
            <a:r>
              <a:rPr lang="ko-KR" altLang="en-US" sz="2000" dirty="0"/>
              <a:t>명은 고령자였고 나머지는 </a:t>
            </a:r>
            <a:r>
              <a:rPr lang="ko-KR" altLang="en-US" sz="2000" dirty="0" smtClean="0"/>
              <a:t>청년층</a:t>
            </a:r>
            <a:endParaRPr lang="en-US" altLang="ko-KR" sz="2000" dirty="0" smtClean="0"/>
          </a:p>
          <a:p>
            <a:r>
              <a:rPr lang="ko-KR" altLang="en-US" sz="2000" dirty="0"/>
              <a:t>노인 대상자의 연령은 </a:t>
            </a:r>
            <a:r>
              <a:rPr lang="en-US" altLang="ko-KR" sz="2000" dirty="0"/>
              <a:t>64~88</a:t>
            </a:r>
            <a:r>
              <a:rPr lang="ko-KR" altLang="en-US" sz="2000" dirty="0"/>
              <a:t>세</a:t>
            </a:r>
            <a:r>
              <a:rPr lang="en-US" altLang="ko-KR" sz="2000" dirty="0"/>
              <a:t>, </a:t>
            </a:r>
            <a:r>
              <a:rPr lang="ko-KR" altLang="en-US" sz="2000" dirty="0"/>
              <a:t>평균 </a:t>
            </a:r>
            <a:r>
              <a:rPr lang="en-US" altLang="ko-KR" sz="2000" dirty="0"/>
              <a:t>77</a:t>
            </a:r>
            <a:r>
              <a:rPr lang="ko-KR" altLang="en-US" sz="2000" dirty="0"/>
              <a:t>세</a:t>
            </a:r>
            <a:r>
              <a:rPr lang="en-US" altLang="ko-KR" sz="2000" dirty="0"/>
              <a:t>, </a:t>
            </a:r>
            <a:r>
              <a:rPr lang="ko-KR" altLang="en-US" sz="2000" dirty="0"/>
              <a:t>젊은 대상자는 평균 </a:t>
            </a:r>
            <a:r>
              <a:rPr lang="en-US" altLang="ko-KR" sz="2000" dirty="0"/>
              <a:t>23</a:t>
            </a:r>
            <a:r>
              <a:rPr lang="ko-KR" altLang="en-US" sz="2000" dirty="0" smtClean="0"/>
              <a:t>세</a:t>
            </a:r>
            <a:endParaRPr lang="en-US" altLang="ko-KR" sz="2000" dirty="0" smtClean="0"/>
          </a:p>
          <a:p>
            <a:r>
              <a:rPr lang="ko-KR" altLang="en-US" sz="2000" dirty="0"/>
              <a:t>고령자 중에는 남성이 </a:t>
            </a:r>
            <a:r>
              <a:rPr lang="en-US" altLang="ko-KR" sz="2000" dirty="0"/>
              <a:t>17</a:t>
            </a:r>
            <a:r>
              <a:rPr lang="ko-KR" altLang="en-US" sz="2000" dirty="0"/>
              <a:t>명</a:t>
            </a:r>
            <a:r>
              <a:rPr lang="en-US" altLang="ko-KR" sz="2000" dirty="0"/>
              <a:t>, </a:t>
            </a:r>
            <a:r>
              <a:rPr lang="ko-KR" altLang="en-US" sz="2000" dirty="0"/>
              <a:t>여성이 </a:t>
            </a:r>
            <a:r>
              <a:rPr lang="en-US" altLang="ko-KR" sz="2000" dirty="0"/>
              <a:t>33</a:t>
            </a:r>
            <a:r>
              <a:rPr lang="ko-KR" altLang="en-US" sz="2000" dirty="0"/>
              <a:t>명인 데 반해 청년층은 남녀가 </a:t>
            </a:r>
            <a:r>
              <a:rPr lang="en-US" altLang="ko-KR" sz="2000" dirty="0"/>
              <a:t>25</a:t>
            </a:r>
            <a:r>
              <a:rPr lang="ko-KR" altLang="en-US" sz="2000" dirty="0" smtClean="0"/>
              <a:t>명</a:t>
            </a:r>
            <a:endParaRPr lang="en-US" altLang="ko-KR" sz="2000" dirty="0"/>
          </a:p>
          <a:p>
            <a:r>
              <a:rPr lang="ko-KR" altLang="en-US" sz="2000" dirty="0"/>
              <a:t> 로봇의 일반적인 높이를 기준으로 한 </a:t>
            </a:r>
            <a:r>
              <a:rPr lang="en-US" altLang="ko-KR" sz="2000" dirty="0"/>
              <a:t>70cm</a:t>
            </a:r>
            <a:r>
              <a:rPr lang="ko-KR" altLang="en-US" sz="2000" dirty="0"/>
              <a:t>와 </a:t>
            </a:r>
            <a:r>
              <a:rPr lang="en-US" altLang="ko-KR" sz="2000" dirty="0"/>
              <a:t>120cm</a:t>
            </a:r>
            <a:r>
              <a:rPr lang="ko-KR" altLang="en-US" sz="2000" dirty="0"/>
              <a:t>의 높이에 </a:t>
            </a:r>
            <a:r>
              <a:rPr lang="ko-KR" altLang="en-US" sz="2000" dirty="0" smtClean="0"/>
              <a:t>위치</a:t>
            </a:r>
            <a:endParaRPr lang="en-US" altLang="ko-KR" sz="2000" dirty="0" smtClean="0"/>
          </a:p>
          <a:p>
            <a:r>
              <a:rPr lang="en-US" altLang="ko-KR" sz="2000" dirty="0"/>
              <a:t>4</a:t>
            </a:r>
            <a:r>
              <a:rPr lang="ko-KR" altLang="en-US" sz="2000" dirty="0"/>
              <a:t>개의 캡처 플랫폼</a:t>
            </a:r>
            <a:r>
              <a:rPr lang="en-US" altLang="ko-KR" sz="2000" dirty="0" smtClean="0"/>
              <a:t>(</a:t>
            </a:r>
            <a:r>
              <a:rPr lang="en-US" altLang="ko-KR" sz="2000" dirty="0"/>
              <a:t>2</a:t>
            </a:r>
            <a:r>
              <a:rPr lang="ko-KR" altLang="en-US" sz="2000" dirty="0" smtClean="0"/>
              <a:t>높이</a:t>
            </a:r>
            <a:r>
              <a:rPr lang="en-US" altLang="ko-KR" sz="2000" dirty="0" smtClean="0"/>
              <a:t>x 4</a:t>
            </a:r>
            <a:r>
              <a:rPr lang="ko-KR" altLang="en-US" sz="2000" dirty="0" smtClean="0"/>
              <a:t>곳</a:t>
            </a:r>
            <a:r>
              <a:rPr lang="en-US" altLang="ko-KR" sz="2000" dirty="0" smtClean="0"/>
              <a:t>)</a:t>
            </a:r>
            <a:r>
              <a:rPr lang="ko-KR" altLang="en-US" sz="2000" dirty="0"/>
              <a:t>을 배치하여 동작의 다양한 뷰를 동시에 </a:t>
            </a:r>
            <a:r>
              <a:rPr lang="ko-KR" altLang="en-US" sz="2000" dirty="0" smtClean="0"/>
              <a:t>캡처</a:t>
            </a:r>
            <a:endParaRPr lang="en-US" altLang="ko-KR" sz="2000" dirty="0" smtClean="0"/>
          </a:p>
          <a:p>
            <a:r>
              <a:rPr lang="ko-KR" altLang="en-US" sz="2000" dirty="0"/>
              <a:t>또한 센서와 피사체 사이의 거리는 </a:t>
            </a:r>
            <a:r>
              <a:rPr lang="en-US" altLang="ko-KR" sz="2000" dirty="0"/>
              <a:t>1.5–3.5m</a:t>
            </a:r>
            <a:r>
              <a:rPr lang="ko-KR" altLang="en-US" sz="2000" dirty="0"/>
              <a:t>로 </a:t>
            </a:r>
            <a:r>
              <a:rPr lang="ko-KR" altLang="en-US" sz="2000" dirty="0" smtClean="0"/>
              <a:t>다양</a:t>
            </a:r>
            <a:endParaRPr lang="en-US" altLang="ko-KR" sz="2000" dirty="0" smtClean="0"/>
          </a:p>
          <a:p>
            <a:r>
              <a:rPr lang="ko-KR" altLang="en-US" sz="2000" dirty="0" smtClean="0"/>
              <a:t>다른 </a:t>
            </a:r>
            <a:r>
              <a:rPr lang="ko-KR" altLang="en-US" sz="2000" dirty="0"/>
              <a:t>장소에서 최대 </a:t>
            </a:r>
            <a:r>
              <a:rPr lang="en-US" altLang="ko-KR" sz="2000" dirty="0"/>
              <a:t>5</a:t>
            </a:r>
            <a:r>
              <a:rPr lang="ko-KR" altLang="en-US" sz="2000" dirty="0"/>
              <a:t>회까지 </a:t>
            </a:r>
            <a:r>
              <a:rPr lang="ko-KR" altLang="en-US" sz="2000" dirty="0" smtClean="0"/>
              <a:t>포착</a:t>
            </a:r>
            <a:endParaRPr lang="en-US" altLang="ko-KR" sz="2000" dirty="0" smtClean="0"/>
          </a:p>
          <a:p>
            <a:r>
              <a:rPr lang="ko-KR" altLang="en-US" sz="2000" dirty="0"/>
              <a:t>우리는 추가적인 클래스 내 시각과 배경의 변화를 </a:t>
            </a:r>
            <a:r>
              <a:rPr lang="ko-KR" altLang="en-US" sz="2000" dirty="0" smtClean="0"/>
              <a:t>제공</a:t>
            </a:r>
            <a:endParaRPr lang="en-US" altLang="ko-KR" sz="2000" dirty="0" smtClean="0"/>
          </a:p>
          <a:p>
            <a:r>
              <a:rPr lang="ko-KR" altLang="en-US" sz="2000" dirty="0"/>
              <a:t>피실험자들은 가능한 한 자연스러운 행동을 포착하기 위해 카메라를 무시하라는 </a:t>
            </a:r>
            <a:r>
              <a:rPr lang="ko-KR" altLang="en-US" sz="2000" dirty="0" smtClean="0"/>
              <a:t>권고</a:t>
            </a:r>
            <a:endParaRPr lang="en-US" altLang="ko-KR" sz="2000" dirty="0" smtClean="0"/>
          </a:p>
          <a:p>
            <a:r>
              <a:rPr lang="ko-KR" altLang="en-US" sz="2000" dirty="0"/>
              <a:t>행동 수행 시 다른 자세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앉아 있거나 서 있는 상태에서 약을 먹는 자세 등</a:t>
            </a:r>
            <a:r>
              <a:rPr lang="en-US" altLang="ko-KR" sz="2000" dirty="0"/>
              <a:t>)</a:t>
            </a:r>
            <a:r>
              <a:rPr lang="ko-KR" altLang="en-US" sz="2000" dirty="0"/>
              <a:t>가 </a:t>
            </a:r>
            <a:r>
              <a:rPr lang="ko-KR" altLang="en-US" sz="2000" dirty="0" smtClean="0"/>
              <a:t>권장</a:t>
            </a:r>
            <a:endParaRPr lang="en-US" altLang="ko-KR" sz="2000" dirty="0" smtClean="0"/>
          </a:p>
          <a:p>
            <a:r>
              <a:rPr lang="ko-KR" altLang="en-US" sz="2000" dirty="0"/>
              <a:t>그들은 오른손이나 왼손으로 물체를 잡도록 </a:t>
            </a:r>
            <a:r>
              <a:rPr lang="ko-KR" altLang="en-US" sz="2000" dirty="0" smtClean="0"/>
              <a:t>요청</a:t>
            </a:r>
            <a:endParaRPr lang="en-US" altLang="ko-KR" sz="2000" dirty="0" smtClean="0"/>
          </a:p>
          <a:p>
            <a:r>
              <a:rPr lang="en-US" altLang="ko-KR" sz="2000" dirty="0" smtClean="0"/>
              <a:t>https://ai4robot.github.io/ etri-activity3d-en</a:t>
            </a:r>
          </a:p>
          <a:p>
            <a:r>
              <a:rPr lang="ko-KR" altLang="en-US" sz="2000" dirty="0" smtClean="0"/>
              <a:t> 확실히 노인이 어른보다 행동이 느리다는 것</a:t>
            </a:r>
            <a:endParaRPr lang="en-US" altLang="ko-KR" sz="2000" dirty="0" smtClean="0"/>
          </a:p>
          <a:p>
            <a:r>
              <a:rPr lang="ko-KR" altLang="en-US" sz="2000" dirty="0" smtClean="0"/>
              <a:t>이는 노인들의 대상이 현실적인 </a:t>
            </a:r>
            <a:r>
              <a:rPr lang="ko-KR" altLang="en-US" sz="2000" dirty="0" err="1" smtClean="0"/>
              <a:t>데이터셋을</a:t>
            </a:r>
            <a:r>
              <a:rPr lang="ko-KR" altLang="en-US" sz="2000" dirty="0" smtClean="0"/>
              <a:t> 구축하는 데 포함되어야 한다는 것을 시사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686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5" y="509451"/>
            <a:ext cx="11665733" cy="576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2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FOUR-STREAM ADAPTIVE CNN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제안된 </a:t>
            </a:r>
            <a:r>
              <a:rPr lang="en-US" altLang="ko-KR" dirty="0"/>
              <a:t>FSA-CNN</a:t>
            </a:r>
            <a:r>
              <a:rPr lang="ko-KR" altLang="en-US" dirty="0"/>
              <a:t>은 다음과 같은 </a:t>
            </a:r>
            <a:r>
              <a:rPr lang="en-US" altLang="ko-KR" dirty="0"/>
              <a:t>3</a:t>
            </a:r>
            <a:r>
              <a:rPr lang="ko-KR" altLang="en-US" dirty="0"/>
              <a:t>가지 주요 </a:t>
            </a:r>
            <a:r>
              <a:rPr lang="ko-KR" altLang="en-US" dirty="0" smtClean="0"/>
              <a:t>특성</a:t>
            </a:r>
            <a:endParaRPr lang="en-US" altLang="ko-KR" dirty="0" smtClean="0"/>
          </a:p>
          <a:p>
            <a:pPr marL="514350" indent="-514350">
              <a:buAutoNum type="arabicParenR"/>
            </a:pPr>
            <a:r>
              <a:rPr lang="ko-KR" altLang="en-US" dirty="0" smtClean="0"/>
              <a:t>시간적 변화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pPr marL="514350" indent="-514350">
              <a:buAutoNum type="arabicParenR"/>
            </a:pPr>
            <a:r>
              <a:rPr lang="ko-KR" altLang="en-US" dirty="0" smtClean="0"/>
              <a:t>활성화 </a:t>
            </a:r>
            <a:r>
              <a:rPr lang="ko-KR" altLang="en-US" dirty="0"/>
              <a:t>네트워크</a:t>
            </a:r>
            <a:r>
              <a:rPr lang="en-US" altLang="ko-KR" dirty="0"/>
              <a:t>[27] </a:t>
            </a:r>
            <a:endParaRPr lang="en-US" altLang="ko-KR" dirty="0" smtClean="0"/>
          </a:p>
          <a:p>
            <a:pPr marL="514350" indent="-514350">
              <a:buAutoNum type="arabicParenR"/>
            </a:pPr>
            <a:r>
              <a:rPr lang="en-US" altLang="ko-KR" dirty="0" smtClean="0"/>
              <a:t>4-</a:t>
            </a:r>
            <a:r>
              <a:rPr lang="ko-KR" altLang="en-US" dirty="0"/>
              <a:t>스트림 입력에 대한 </a:t>
            </a:r>
            <a:r>
              <a:rPr lang="ko-KR" altLang="en-US" dirty="0" smtClean="0"/>
              <a:t>견고성</a:t>
            </a:r>
            <a:endParaRPr lang="en-US" altLang="ko-KR" dirty="0" smtClean="0"/>
          </a:p>
          <a:p>
            <a:r>
              <a:rPr lang="ko-KR" altLang="en-US" dirty="0"/>
              <a:t> 점차 색상이 변하는 층은 활성화 </a:t>
            </a:r>
            <a:r>
              <a:rPr lang="ko-KR" altLang="en-US" dirty="0" smtClean="0"/>
              <a:t>네트워크</a:t>
            </a:r>
            <a:endParaRPr lang="en-US" altLang="ko-KR" dirty="0" smtClean="0"/>
          </a:p>
          <a:p>
            <a:r>
              <a:rPr lang="ko-KR" altLang="en-US" dirty="0"/>
              <a:t>각 스트림은 가변 길이 입력을 수용하기 위해 끝에 </a:t>
            </a:r>
            <a:r>
              <a:rPr lang="en-US" altLang="ko-KR" dirty="0" smtClean="0"/>
              <a:t>global max pooling layer </a:t>
            </a:r>
          </a:p>
          <a:p>
            <a:r>
              <a:rPr lang="en-US" altLang="ko-KR" dirty="0" smtClean="0"/>
              <a:t>Code : https://github.com/ai4r/AIR-Action-Recognition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261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smtClean="0"/>
              <a:t>IV. </a:t>
            </a:r>
            <a:r>
              <a:rPr lang="en-US" altLang="ko-KR" sz="3600" dirty="0" smtClean="0"/>
              <a:t>A. Architecture with indefinite input-length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여러 가지 </a:t>
            </a:r>
            <a:r>
              <a:rPr lang="ko-KR" altLang="en-US" sz="2400" dirty="0" smtClean="0"/>
              <a:t>인식 </a:t>
            </a:r>
            <a:r>
              <a:rPr lang="ko-KR" altLang="en-US" sz="2400" dirty="0"/>
              <a:t>접근법</a:t>
            </a:r>
            <a:r>
              <a:rPr lang="en-US" altLang="ko-KR" sz="2400" dirty="0"/>
              <a:t>[12, </a:t>
            </a:r>
            <a:r>
              <a:rPr lang="en-US" altLang="ko-KR" sz="2400" dirty="0" smtClean="0"/>
              <a:t>14,15</a:t>
            </a:r>
            <a:r>
              <a:rPr lang="en-US" altLang="ko-KR" sz="2400" dirty="0"/>
              <a:t>, 24, 25, </a:t>
            </a:r>
            <a:r>
              <a:rPr lang="en-US" altLang="ko-KR" sz="2400" dirty="0" smtClean="0"/>
              <a:t>26]</a:t>
            </a:r>
            <a:r>
              <a:rPr lang="ko-KR" altLang="en-US" sz="2400" dirty="0" smtClean="0"/>
              <a:t>은</a:t>
            </a:r>
            <a:r>
              <a:rPr lang="en-US" altLang="ko-KR" sz="2400" dirty="0" smtClean="0"/>
              <a:t> </a:t>
            </a:r>
            <a:r>
              <a:rPr lang="ko-KR" altLang="en-US" sz="2400" dirty="0"/>
              <a:t>단순히 입력 비디오 시퀀스를 샘플링</a:t>
            </a:r>
            <a:r>
              <a:rPr lang="en-US" altLang="ko-KR" sz="2400" dirty="0"/>
              <a:t>, </a:t>
            </a:r>
            <a:r>
              <a:rPr lang="ko-KR" altLang="en-US" sz="2400" dirty="0"/>
              <a:t>패딩 및</a:t>
            </a:r>
            <a:r>
              <a:rPr lang="en-US" altLang="ko-KR" sz="2400" dirty="0"/>
              <a:t>/</a:t>
            </a:r>
            <a:r>
              <a:rPr lang="ko-KR" altLang="en-US" sz="2400" dirty="0"/>
              <a:t>또는 </a:t>
            </a:r>
            <a:r>
              <a:rPr lang="ko-KR" altLang="en-US" sz="2400" dirty="0" err="1"/>
              <a:t>보간하여</a:t>
            </a:r>
            <a:r>
              <a:rPr lang="ko-KR" altLang="en-US" sz="2400" dirty="0"/>
              <a:t> 고정 비디오 길이를 </a:t>
            </a:r>
            <a:r>
              <a:rPr lang="ko-KR" altLang="en-US" sz="2400" dirty="0" smtClean="0"/>
              <a:t>채택</a:t>
            </a:r>
            <a:endParaRPr lang="en-US" altLang="ko-KR" sz="2400" dirty="0" smtClean="0"/>
          </a:p>
          <a:p>
            <a:r>
              <a:rPr lang="en-US" altLang="ko-KR" sz="2400" dirty="0" smtClean="0"/>
              <a:t> </a:t>
            </a:r>
            <a:r>
              <a:rPr lang="ko-KR" altLang="en-US" sz="2400" dirty="0"/>
              <a:t>이러한 수정은 종종 정보 손실을 </a:t>
            </a:r>
            <a:r>
              <a:rPr lang="ko-KR" altLang="en-US" sz="2400" dirty="0" smtClean="0"/>
              <a:t>초래</a:t>
            </a:r>
            <a:endParaRPr lang="en-US" altLang="ko-KR" sz="2400" dirty="0" smtClean="0"/>
          </a:p>
          <a:p>
            <a:r>
              <a:rPr lang="ko-KR" altLang="en-US" sz="2400" u="sng" dirty="0"/>
              <a:t>따라서</a:t>
            </a:r>
            <a:r>
              <a:rPr lang="en-US" altLang="ko-KR" sz="2400" u="sng" dirty="0"/>
              <a:t>, </a:t>
            </a:r>
            <a:r>
              <a:rPr lang="ko-KR" altLang="en-US" sz="2400" u="sng" dirty="0"/>
              <a:t>우리는 </a:t>
            </a:r>
            <a:r>
              <a:rPr lang="en-US" altLang="ko-KR" sz="2400" u="sng" dirty="0" smtClean="0"/>
              <a:t>global max pooling </a:t>
            </a:r>
            <a:r>
              <a:rPr lang="ko-KR" altLang="en-US" sz="2400" u="sng" dirty="0" smtClean="0"/>
              <a:t>을 </a:t>
            </a:r>
            <a:r>
              <a:rPr lang="ko-KR" altLang="en-US" sz="2400" u="sng" dirty="0"/>
              <a:t>이용한 시간적 변화에 견실한 새로운 네트워크 구조를 </a:t>
            </a:r>
            <a:r>
              <a:rPr lang="ko-KR" altLang="en-US" sz="2400" u="sng" dirty="0" smtClean="0"/>
              <a:t>제안</a:t>
            </a:r>
            <a:endParaRPr lang="en-US" altLang="ko-KR" sz="2400" u="sng" dirty="0" smtClean="0"/>
          </a:p>
          <a:p>
            <a:r>
              <a:rPr lang="ko-KR" altLang="en-US" sz="2400" dirty="0"/>
              <a:t> 이 레이어를 채택함으로써</a:t>
            </a:r>
            <a:r>
              <a:rPr lang="en-US" altLang="ko-KR" sz="2400" dirty="0"/>
              <a:t>, </a:t>
            </a:r>
            <a:r>
              <a:rPr lang="ko-KR" altLang="en-US" sz="2400" dirty="0"/>
              <a:t>제안된 네트워크는 다양한 입력 비디오 길이에도 고정된 길이의 강력한 기능을 </a:t>
            </a:r>
            <a:r>
              <a:rPr lang="ko-KR" altLang="en-US" sz="2400" dirty="0" smtClean="0"/>
              <a:t>추출</a:t>
            </a:r>
            <a:endParaRPr lang="en-US" altLang="ko-KR" sz="2400" dirty="0" smtClean="0"/>
          </a:p>
          <a:p>
            <a:r>
              <a:rPr lang="ko-KR" altLang="en-US" sz="2400" dirty="0"/>
              <a:t>이러한 다양한 길이로 인해 발생하는 문제는 훈련 단계에서 </a:t>
            </a:r>
            <a:r>
              <a:rPr lang="ko-KR" altLang="en-US" sz="2400" dirty="0" smtClean="0"/>
              <a:t>고려되어야</a:t>
            </a:r>
            <a:endParaRPr lang="en-US" altLang="ko-KR" sz="2400" dirty="0" smtClean="0"/>
          </a:p>
          <a:p>
            <a:r>
              <a:rPr lang="ko-KR" altLang="en-US" sz="2400" dirty="0"/>
              <a:t>따라서</a:t>
            </a:r>
            <a:r>
              <a:rPr lang="en-US" altLang="ko-KR" sz="2400" dirty="0"/>
              <a:t>, </a:t>
            </a:r>
            <a:r>
              <a:rPr lang="ko-KR" altLang="en-US" sz="2400" dirty="0"/>
              <a:t>훈련 단계에서는</a:t>
            </a:r>
            <a:r>
              <a:rPr lang="en-US" altLang="ko-KR" sz="2400" dirty="0"/>
              <a:t>, </a:t>
            </a:r>
            <a:r>
              <a:rPr lang="ko-KR" altLang="en-US" sz="2400" dirty="0"/>
              <a:t>임의로 데이터를 다른 길이로 </a:t>
            </a:r>
            <a:r>
              <a:rPr lang="ko-KR" altLang="en-US" sz="2400" dirty="0" err="1" smtClean="0"/>
              <a:t>샘플링하여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네트워크를 </a:t>
            </a:r>
            <a:r>
              <a:rPr lang="ko-KR" altLang="en-US" sz="2400" dirty="0" smtClean="0"/>
              <a:t>훈련</a:t>
            </a:r>
            <a:endParaRPr lang="en-US" altLang="ko-KR" sz="2400" dirty="0" smtClean="0"/>
          </a:p>
          <a:p>
            <a:r>
              <a:rPr lang="ko-KR" altLang="en-US" sz="2400" dirty="0"/>
              <a:t>고정된 길이로 추출하는 것보다 훨씬 더 많은 </a:t>
            </a:r>
            <a:r>
              <a:rPr lang="ko-KR" altLang="en-US" sz="2400" dirty="0" err="1"/>
              <a:t>자유도를</a:t>
            </a:r>
            <a:r>
              <a:rPr lang="ko-KR" altLang="en-US" sz="2400" dirty="0"/>
              <a:t> 가지기 때문에 데이터 확대 </a:t>
            </a:r>
            <a:r>
              <a:rPr lang="ko-KR" altLang="en-US" sz="2400" dirty="0" smtClean="0"/>
              <a:t>효과</a:t>
            </a:r>
            <a:endParaRPr lang="ko-KR" alt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15162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IV. A. Architecture with indefinite input-length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99016" y="1930128"/>
            <a:ext cx="6494417" cy="4351338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The activation network [27](layer</a:t>
            </a:r>
            <a:r>
              <a:rPr lang="ko-KR" altLang="en-US" sz="2400" dirty="0" smtClean="0"/>
              <a:t>가 아닌 </a:t>
            </a:r>
            <a:r>
              <a:rPr lang="en-US" altLang="ko-KR" sz="2400" dirty="0" smtClean="0"/>
              <a:t>network)</a:t>
            </a:r>
          </a:p>
          <a:p>
            <a:r>
              <a:rPr lang="ko-KR" altLang="en-US" sz="2400" dirty="0"/>
              <a:t>활성화 네트워크에는 두 가지 </a:t>
            </a:r>
            <a:r>
              <a:rPr lang="ko-KR" altLang="en-US" sz="2400" dirty="0" smtClean="0"/>
              <a:t>장점</a:t>
            </a:r>
            <a:endParaRPr lang="en-US" altLang="ko-KR" sz="2400" dirty="0" smtClean="0"/>
          </a:p>
          <a:p>
            <a:pPr marL="514350" indent="-514350">
              <a:buAutoNum type="arabicParenR"/>
            </a:pPr>
            <a:r>
              <a:rPr lang="ko-KR" altLang="en-US" sz="2400" dirty="0" smtClean="0"/>
              <a:t>네트워크에서 </a:t>
            </a:r>
            <a:r>
              <a:rPr lang="ko-KR" altLang="en-US" sz="2400" dirty="0"/>
              <a:t>훈련 가능한 무게의 수를 </a:t>
            </a:r>
            <a:r>
              <a:rPr lang="ko-KR" altLang="en-US" sz="2400" dirty="0" smtClean="0"/>
              <a:t>줄임</a:t>
            </a:r>
            <a:r>
              <a:rPr lang="en-US" altLang="ko-KR" sz="2400" dirty="0" smtClean="0"/>
              <a:t>, </a:t>
            </a:r>
            <a:r>
              <a:rPr lang="ko-KR" altLang="en-US" sz="2400" dirty="0"/>
              <a:t>활성화 네트워크는 훈련 가능한 몇 개의 </a:t>
            </a:r>
            <a:r>
              <a:rPr lang="ko-KR" altLang="en-US" sz="2400" dirty="0" err="1"/>
              <a:t>가중치만을</a:t>
            </a:r>
            <a:r>
              <a:rPr lang="ko-KR" altLang="en-US" sz="2400" dirty="0"/>
              <a:t> 사용하여 고차 함수를 모델링할 </a:t>
            </a:r>
            <a:r>
              <a:rPr lang="ko-KR" altLang="en-US" sz="2400" dirty="0" smtClean="0"/>
              <a:t>수 있음</a:t>
            </a:r>
            <a:endParaRPr lang="en-US" altLang="ko-KR" sz="2400" dirty="0" smtClean="0"/>
          </a:p>
          <a:p>
            <a:pPr marL="514350" indent="-514350">
              <a:buAutoNum type="arabicParenR"/>
            </a:pPr>
            <a:r>
              <a:rPr lang="ko-KR" altLang="en-US" sz="2400" dirty="0"/>
              <a:t>기존의 활성화 계층과 비교할 때 데이터 변동에 더 </a:t>
            </a:r>
            <a:r>
              <a:rPr lang="ko-KR" altLang="en-US" sz="2400" dirty="0" smtClean="0"/>
              <a:t>강력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ko-KR" altLang="en-US" sz="2400" dirty="0" smtClean="0"/>
              <a:t>중략</a:t>
            </a:r>
            <a:r>
              <a:rPr lang="en-US" altLang="ko-KR" sz="2400" dirty="0" smtClean="0"/>
              <a:t>…</a:t>
            </a:r>
          </a:p>
          <a:p>
            <a:pPr marL="514350" indent="-514350">
              <a:buAutoNum type="arabicParenR"/>
            </a:pP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63" y="1930128"/>
            <a:ext cx="43719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1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IV. </a:t>
            </a:r>
            <a:r>
              <a:rPr lang="en-US" altLang="ko-KR" sz="3600" dirty="0" smtClean="0"/>
              <a:t>C. Four-stream input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2-stream </a:t>
            </a:r>
            <a:r>
              <a:rPr lang="ko-KR" altLang="en-US" dirty="0"/>
              <a:t>접근법은 </a:t>
            </a:r>
            <a:r>
              <a:rPr lang="ko-KR" altLang="en-US" dirty="0" smtClean="0"/>
              <a:t>행동 인식에 </a:t>
            </a:r>
            <a:r>
              <a:rPr lang="ko-KR" altLang="en-US" dirty="0"/>
              <a:t>널리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[</a:t>
            </a:r>
            <a:r>
              <a:rPr lang="en-US" altLang="ko-KR" dirty="0"/>
              <a:t>14, 15, 16, 25, 26</a:t>
            </a:r>
            <a:r>
              <a:rPr lang="en-US" altLang="ko-KR" dirty="0" smtClean="0"/>
              <a:t>]</a:t>
            </a:r>
          </a:p>
          <a:p>
            <a:r>
              <a:rPr lang="ko-KR" altLang="en-US" dirty="0"/>
              <a:t>우리는 이 개념을 </a:t>
            </a:r>
            <a:r>
              <a:rPr lang="ko-KR" altLang="en-US" dirty="0" smtClean="0"/>
              <a:t>행동</a:t>
            </a:r>
            <a:r>
              <a:rPr lang="en-US" altLang="ko-KR" dirty="0" smtClean="0"/>
              <a:t>, </a:t>
            </a:r>
            <a:r>
              <a:rPr lang="ko-KR" altLang="en-US" dirty="0"/>
              <a:t>단기 시간적 차등</a:t>
            </a:r>
            <a:r>
              <a:rPr lang="en-US" altLang="ko-KR" dirty="0"/>
              <a:t>, </a:t>
            </a:r>
            <a:r>
              <a:rPr lang="ko-KR" altLang="en-US" dirty="0"/>
              <a:t>장기 시간적 차등</a:t>
            </a:r>
            <a:r>
              <a:rPr lang="en-US" altLang="ko-KR" dirty="0"/>
              <a:t>, </a:t>
            </a:r>
            <a:r>
              <a:rPr lang="ko-KR" altLang="en-US" dirty="0"/>
              <a:t>공간적 차등 시퀀스 등 </a:t>
            </a:r>
            <a:r>
              <a:rPr lang="en-US" altLang="ko-KR" dirty="0"/>
              <a:t>4</a:t>
            </a:r>
            <a:r>
              <a:rPr lang="ko-KR" altLang="en-US" dirty="0"/>
              <a:t>개의 스트림으로 </a:t>
            </a:r>
            <a:r>
              <a:rPr lang="ko-KR" altLang="en-US" dirty="0" smtClean="0"/>
              <a:t>확장</a:t>
            </a:r>
            <a:endParaRPr lang="en-US" altLang="ko-KR" dirty="0" smtClean="0"/>
          </a:p>
          <a:p>
            <a:r>
              <a:rPr lang="ko-KR" altLang="en-US" dirty="0"/>
              <a:t>기본적으로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en-US" altLang="ko-KR" dirty="0"/>
              <a:t>[23]</a:t>
            </a:r>
            <a:r>
              <a:rPr lang="ko-KR" altLang="en-US" dirty="0"/>
              <a:t>에서 제시한 바와 같이 </a:t>
            </a:r>
            <a:r>
              <a:rPr lang="ko-KR" altLang="en-US" u="sng" dirty="0"/>
              <a:t>골격 시퀀스를 진화 이미지로 </a:t>
            </a:r>
            <a:r>
              <a:rPr lang="ko-KR" altLang="en-US" u="sng" dirty="0" smtClean="0"/>
              <a:t>변환하여 </a:t>
            </a:r>
            <a:r>
              <a:rPr lang="ko-KR" altLang="en-US" dirty="0"/>
              <a:t>그림 </a:t>
            </a:r>
            <a:r>
              <a:rPr lang="en-US" altLang="ko-KR" dirty="0"/>
              <a:t>3</a:t>
            </a:r>
            <a:r>
              <a:rPr lang="ko-KR" altLang="en-US" dirty="0"/>
              <a:t>의 첫 번째 스트림으로 </a:t>
            </a:r>
            <a:r>
              <a:rPr lang="ko-KR" altLang="en-US" dirty="0" smtClean="0"/>
              <a:t>공급</a:t>
            </a:r>
            <a:endParaRPr lang="en-US" altLang="ko-KR" dirty="0" smtClean="0"/>
          </a:p>
          <a:p>
            <a:r>
              <a:rPr lang="ko-KR" altLang="en-US" dirty="0" smtClean="0"/>
              <a:t>골격의 단기간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장기간 </a:t>
            </a:r>
            <a:r>
              <a:rPr lang="ko-KR" altLang="en-US" dirty="0"/>
              <a:t>차이점 모두 골격 운동 유형이기 때문에</a:t>
            </a:r>
            <a:r>
              <a:rPr lang="en-US" altLang="ko-KR" dirty="0"/>
              <a:t>, </a:t>
            </a:r>
            <a:r>
              <a:rPr lang="ko-KR" altLang="en-US" dirty="0"/>
              <a:t>공유 네트워크를 사용하여 형상을 추출</a:t>
            </a:r>
          </a:p>
        </p:txBody>
      </p:sp>
    </p:spTree>
    <p:extLst>
      <p:ext uri="{BB962C8B-B14F-4D97-AF65-F5344CB8AC3E}">
        <p14:creationId xmlns:p14="http://schemas.microsoft.com/office/powerpoint/2010/main" val="82157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EXPERIMENTS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FSA-CNN</a:t>
            </a:r>
            <a:r>
              <a:rPr lang="ko-KR" altLang="en-US" dirty="0"/>
              <a:t>의 결과를 활용하여 </a:t>
            </a:r>
            <a:r>
              <a:rPr lang="en-US" altLang="ko-KR" dirty="0"/>
              <a:t>ETRI-Activity3D</a:t>
            </a:r>
            <a:r>
              <a:rPr lang="ko-KR" altLang="en-US" dirty="0"/>
              <a:t>를 분석하여 노인과 성인의 데이터 차이를 </a:t>
            </a:r>
            <a:r>
              <a:rPr lang="ko-KR" altLang="en-US" dirty="0" smtClean="0"/>
              <a:t>밝혔다</a:t>
            </a:r>
            <a:endParaRPr lang="en-US" altLang="ko-KR" dirty="0" smtClean="0"/>
          </a:p>
          <a:p>
            <a:r>
              <a:rPr lang="en-US" altLang="ko-KR" dirty="0" smtClean="0"/>
              <a:t>(Data augmentation) 3D </a:t>
            </a:r>
            <a:r>
              <a:rPr lang="ko-KR" altLang="en-US" dirty="0"/>
              <a:t>회전</a:t>
            </a:r>
            <a:r>
              <a:rPr lang="en-US" altLang="ko-KR" dirty="0"/>
              <a:t>, </a:t>
            </a:r>
            <a:r>
              <a:rPr lang="ko-KR" altLang="en-US" dirty="0"/>
              <a:t>체형 변화</a:t>
            </a:r>
            <a:r>
              <a:rPr lang="en-US" altLang="ko-KR" dirty="0"/>
              <a:t>, </a:t>
            </a:r>
            <a:r>
              <a:rPr lang="ko-KR" altLang="en-US" dirty="0"/>
              <a:t>노이즈 등의 데이터 증대가 </a:t>
            </a:r>
            <a:r>
              <a:rPr lang="ko-KR" altLang="en-US" dirty="0" smtClean="0"/>
              <a:t>적용</a:t>
            </a:r>
            <a:endParaRPr lang="en-US" altLang="ko-KR" dirty="0" smtClean="0"/>
          </a:p>
          <a:p>
            <a:r>
              <a:rPr lang="ko-KR" altLang="en-US" dirty="0"/>
              <a:t>데이터 시퀀스의 다른 길이에 기초한 무작위 샘플링은 데이터 확대 효과를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r>
              <a:rPr lang="en-US" altLang="ko-KR" dirty="0"/>
              <a:t>TU RGB+D </a:t>
            </a:r>
            <a:r>
              <a:rPr lang="ko-KR" altLang="en-US" dirty="0"/>
              <a:t>데이터 세트의 경우 입력 길이는 </a:t>
            </a:r>
            <a:r>
              <a:rPr lang="en-US" altLang="ko-KR" dirty="0"/>
              <a:t>32–128, ETRI-Activity3D </a:t>
            </a:r>
            <a:r>
              <a:rPr lang="ko-KR" altLang="en-US" dirty="0"/>
              <a:t>데이터 세트의 경우 </a:t>
            </a:r>
            <a:r>
              <a:rPr lang="en-US" altLang="ko-KR" dirty="0" smtClean="0"/>
              <a:t>32–200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060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V.</a:t>
            </a:r>
            <a:r>
              <a:rPr lang="en-US" altLang="ko-KR" sz="3200" dirty="0" smtClean="0"/>
              <a:t>A. Action recognition on NTU RGB+D and ETRI-Activity3D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4854" y="1825625"/>
            <a:ext cx="6478945" cy="4351338"/>
          </a:xfrm>
        </p:spPr>
        <p:txBody>
          <a:bodyPr>
            <a:noAutofit/>
          </a:bodyPr>
          <a:lstStyle/>
          <a:p>
            <a:r>
              <a:rPr lang="ko-KR" altLang="en-US" sz="1800" dirty="0"/>
              <a:t>두 </a:t>
            </a:r>
            <a:r>
              <a:rPr lang="ko-KR" altLang="en-US" sz="1800" dirty="0" err="1" smtClean="0"/>
              <a:t>데이터셋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모두에서 최상의 </a:t>
            </a:r>
            <a:r>
              <a:rPr lang="ko-KR" altLang="en-US" sz="1800" dirty="0" smtClean="0"/>
              <a:t>성능</a:t>
            </a:r>
            <a:endParaRPr lang="en-US" altLang="ko-KR" sz="1800" dirty="0" smtClean="0"/>
          </a:p>
          <a:p>
            <a:r>
              <a:rPr lang="ko-KR" altLang="en-US" sz="1800" dirty="0" err="1"/>
              <a:t>비욘드</a:t>
            </a:r>
            <a:r>
              <a:rPr lang="ko-KR" altLang="en-US" sz="1800" dirty="0"/>
              <a:t> 조인트</a:t>
            </a:r>
            <a:r>
              <a:rPr lang="en-US" altLang="ko-KR" sz="1800" dirty="0"/>
              <a:t>[17], </a:t>
            </a:r>
            <a:r>
              <a:rPr lang="en-US" altLang="ko-KR" sz="1800" dirty="0" err="1"/>
              <a:t>IndRNN</a:t>
            </a:r>
            <a:r>
              <a:rPr lang="en-US" altLang="ko-KR" sz="1800" dirty="0"/>
              <a:t>[18] </a:t>
            </a:r>
            <a:r>
              <a:rPr lang="ko-KR" altLang="en-US" sz="1800" dirty="0"/>
              <a:t>및 </a:t>
            </a:r>
            <a:r>
              <a:rPr lang="en-US" altLang="ko-KR" sz="1800" dirty="0"/>
              <a:t>MANs[19]</a:t>
            </a:r>
            <a:r>
              <a:rPr lang="ko-KR" altLang="en-US" sz="1800" dirty="0"/>
              <a:t>는 액션 인식에 </a:t>
            </a:r>
            <a:r>
              <a:rPr lang="en-US" altLang="ko-KR" sz="1800" dirty="0"/>
              <a:t>RNN</a:t>
            </a:r>
            <a:r>
              <a:rPr lang="ko-KR" altLang="en-US" sz="1800" dirty="0"/>
              <a:t>을 사용하려고 </a:t>
            </a:r>
            <a:r>
              <a:rPr lang="ko-KR" altLang="en-US" sz="1800" dirty="0" smtClean="0"/>
              <a:t>시도</a:t>
            </a:r>
            <a:endParaRPr lang="en-US" altLang="ko-KR" sz="1800" dirty="0" smtClean="0"/>
          </a:p>
          <a:p>
            <a:r>
              <a:rPr lang="en-US" altLang="ko-KR" sz="1800" dirty="0"/>
              <a:t>RNN </a:t>
            </a:r>
            <a:r>
              <a:rPr lang="ko-KR" altLang="en-US" sz="1800" dirty="0"/>
              <a:t>기반 방법은 순차 데이터를 사용하기 때문에 고정 입력 길이에 의해 제한되지 않는다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소음 민감도가 높아 적절한 시기에 과거 데이터를 잊어버리는 능력이 </a:t>
            </a:r>
            <a:r>
              <a:rPr lang="ko-KR" altLang="en-US" sz="1800" dirty="0" smtClean="0"/>
              <a:t>있어야</a:t>
            </a:r>
            <a:endParaRPr lang="en-US" altLang="ko-KR" sz="1800" dirty="0" smtClean="0"/>
          </a:p>
          <a:p>
            <a:r>
              <a:rPr lang="ko-KR" altLang="en-US" sz="1800" dirty="0"/>
              <a:t> </a:t>
            </a:r>
            <a:r>
              <a:rPr lang="en-US" altLang="ko-KR" sz="1800" dirty="0"/>
              <a:t>RNN </a:t>
            </a:r>
            <a:r>
              <a:rPr lang="ko-KR" altLang="en-US" sz="1800" dirty="0"/>
              <a:t>기반 방법은 공간적 변화 측면에서 약점</a:t>
            </a:r>
            <a:endParaRPr lang="en-US" altLang="ko-KR" sz="1800" dirty="0" smtClean="0"/>
          </a:p>
          <a:p>
            <a:r>
              <a:rPr lang="en-US" altLang="ko-KR" sz="1800" dirty="0"/>
              <a:t>SK-CNN[14], </a:t>
            </a:r>
            <a:r>
              <a:rPr lang="en-US" altLang="ko-KR" sz="1800" dirty="0" err="1"/>
              <a:t>Ensem</a:t>
            </a:r>
            <a:r>
              <a:rPr lang="en-US" altLang="ko-KR" sz="1800" dirty="0"/>
              <a:t>-NN[16], HCN[15</a:t>
            </a:r>
            <a:r>
              <a:rPr lang="en-US" altLang="ko-KR" sz="1800" dirty="0" smtClean="0"/>
              <a:t>]</a:t>
            </a:r>
            <a:r>
              <a:rPr lang="ko-KR" altLang="en-US" sz="1800" dirty="0" smtClean="0"/>
              <a:t>은 제안된 방법과 유사하나 </a:t>
            </a:r>
            <a:r>
              <a:rPr lang="ko-KR" altLang="en-US" sz="1800" dirty="0"/>
              <a:t> 과도한 피팅과 느린 작동 속도로 인해 </a:t>
            </a:r>
            <a:r>
              <a:rPr lang="ko-KR" altLang="en-US" sz="1800" dirty="0" smtClean="0"/>
              <a:t>어려움</a:t>
            </a:r>
            <a:endParaRPr lang="en-US" altLang="ko-KR" sz="1800" dirty="0" smtClean="0"/>
          </a:p>
          <a:p>
            <a:r>
              <a:rPr lang="en-US" altLang="ko-KR" sz="1800" dirty="0"/>
              <a:t>ST-GCN[20] </a:t>
            </a:r>
            <a:r>
              <a:rPr lang="ko-KR" altLang="en-US" sz="1800" dirty="0"/>
              <a:t>및 </a:t>
            </a:r>
            <a:r>
              <a:rPr lang="en-US" altLang="ko-KR" sz="1800" dirty="0"/>
              <a:t>Motives ST-GCN[21]</a:t>
            </a:r>
            <a:r>
              <a:rPr lang="ko-KR" altLang="en-US" sz="1800" dirty="0"/>
              <a:t>은 </a:t>
            </a:r>
            <a:r>
              <a:rPr lang="ko-KR" altLang="en-US" sz="1800" dirty="0" err="1"/>
              <a:t>분류자로</a:t>
            </a:r>
            <a:r>
              <a:rPr lang="ko-KR" altLang="en-US" sz="1800" dirty="0"/>
              <a:t> </a:t>
            </a:r>
            <a:r>
              <a:rPr lang="en-US" altLang="ko-KR" sz="1800" dirty="0" smtClean="0"/>
              <a:t>GCN, GCN</a:t>
            </a:r>
            <a:r>
              <a:rPr lang="ko-KR" altLang="en-US" sz="1800" dirty="0"/>
              <a:t>은 인체에 있는 관절의 자연적 연결을 고려하여 각 노드와 연계를 맺고 있는 </a:t>
            </a:r>
            <a:r>
              <a:rPr lang="en-US" altLang="ko-KR" sz="1800" dirty="0" smtClean="0"/>
              <a:t>CNN, </a:t>
            </a:r>
            <a:r>
              <a:rPr lang="ko-KR" altLang="en-US" sz="1800" dirty="0"/>
              <a:t> 그러나 그들은 미리 정의된 인접 행렬의 필요성과 같은 몇 가지 </a:t>
            </a:r>
            <a:r>
              <a:rPr lang="ko-KR" altLang="en-US" sz="1800" dirty="0" smtClean="0"/>
              <a:t>단점</a:t>
            </a:r>
            <a:endParaRPr lang="en-US" altLang="ko-KR" sz="1800" dirty="0" smtClean="0"/>
          </a:p>
          <a:p>
            <a:r>
              <a:rPr lang="ko-KR" altLang="en-US" sz="1800" dirty="0"/>
              <a:t>글로벌 </a:t>
            </a:r>
            <a:r>
              <a:rPr lang="en-US" altLang="ko-KR" sz="1800" dirty="0"/>
              <a:t>max pooling</a:t>
            </a:r>
            <a:r>
              <a:rPr lang="ko-KR" altLang="en-US" sz="1800" dirty="0"/>
              <a:t>의 도움으로</a:t>
            </a:r>
            <a:r>
              <a:rPr lang="en-US" altLang="ko-KR" sz="1800" dirty="0"/>
              <a:t>, </a:t>
            </a:r>
            <a:r>
              <a:rPr lang="ko-KR" altLang="en-US" sz="1800" dirty="0"/>
              <a:t>우리 네트워크의 기능 </a:t>
            </a:r>
            <a:r>
              <a:rPr lang="ko-KR" altLang="en-US" sz="1800" dirty="0" err="1"/>
              <a:t>추출기는</a:t>
            </a:r>
            <a:r>
              <a:rPr lang="ko-KR" altLang="en-US" sz="1800" dirty="0"/>
              <a:t> 눈에 띄는 패턴에만 초점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869"/>
            <a:ext cx="4874854" cy="40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73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V.B. Analytical experiments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9622" y="1690688"/>
            <a:ext cx="4574177" cy="4713923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altLang="ko-KR" sz="2000" dirty="0" smtClean="0"/>
              <a:t>Analysis of domain difference</a:t>
            </a:r>
          </a:p>
          <a:p>
            <a:r>
              <a:rPr lang="ko-KR" altLang="en-US" sz="2000" dirty="0"/>
              <a:t>조합된 데이터 집합에서 훈련된 네트워크는 두 도메인 모두에서 비교적 양호한 성능을 보였다</a:t>
            </a:r>
            <a:r>
              <a:rPr lang="en-US" altLang="ko-KR" sz="2000" dirty="0"/>
              <a:t>. </a:t>
            </a:r>
            <a:r>
              <a:rPr lang="ko-KR" altLang="en-US" sz="2000" dirty="0"/>
              <a:t>이는 두 도메인에 대한 필요성을 </a:t>
            </a:r>
            <a:r>
              <a:rPr lang="ko-KR" altLang="en-US" sz="2000" dirty="0" smtClean="0"/>
              <a:t>입증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2) Robustness to temporal variations</a:t>
            </a:r>
          </a:p>
          <a:p>
            <a:r>
              <a:rPr lang="ko-KR" altLang="en-US" sz="2000" dirty="0"/>
              <a:t>입력 길이는 </a:t>
            </a:r>
            <a:r>
              <a:rPr lang="en-US" altLang="ko-KR" sz="2000" dirty="0"/>
              <a:t>32~96 </a:t>
            </a:r>
            <a:r>
              <a:rPr lang="ko-KR" altLang="en-US" sz="2000" dirty="0"/>
              <a:t>프레임에서 크게 다르지만</a:t>
            </a:r>
            <a:r>
              <a:rPr lang="en-US" altLang="ko-KR" sz="2000" dirty="0"/>
              <a:t>, </a:t>
            </a:r>
            <a:r>
              <a:rPr lang="ko-KR" altLang="en-US" sz="2000" dirty="0"/>
              <a:t>해당 정확도는 </a:t>
            </a:r>
            <a:r>
              <a:rPr lang="en-US" altLang="ko-KR" sz="2000" dirty="0"/>
              <a:t>83% </a:t>
            </a:r>
            <a:r>
              <a:rPr lang="ko-KR" altLang="en-US" sz="2000" dirty="0"/>
              <a:t>이상으로 </a:t>
            </a:r>
            <a:r>
              <a:rPr lang="ko-KR" altLang="en-US" sz="2000" dirty="0" smtClean="0"/>
              <a:t>유지</a:t>
            </a:r>
            <a:endParaRPr lang="en-US" altLang="ko-KR" sz="2000" dirty="0" smtClean="0"/>
          </a:p>
          <a:p>
            <a:r>
              <a:rPr lang="ko-KR" altLang="en-US" sz="2000" dirty="0"/>
              <a:t>고정된 목표 입력 길이를 사용하는 기존 알고리즘의 정확도와 </a:t>
            </a:r>
            <a:r>
              <a:rPr lang="ko-KR" altLang="en-US" sz="2000" dirty="0" smtClean="0"/>
              <a:t>비교</a:t>
            </a:r>
            <a:endParaRPr lang="en-US" altLang="ko-KR" sz="2000" dirty="0" smtClean="0"/>
          </a:p>
          <a:p>
            <a:r>
              <a:rPr lang="en-US" altLang="ko-KR" sz="2000" dirty="0"/>
              <a:t>16</a:t>
            </a:r>
            <a:r>
              <a:rPr lang="ko-KR" altLang="en-US" sz="2000" dirty="0"/>
              <a:t>프레임 입력의 경우 정확도가 </a:t>
            </a:r>
            <a:r>
              <a:rPr lang="en-US" altLang="ko-KR" sz="2000" dirty="0"/>
              <a:t>45.26%</a:t>
            </a:r>
            <a:r>
              <a:rPr lang="ko-KR" altLang="en-US" sz="2000" dirty="0"/>
              <a:t>로 </a:t>
            </a:r>
            <a:r>
              <a:rPr lang="ko-KR" altLang="en-US" sz="2000" dirty="0" smtClean="0"/>
              <a:t>급감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3" y="1690688"/>
            <a:ext cx="4937760" cy="21852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36" y="3843035"/>
            <a:ext cx="3978187" cy="301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6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V.C. Extension of the proposed network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4766" y="4532811"/>
            <a:ext cx="10920547" cy="232518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 </a:t>
            </a:r>
            <a:r>
              <a:rPr lang="en-US" altLang="ko-KR" sz="2000" dirty="0"/>
              <a:t>RGB </a:t>
            </a:r>
            <a:r>
              <a:rPr lang="ko-KR" altLang="en-US" sz="2000" dirty="0"/>
              <a:t>시퀀스</a:t>
            </a:r>
            <a:r>
              <a:rPr lang="en-US" altLang="ko-KR" sz="2000" dirty="0"/>
              <a:t>[28]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OpenPose</a:t>
            </a:r>
            <a:r>
              <a:rPr lang="en-US" altLang="ko-KR" sz="2000" dirty="0"/>
              <a:t>[28]</a:t>
            </a:r>
            <a:r>
              <a:rPr lang="ko-KR" altLang="en-US" sz="2000" dirty="0"/>
              <a:t>를 사용하여 얻은 </a:t>
            </a:r>
            <a:r>
              <a:rPr lang="en-US" altLang="ko-KR" sz="2000" dirty="0"/>
              <a:t>2D </a:t>
            </a:r>
            <a:r>
              <a:rPr lang="ko-KR" altLang="en-US" sz="2000" dirty="0"/>
              <a:t>골격 데이터와 </a:t>
            </a:r>
            <a:r>
              <a:rPr lang="en-US" altLang="ko-KR" sz="2000" dirty="0"/>
              <a:t>Kinect </a:t>
            </a:r>
            <a:r>
              <a:rPr lang="ko-KR" altLang="en-US" sz="2000" dirty="0"/>
              <a:t>센서를 사용하여 캡처한 </a:t>
            </a:r>
            <a:r>
              <a:rPr lang="en-US" altLang="ko-KR" sz="2000" dirty="0"/>
              <a:t>3D </a:t>
            </a:r>
            <a:r>
              <a:rPr lang="ko-KR" altLang="en-US" sz="2000" dirty="0"/>
              <a:t>골격 데이터를 결합하여 인식 성능 </a:t>
            </a:r>
            <a:r>
              <a:rPr lang="ko-KR" altLang="en-US" sz="2000" dirty="0" smtClean="0"/>
              <a:t>향상</a:t>
            </a:r>
            <a:endParaRPr lang="en-US" altLang="ko-KR" sz="2000" dirty="0" smtClean="0"/>
          </a:p>
          <a:p>
            <a:r>
              <a:rPr lang="en-US" altLang="ko-KR" sz="2000" dirty="0"/>
              <a:t>2D </a:t>
            </a:r>
            <a:r>
              <a:rPr lang="ko-KR" altLang="en-US" sz="2000" dirty="0"/>
              <a:t>골격은 </a:t>
            </a:r>
            <a:r>
              <a:rPr lang="en-US" altLang="ko-KR" sz="2000" dirty="0"/>
              <a:t>RGB </a:t>
            </a:r>
            <a:r>
              <a:rPr lang="ko-KR" altLang="en-US" sz="2000" dirty="0"/>
              <a:t>비디오 시퀀스에서 추출한 반면 </a:t>
            </a:r>
            <a:r>
              <a:rPr lang="en-US" altLang="ko-KR" sz="2000" dirty="0"/>
              <a:t>3D </a:t>
            </a:r>
            <a:r>
              <a:rPr lang="ko-KR" altLang="en-US" sz="2000" dirty="0"/>
              <a:t>골격은 깊이 정보에서 얻은 </a:t>
            </a:r>
            <a:r>
              <a:rPr lang="ko-KR" altLang="en-US" sz="2000" dirty="0" smtClean="0"/>
              <a:t>것</a:t>
            </a:r>
            <a:endParaRPr lang="en-US" altLang="ko-KR" sz="2000" dirty="0" smtClean="0"/>
          </a:p>
          <a:p>
            <a:r>
              <a:rPr lang="ko-KR" altLang="en-US" sz="2000" dirty="0"/>
              <a:t>유사하게 보이지만</a:t>
            </a:r>
            <a:r>
              <a:rPr lang="en-US" altLang="ko-KR" sz="2000" dirty="0"/>
              <a:t>, </a:t>
            </a:r>
            <a:r>
              <a:rPr lang="ko-KR" altLang="en-US" sz="2000" dirty="0"/>
              <a:t>서로 다른 출처에서 생겨나며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더 풍부한 정보로 </a:t>
            </a:r>
            <a:r>
              <a:rPr lang="ko-KR" altLang="en-US" sz="2000" dirty="0" smtClean="0"/>
              <a:t>이어짐</a:t>
            </a:r>
            <a:endParaRPr lang="en-US" altLang="ko-KR" sz="2000" dirty="0" smtClean="0"/>
          </a:p>
          <a:p>
            <a:r>
              <a:rPr lang="ko-KR" altLang="en-US" sz="2000" dirty="0"/>
              <a:t>조합 결과는 단일 형식 기반 접근법에 비해 </a:t>
            </a:r>
            <a:r>
              <a:rPr lang="en-US" altLang="ko-KR" sz="2000" dirty="0"/>
              <a:t>2~3% </a:t>
            </a:r>
            <a:r>
              <a:rPr lang="ko-KR" altLang="en-US" sz="2000" dirty="0" smtClean="0"/>
              <a:t>개선</a:t>
            </a:r>
            <a:endParaRPr lang="en-US" altLang="ko-KR" sz="2000" dirty="0" smtClean="0"/>
          </a:p>
          <a:p>
            <a:r>
              <a:rPr lang="en-US" altLang="ko-KR" sz="2000" dirty="0" smtClean="0"/>
              <a:t> </a:t>
            </a:r>
            <a:r>
              <a:rPr lang="ko-KR" altLang="en-US" sz="2000" dirty="0"/>
              <a:t>이는 두 가지 양식에 보완적인 정보가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178" y="1573122"/>
            <a:ext cx="5171667" cy="285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15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VI. 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본 연구는 노인들의 행동과 행동을 인식하기 위한 새로운 네트워크를 포함하는 새로운 데이터 집합을 제안하며</a:t>
            </a:r>
            <a:r>
              <a:rPr lang="en-US" altLang="ko-KR" sz="2400" dirty="0"/>
              <a:t>, </a:t>
            </a:r>
            <a:r>
              <a:rPr lang="ko-KR" altLang="en-US" sz="2400" dirty="0"/>
              <a:t>분석적인 실험 결과를 </a:t>
            </a:r>
            <a:r>
              <a:rPr lang="ko-KR" altLang="en-US" sz="2400" dirty="0" smtClean="0"/>
              <a:t>제공</a:t>
            </a:r>
            <a:endParaRPr lang="en-US" altLang="ko-KR" sz="2400" dirty="0" smtClean="0"/>
          </a:p>
          <a:p>
            <a:r>
              <a:rPr lang="ko-KR" altLang="en-US" sz="2400" dirty="0"/>
              <a:t>이 데이터세트는 </a:t>
            </a:r>
            <a:r>
              <a:rPr lang="ko-KR" altLang="en-US" sz="2400" dirty="0" err="1"/>
              <a:t>행동인식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로봇지능</a:t>
            </a:r>
            <a:r>
              <a:rPr lang="en-US" altLang="ko-KR" sz="2400" dirty="0"/>
              <a:t>, </a:t>
            </a:r>
            <a:r>
              <a:rPr lang="ko-KR" altLang="en-US" sz="2400" dirty="0"/>
              <a:t>노인요양 연구에 유용할 것으로 </a:t>
            </a:r>
            <a:r>
              <a:rPr lang="ko-KR" altLang="en-US" sz="2400" dirty="0" smtClean="0"/>
              <a:t>기대</a:t>
            </a:r>
            <a:endParaRPr lang="en-US" altLang="ko-KR" sz="2400" dirty="0" smtClean="0"/>
          </a:p>
          <a:p>
            <a:r>
              <a:rPr lang="ko-KR" altLang="en-US" sz="2400" dirty="0"/>
              <a:t>제안된 참신한 네트워크 </a:t>
            </a:r>
            <a:r>
              <a:rPr lang="en-US" altLang="ko-KR" sz="2400" dirty="0"/>
              <a:t>FSA-CNN</a:t>
            </a:r>
            <a:r>
              <a:rPr lang="ko-KR" altLang="en-US" sz="2400" dirty="0"/>
              <a:t>은 </a:t>
            </a:r>
            <a:r>
              <a:rPr lang="en-US" altLang="ko-KR" sz="2400" dirty="0"/>
              <a:t>NTU RGB+D</a:t>
            </a:r>
            <a:r>
              <a:rPr lang="ko-KR" altLang="en-US" sz="2400" dirty="0"/>
              <a:t>와 도입된 </a:t>
            </a:r>
            <a:r>
              <a:rPr lang="en-US" altLang="ko-KR" sz="2400" dirty="0"/>
              <a:t>ETRI-Activity3D</a:t>
            </a:r>
            <a:r>
              <a:rPr lang="ko-KR" altLang="en-US" sz="2400" dirty="0"/>
              <a:t>를 모두 평가하여 장점을 </a:t>
            </a:r>
            <a:r>
              <a:rPr lang="ko-KR" altLang="en-US" sz="2400" dirty="0" smtClean="0"/>
              <a:t>입증</a:t>
            </a:r>
            <a:endParaRPr lang="en-US" altLang="ko-KR" sz="2400" dirty="0" smtClean="0"/>
          </a:p>
          <a:p>
            <a:r>
              <a:rPr lang="ko-KR" altLang="en-US" sz="2400" dirty="0"/>
              <a:t>또한</a:t>
            </a:r>
            <a:r>
              <a:rPr lang="en-US" altLang="ko-KR" sz="2400" dirty="0"/>
              <a:t>, </a:t>
            </a:r>
            <a:r>
              <a:rPr lang="ko-KR" altLang="en-US" sz="2400" dirty="0"/>
              <a:t>노인과 성인의 행동 사이의 영역 차이는 통계적으로나 실험적으로 모두 </a:t>
            </a:r>
            <a:r>
              <a:rPr lang="ko-KR" altLang="en-US" sz="2400" dirty="0" smtClean="0"/>
              <a:t>검증</a:t>
            </a:r>
            <a:endParaRPr lang="en-US" altLang="ko-KR" sz="2400" dirty="0" smtClean="0"/>
          </a:p>
          <a:p>
            <a:r>
              <a:rPr lang="ko-KR" altLang="en-US" sz="2400" dirty="0"/>
              <a:t>이 데이터 집합은 노인들의 실제 생활 상황을 더 잘 반영할 것으로 </a:t>
            </a:r>
            <a:r>
              <a:rPr lang="ko-KR" altLang="en-US" sz="2400" dirty="0" smtClean="0"/>
              <a:t>기대</a:t>
            </a:r>
            <a:endParaRPr lang="en-US" altLang="ko-KR" sz="2400" dirty="0" smtClean="0"/>
          </a:p>
          <a:p>
            <a:r>
              <a:rPr lang="ko-KR" altLang="en-US" sz="2400" dirty="0"/>
              <a:t>도입된 데이터세트를 더욱 개선하기 위해 </a:t>
            </a:r>
            <a:r>
              <a:rPr lang="en-US" altLang="ko-KR" sz="2400" dirty="0"/>
              <a:t>30</a:t>
            </a:r>
            <a:r>
              <a:rPr lang="ko-KR" altLang="en-US" sz="2400" dirty="0"/>
              <a:t>명의 노인들의 가정을 방문하여 로봇의 관점에서 본 추가 </a:t>
            </a:r>
            <a:r>
              <a:rPr lang="en-US" altLang="ko-KR" sz="2400" dirty="0"/>
              <a:t>3D </a:t>
            </a:r>
            <a:r>
              <a:rPr lang="ko-KR" altLang="en-US" sz="2400" dirty="0"/>
              <a:t>활동 데이터세트를 </a:t>
            </a:r>
            <a:r>
              <a:rPr lang="ko-KR" altLang="en-US" sz="2400" dirty="0" smtClean="0"/>
              <a:t>획득 및 향후 공개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2791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758</Words>
  <Application>Microsoft Office PowerPoint</Application>
  <PresentationFormat>와이드스크린</PresentationFormat>
  <Paragraphs>112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Abstract</vt:lpstr>
      <vt:lpstr>I. INTRODUCTION</vt:lpstr>
      <vt:lpstr>II.RELATED WORK</vt:lpstr>
      <vt:lpstr>B. Vision-based action recognition</vt:lpstr>
      <vt:lpstr>III. THE ETRI-ACTIVITY3D DATASET</vt:lpstr>
      <vt:lpstr>III. THE ETRI-ACTIVITY3D DATASET</vt:lpstr>
      <vt:lpstr>PowerPoint 프레젠테이션</vt:lpstr>
      <vt:lpstr>IV. FOUR-STREAM ADAPTIVE CNN</vt:lpstr>
      <vt:lpstr>IV. A. Architecture with indefinite input-length</vt:lpstr>
      <vt:lpstr>IV. A. Architecture with indefinite input-length</vt:lpstr>
      <vt:lpstr>IV. C. Four-stream input</vt:lpstr>
      <vt:lpstr>V. EXPERIMENTS</vt:lpstr>
      <vt:lpstr>V.A. Action recognition on NTU RGB+D and ETRI-Activity3D</vt:lpstr>
      <vt:lpstr>V.B. Analytical experiments</vt:lpstr>
      <vt:lpstr>V.C. Extension of the proposed network</vt:lpstr>
      <vt:lpstr>VI.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39</cp:revision>
  <dcterms:created xsi:type="dcterms:W3CDTF">2020-07-29T05:27:32Z</dcterms:created>
  <dcterms:modified xsi:type="dcterms:W3CDTF">2020-07-29T07:16:17Z</dcterms:modified>
</cp:coreProperties>
</file>